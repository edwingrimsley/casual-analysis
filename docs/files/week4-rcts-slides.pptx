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Calibri"/>
              </a:defRPr>
            </a:pPr>
            <a:r>
              <a:rPr sz="1300" b="0" i="0" u="none" strike="noStrike">
                <a:solidFill>
                  <a:srgbClr val="1A1A2E"/>
                </a:solidFill>
                <a:latin typeface="Calibri"/>
              </a:rPr>
              <a:t>Difference in mean age (treated − control), 5,000 random assignments of the same 100 people</a:t>
            </a:r>
          </a:p>
        </c:rich>
      </c:tx>
      <c:overlay val="0"/>
    </c:title>
    <c:autoTitleDeleted val="0"/>
    <c:plotArea>
      <c:layout/>
      <c:barChart>
        <c:barDir val="col"/>
        <c:grouping val="clustered"/>
        <c:varyColors val="0"/>
        <c:ser>
          <c:idx val="0"/>
          <c:order val="0"/>
          <c:tx>
            <c:strRef>
              <c:f>Sheet1!$B$1</c:f>
              <c:strCache>
                <c:ptCount val="1"/>
                <c:pt idx="0">
                  <c:v>Randomizations</c:v>
                </c:pt>
              </c:strCache>
            </c:strRef>
          </c:tx>
          <c:spPr>
            <a:solidFill>
              <a:srgbClr val="1B4F8C"/>
            </a:solidFill>
            <a:effectLst/>
          </c:spPr>
          <c:invertIfNegative val="0"/>
          <c:cat>
            <c:strRef>
              <c:f>Sheet1!$A$2:$A$11</c:f>
              <c:strCache>
                <c:ptCount val="10"/>
                <c:pt idx="0">
                  <c:v>−10 to −8</c:v>
                </c:pt>
                <c:pt idx="1">
                  <c:v>−8 to −6</c:v>
                </c:pt>
                <c:pt idx="2">
                  <c:v>−6 to −4</c:v>
                </c:pt>
                <c:pt idx="3">
                  <c:v>−4 to −2</c:v>
                </c:pt>
                <c:pt idx="4">
                  <c:v>−2 to 0</c:v>
                </c:pt>
                <c:pt idx="5">
                  <c:v>0 to 2</c:v>
                </c:pt>
                <c:pt idx="6">
                  <c:v>2 to 4</c:v>
                </c:pt>
                <c:pt idx="7">
                  <c:v>4 to 6</c:v>
                </c:pt>
                <c:pt idx="8">
                  <c:v>6 to 8</c:v>
                </c:pt>
                <c:pt idx="9">
                  <c:v>8 to 10</c:v>
                </c:pt>
              </c:strCache>
            </c:strRef>
          </c:cat>
          <c:val>
            <c:numRef>
              <c:f>Sheet1!$B$2:$B$11</c:f>
              <c:numCache>
                <c:formatCode>General</c:formatCode>
                <c:ptCount val="10"/>
                <c:pt idx="0">
                  <c:v>17</c:v>
                </c:pt>
                <c:pt idx="1">
                  <c:v>99</c:v>
                </c:pt>
                <c:pt idx="2">
                  <c:v>299</c:v>
                </c:pt>
                <c:pt idx="3">
                  <c:v>798</c:v>
                </c:pt>
                <c:pt idx="4">
                  <c:v>1286</c:v>
                </c:pt>
                <c:pt idx="5">
                  <c:v>1258</c:v>
                </c:pt>
                <c:pt idx="6">
                  <c:v>833</c:v>
                </c:pt>
                <c:pt idx="7">
                  <c:v>314</c:v>
                </c:pt>
                <c:pt idx="8">
                  <c:v>82</c:v>
                </c:pt>
                <c:pt idx="9">
                  <c:v>14</c:v>
                </c:pt>
              </c:numCache>
            </c:numRef>
          </c:val>
          <c:extLst>
            <c:ext xmlns:c16="http://schemas.microsoft.com/office/drawing/2014/chart" uri="{C3380CC4-5D6E-409C-BE32-E72D297353CC}">
              <c16:uniqueId val="{00000000-1004-224D-86CA-2DF2D67FE972}"/>
            </c:ext>
          </c:extLst>
        </c:ser>
        <c:dLbls>
          <c:showLegendKey val="0"/>
          <c:showVal val="0"/>
          <c:showCatName val="0"/>
          <c:showSerName val="0"/>
          <c:showPercent val="0"/>
          <c:showBubbleSize val="0"/>
        </c:dLbls>
        <c:gapWidth val="1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17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3EA"/>
              </a:solidFill>
              <a:prstDash val="solid"/>
              <a:round/>
            </a:ln>
          </c:spPr>
        </c:majorGridlines>
        <c:title>
          <c:tx>
            <c:rich>
              <a:bodyPr/>
              <a:lstStyle/>
              <a:p>
                <a:pPr>
                  <a:defRPr sz="1100" b="0" i="0" u="none" strike="noStrike">
                    <a:solidFill>
                      <a:srgbClr val="5B6178"/>
                    </a:solidFill>
                    <a:latin typeface="Arial"/>
                  </a:defRPr>
                </a:pPr>
                <a:r>
                  <a:rPr sz="1100" b="0" i="0" u="none" strike="noStrike">
                    <a:solidFill>
                      <a:srgbClr val="5B6178"/>
                    </a:solidFill>
                    <a:latin typeface="Arial"/>
                  </a:rPr>
                  <a:t>Number of randomizations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17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Calibri"/>
              </a:defRPr>
            </a:pPr>
            <a:r>
              <a:rPr sz="1300" b="0" i="0" u="none" strike="noStrike">
                <a:solidFill>
                  <a:srgbClr val="1A1A2E"/>
                </a:solidFill>
                <a:latin typeface="Calibri"/>
              </a:rPr>
              <a:t>Turnout in the 2006 primary (N = 305,866)</a:t>
            </a:r>
          </a:p>
        </c:rich>
      </c:tx>
      <c:overlay val="0"/>
    </c:title>
    <c:autoTitleDeleted val="0"/>
    <c:plotArea>
      <c:layout/>
      <c:barChart>
        <c:barDir val="col"/>
        <c:grouping val="clustered"/>
        <c:varyColors val="0"/>
        <c:ser>
          <c:idx val="0"/>
          <c:order val="0"/>
          <c:tx>
            <c:strRef>
              <c:f>Sheet1!$B$1</c:f>
              <c:strCache>
                <c:ptCount val="1"/>
                <c:pt idx="0">
                  <c:v>Turnout</c:v>
                </c:pt>
              </c:strCache>
            </c:strRef>
          </c:tx>
          <c:spPr>
            <a:solidFill>
              <a:srgbClr val="9AA5B4"/>
            </a:solidFill>
            <a:effectLst/>
          </c:spPr>
          <c:invertIfNegative val="0"/>
          <c:dPt>
            <c:idx val="0"/>
            <c:invertIfNegative val="0"/>
            <c:bubble3D val="0"/>
            <c:extLst>
              <c:ext xmlns:c16="http://schemas.microsoft.com/office/drawing/2014/chart" uri="{C3380CC4-5D6E-409C-BE32-E72D297353CC}">
                <c16:uniqueId val="{00000001-7596-7C4A-8488-F995B72302D9}"/>
              </c:ext>
            </c:extLst>
          </c:dPt>
          <c:dPt>
            <c:idx val="1"/>
            <c:invertIfNegative val="0"/>
            <c:bubble3D val="0"/>
            <c:spPr>
              <a:solidFill>
                <a:srgbClr val="1B4F8C"/>
              </a:solidFill>
              <a:effectLst/>
            </c:spPr>
            <c:extLst>
              <c:ext xmlns:c16="http://schemas.microsoft.com/office/drawing/2014/chart" uri="{C3380CC4-5D6E-409C-BE32-E72D297353CC}">
                <c16:uniqueId val="{00000003-7596-7C4A-8488-F995B72302D9}"/>
              </c:ext>
            </c:extLst>
          </c:dPt>
          <c:dPt>
            <c:idx val="2"/>
            <c:invertIfNegative val="0"/>
            <c:bubble3D val="0"/>
            <c:spPr>
              <a:solidFill>
                <a:srgbClr val="1B4F8C"/>
              </a:solidFill>
              <a:effectLst/>
            </c:spPr>
            <c:extLst>
              <c:ext xmlns:c16="http://schemas.microsoft.com/office/drawing/2014/chart" uri="{C3380CC4-5D6E-409C-BE32-E72D297353CC}">
                <c16:uniqueId val="{00000005-7596-7C4A-8488-F995B72302D9}"/>
              </c:ext>
            </c:extLst>
          </c:dPt>
          <c:dPt>
            <c:idx val="3"/>
            <c:invertIfNegative val="0"/>
            <c:bubble3D val="0"/>
            <c:spPr>
              <a:solidFill>
                <a:srgbClr val="00274D"/>
              </a:solidFill>
              <a:effectLst/>
            </c:spPr>
            <c:extLst>
              <c:ext xmlns:c16="http://schemas.microsoft.com/office/drawing/2014/chart" uri="{C3380CC4-5D6E-409C-BE32-E72D297353CC}">
                <c16:uniqueId val="{00000007-7596-7C4A-8488-F995B72302D9}"/>
              </c:ext>
            </c:extLst>
          </c:dPt>
          <c:dLbls>
            <c:numFmt formatCode="0.0&quot;%&quot;" sourceLinked="0"/>
            <c:spPr>
              <a:noFill/>
              <a:ln>
                <a:noFill/>
              </a:ln>
              <a:effectLst/>
            </c:spPr>
            <c:txPr>
              <a:bodyPr/>
              <a:lstStyle/>
              <a:p>
                <a:pPr>
                  <a:defRPr sz="13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Control</c:v>
                </c:pt>
                <c:pt idx="1">
                  <c:v>Civic Duty</c:v>
                </c:pt>
                <c:pt idx="2">
                  <c:v>Hawthorne</c:v>
                </c:pt>
                <c:pt idx="3">
                  <c:v>Neighbors</c:v>
                </c:pt>
              </c:strCache>
            </c:strRef>
          </c:cat>
          <c:val>
            <c:numRef>
              <c:f>Sheet1!$B$2:$B$5</c:f>
              <c:numCache>
                <c:formatCode>General</c:formatCode>
                <c:ptCount val="4"/>
                <c:pt idx="0">
                  <c:v>29.7</c:v>
                </c:pt>
                <c:pt idx="1">
                  <c:v>31.5</c:v>
                </c:pt>
                <c:pt idx="2">
                  <c:v>32.200000000000003</c:v>
                </c:pt>
                <c:pt idx="3">
                  <c:v>37.799999999999997</c:v>
                </c:pt>
              </c:numCache>
            </c:numRef>
          </c:val>
          <c:extLst>
            <c:ext xmlns:c16="http://schemas.microsoft.com/office/drawing/2014/chart" uri="{C3380CC4-5D6E-409C-BE32-E72D297353CC}">
              <c16:uniqueId val="{00000008-7596-7C4A-8488-F995B72302D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178"/>
                </a:solidFill>
                <a:latin typeface="Calibri"/>
              </a:defRPr>
            </a:pPr>
            <a:endParaRPr lang="en-US"/>
          </a:p>
        </c:txPr>
        <c:crossAx val="2094734552"/>
        <c:crosses val="autoZero"/>
        <c:auto val="1"/>
        <c:lblAlgn val="ctr"/>
        <c:lblOffset val="100"/>
        <c:noMultiLvlLbl val="1"/>
      </c:catAx>
      <c:valAx>
        <c:axId val="2094734552"/>
        <c:scaling>
          <c:orientation val="minMax"/>
          <c:max val="4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for three weeks we have been worrying about confounders we can see (Week 2) and drawing the ones we cannot (Week 3). Today is the design that makes that worry go away, and why it is the benchmark every later method is trying to imitate.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short. The key idea: RCTs are not just one method among many; they are the reference point. When we get to matching next week, the question will be “does this approximate an experiment?”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Goals 1 to 4 are the lecture; goal 5 is the 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Write the decomposition on the board if you can. The bracketed term is the whole problem: would the treated group have had different outcomes even without treatment? In observational data, almost always yes.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Rosenbaum, Causal Inference (2023), ch. 1, pp. 9–20, especially pp. 13–18, and ch. 2, pp. 34–36. This hypothetical potential-outcome schedule has a zero individual effect for both people. Randomization makes the estimator unbiased across possible assignments, even though neither realized estimate equals the ATE. Ask: Does unbiased mean our one estimate must be correct? Answer: No. Separate bias from precision. The full potential-outcome table is available only because this is a teaching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to Week 3 DAGs: U opens a backdoor path D ← U → Y. Regression can close it only if U is measured. Ask: in your own research area, what is the U that worries you most?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Rosenbaum (2023), Causal Inference, ch. 2, pp. 25–36. Here D denotes randomized assignment with full compliance and a common assignment probability. For a fixed finite sample, the difference in means is unbiased across assignments for the sample ATE. The realized treated subset need not have exactly the same average effect as the whole sample. With blocks or unequal probabilities, estimation and inference must respect the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Simulated from 100 real ages in the Gerber-Green-Larimer data, randomized 50/50 five thousand times. SD of the difference is about 2.9 years. Unbiasedness is a property of the procedure, not of any one realization. This sets up both blocking and balance tables.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Rosenbaum (2023), Causal Inference, ch. 2, pp. 21–35, especially pp. 31–35. Rosenbaum simplifies the PALM trial to this two-drug comparison. The control is an active treatment, ZMapp. This is a 14.6 percentage-point increase in survival relative to ZMapp, not a 14.6 percent relative increase and not an effect versus no care. We estimate an average effect. We do not observe which individual patients were saved because of mAb114. Both Y(1) and Y(0) remain unavailable for each person.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Rosenbaum (2023), ch. 2, pp. 37–41. Fisher’s sharp null specifies the missing potential outcomes and therefore allows us to calculate the test statistic under every permissible assignment. A zero average effect does not imply a zero effect for every person. The source reports a two-sided p-value of 0.0083 for its simplified PALM comparison. Explain it as the probability, under the sharp null and the randomization scheme, of an outcome contrast at least as extreme as the observed one. It is not the probability that the null is true. Keep fixed treatment counts when the design does, randomize within blocks for blocked designs, and reassign entire clusters for cluster designs.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Instructor-created hypothetical example. We assume complete random assignment of exactly two of four people, with all six assignments equally likely. Under the sharp null, the four observed outcomes are fixed for every assignment. Enumerate all six pairs with students. The exact two-sided p-value uses absolute differences: 2 of 6 assignments have |difference| at least 4. A visually large gap need not be compelling evidence in a tiny experiment. This example teaches the reasoning without a distributional assumption about normally distributed outcomes.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Self arm (showing your own voting record) is not in the teaching dataset. Worth naming each part explicitly: students often design “experiments” for their dissertation that are missing one of these, usually a clearly defined control or a real assignment mechanism.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in a violence intervention or housing program evaluation, what is the realistic comparison, nothing or the existing service? Often the policy-relevant question is the active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Rosenbaum (2023), ch. 2, pp. 21–25. Equipoise concerns uncertainty or disagreement among informed experts about relative treatment merits. Consent and oversight are additional protections, not consequences of randomization itself. PALM compared active treatments and monitored safety under a planned interim analysis. For a policy discussion, ask what the real alternative allocation rule would be, what access participants retain, and who bears risks. Scarcity or a fair lottery alone does not resolve every ethical issue.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The plotted effects compare each mailing with the no-mail control. They estimate effects of treatment packages. Identifying a mechanism requires a contrast that isolates that mechanism and additional substantive justification. The Neighbors mailing bundles information and anticipated social exposure. The complete original experiment also included a Self arm.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Blocking is the answer to the previous slide’s chance-imbalance problem: if you know prior turnout predicts turnout, randomize within prior-turnout groups. Cluster randomization is what both lab studies actually did (households; village councils).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Rosenbaum (2023), ch. 2, pp. 42–44. In his simple lottery example, all participants have the same one-third probability of treatment. This differs from varying assignment probabilities across participants or blocks, which can require weighting or aggregation that respects those probabilities. Equal group sizes are not a defining feature of randomization. For a fixed treatment count, use complete randomization rather than independent die rolls.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Individual-level analysis is possible after cluster assignment. Standard errors or randomization inference must account for the assignment unit. The appropriate weighting depends on whether the estimand averages over individuals or clusters.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exact numbers students will produce in the lab. Ask before the next slide: “Did randomization work? What about that p = 0.02?”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Neighbors−Control gap in 2004 turnout is 0.0063, about 0.6 percentage points. Standardized differences for all four covariates are under 0.02. With 229,000 people in the comparison, even a gap this small reaches p &lt; .05.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found exactly one p &lt; .05 out of twelve, right at what chance predicts. The joint F-test (the same logic as Olken’s balance regression in the homework) is the better single summary.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Rosenbaum (2023), ch. 2, pp. 25–30. A balance table can reassure readers about observed covariates, but protection against unmeasured covariates rests on the assignment process. In observational studies, observed balance alone does not supply that protection (ch. 3, pp. 64–65).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arithmetic in the card is worth walking through: the Neighbors group had 0.63 points higher 2004 turnout, 2004 turnout raises 2006 turnout by 0.147, so adjusting removes about 0.001. Covariate adjustment corrects chance imbalance; it does not fix design flaws.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Rule 1 links straight back to colliders. Example: in a job-training RCT, controlling for “hours worked last month” measured after the program conditions on a mediator/collider. Rule 4 is optional depth for the PhD students.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Retained original lab estimates. This table is a demonstration of point-estimate equivalence and default software output, not the final inferential result for the cluster-randomized design. The unadjusted OLS coefficient with an intercept equals the difference in means. OLS estimation does not require homoskedasticity, but its default standard errors do. Neither Welch nor default lm() handles council clustering here. Without the underlying lab data and council identifiers, no new cluster-adjusted p-value is asserted.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The reservation policy may change outcomes through channels beyond the leader’s gender. Exclusion therefore requires substantive justification. The rescaled number is illustrative, not an automatically identified effect of a female leader for everyone. See Rosenbaum (2023), ch. 7, pp. 137–146 for encouragement designs and complier effects.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Rosenbaum (2023), ch. 7, pp. 137–146. The reading uses randomized encouragement to stop smoking and housing-voucher offers. Relevance: the offer changes participation. Exclusion: the offer affects the outcome only through participation. Monotonicity: nobody participates only when not offered (no defiers). Random assignment supplies independence, assuming implementation preserves it. The Wald ratio identifies a local average treatment effect for compliers under these conditions, not the ATE for everyone. Ask students whether a reservation policy might affect public spending through channels beyond a leader’s gender. Do not present rescaling as automatic.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Item 4 is the reason the rest of the course exists. For most sociological questions we care about, we cannot randomize. Ask the room for a treatment in their own area that could never ethically be randomized.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Distinguish random assignment into treatment arms from random sampling into a study. Assignment supports internal comparisons. Generalization requires reasoning about the study population, recruitment, setting, implementation, and effect heterogeneity.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Rosenbaum (2023), ch. 3, pp. 47–65 and ch. 7, pp. 117–120, 146–148. In the smoking example, smokers and nonsmokers differ on observed covariates, with further concerns about unmeasured covariates. Natural experiments may use genuine lotteries or argue that a rule creates nearly random variation. A policy change is not automatically a natural experiment. Keep this a bridge to later weeks: identify the assignment process before selecting an estimator.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50 minutes. Everything on slides 12, 16, 18, 21, 23 and 25 is reproduced in the lab, so students can check their numbers against the lecture.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to three minutes in pairs, then take two examples. Keep a list; it is useful when we reach the observational designs.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74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F8FAE7B-5C39-4885-95E6-4597820CDAB8}"/>
              </a:ext>
            </a:extLst>
          </p:cNvPr>
          <p:cNvSpPr>
            <a:spLocks noGrp="1"/>
          </p:cNvSpPr>
          <p:nvPr/>
        </p:nvSpPr>
        <p:spPr>
          <a:xfrm>
            <a:off x="8961120" y="3291840"/>
            <a:ext cx="4206240" cy="4206240"/>
          </a:xfrm>
          <a:prstGeom prst="ellipse">
            <a:avLst/>
          </a:prstGeom>
          <a:solidFill>
            <a:srgbClr val="1B4F8C">
              <a:alpha val="60000"/>
            </a:srgbClr>
          </a:solidFill>
          <a:ln w="12700">
            <a:solidFill>
              <a:srgbClr val="1B4F8C">
                <a:alpha val="60000"/>
              </a:srgbClr>
            </a:solidFill>
            <a:prstDash val="solid"/>
          </a:ln>
        </p:spPr>
        <p:txBody>
          <a:bodyPr/>
          <a:lstStyle/>
          <a:p>
            <a:endParaRPr lang="en-US"/>
          </a:p>
        </p:txBody>
      </p:sp>
      <p:sp>
        <p:nvSpPr>
          <p:cNvPr id="3" name="Text 1">
            <a:extLst>
              <a:ext uri="{FF2B5EF4-FFF2-40B4-BE49-F238E27FC236}">
                <a16:creationId xmlns:a16="http://schemas.microsoft.com/office/drawing/2014/main" id="{C759C3AF-1DFB-4F17-A4D6-8415BF1BD469}"/>
              </a:ext>
            </a:extLst>
          </p:cNvPr>
          <p:cNvSpPr>
            <a:spLocks noGrp="1"/>
          </p:cNvSpPr>
          <p:nvPr/>
        </p:nvSpPr>
        <p:spPr>
          <a:xfrm>
            <a:off x="731520" y="1828800"/>
            <a:ext cx="10698480" cy="1097280"/>
          </a:xfrm>
          <a:prstGeom prst="rect">
            <a:avLst/>
          </a:prstGeom>
          <a:noFill/>
        </p:spPr>
        <p:txBody>
          <a:bodyPr wrap="square" lIns="0" tIns="0" rIns="0" bIns="0" anchor="t"/>
          <a:lstStyle/>
          <a:p>
            <a:pPr marL="0" indent="0">
              <a:buNone/>
            </a:pPr>
            <a:r>
              <a:rPr sz="4400" b="1">
                <a:solidFill>
                  <a:srgbClr val="FFFFFF"/>
                </a:solidFill>
                <a:latin typeface="Cambria"/>
                <a:ea typeface="Cambria"/>
                <a:cs typeface="Cambria"/>
              </a:rPr>
              <a:t>Randomized Controlled Trials</a:t>
            </a:r>
            <a:endParaRPr sz="4400"/>
          </a:p>
        </p:txBody>
      </p:sp>
      <p:sp>
        <p:nvSpPr>
          <p:cNvPr id="4" name="Text 2">
            <a:extLst>
              <a:ext uri="{FF2B5EF4-FFF2-40B4-BE49-F238E27FC236}">
                <a16:creationId xmlns:a16="http://schemas.microsoft.com/office/drawing/2014/main" id="{7365DE7B-AA55-4604-96F3-1B49810B575D}"/>
              </a:ext>
            </a:extLst>
          </p:cNvPr>
          <p:cNvSpPr>
            <a:spLocks noGrp="1"/>
          </p:cNvSpPr>
          <p:nvPr/>
        </p:nvSpPr>
        <p:spPr>
          <a:xfrm>
            <a:off x="731520" y="3017520"/>
            <a:ext cx="9144000" cy="457200"/>
          </a:xfrm>
          <a:prstGeom prst="rect">
            <a:avLst/>
          </a:prstGeom>
          <a:noFill/>
        </p:spPr>
        <p:txBody>
          <a:bodyPr wrap="square" lIns="0" tIns="0" rIns="0" bIns="0" anchor="t"/>
          <a:lstStyle/>
          <a:p>
            <a:pPr marL="0" indent="0">
              <a:buNone/>
            </a:pPr>
            <a:r>
              <a:rPr sz="2000" dirty="0">
                <a:solidFill>
                  <a:srgbClr val="BFD7EA"/>
                </a:solidFill>
                <a:latin typeface="Calibri"/>
                <a:ea typeface="Calibri"/>
                <a:cs typeface="Calibri"/>
              </a:rPr>
              <a:t>Week 4  —  QMSS 75000 / SOC 81900</a:t>
            </a:r>
            <a:endParaRPr sz="2000" dirty="0"/>
          </a:p>
        </p:txBody>
      </p:sp>
      <p:sp>
        <p:nvSpPr>
          <p:cNvPr id="5" name="Text 3">
            <a:extLst>
              <a:ext uri="{FF2B5EF4-FFF2-40B4-BE49-F238E27FC236}">
                <a16:creationId xmlns:a16="http://schemas.microsoft.com/office/drawing/2014/main" id="{D6A6A5E3-0251-457D-9C44-89FDD6683791}"/>
              </a:ext>
            </a:extLst>
          </p:cNvPr>
          <p:cNvSpPr>
            <a:spLocks noGrp="1"/>
          </p:cNvSpPr>
          <p:nvPr/>
        </p:nvSpPr>
        <p:spPr>
          <a:xfrm>
            <a:off x="731520" y="3474720"/>
            <a:ext cx="9144000" cy="457200"/>
          </a:xfrm>
          <a:prstGeom prst="rect">
            <a:avLst/>
          </a:prstGeom>
          <a:noFill/>
        </p:spPr>
        <p:txBody>
          <a:bodyPr wrap="square" lIns="0" tIns="0" rIns="0" bIns="0" anchor="t"/>
          <a:lstStyle/>
          <a:p>
            <a:pPr marL="0" indent="0">
              <a:buNone/>
            </a:pPr>
            <a:r>
              <a:rPr sz="2000" i="1" dirty="0">
                <a:solidFill>
                  <a:srgbClr val="BFD7EA"/>
                </a:solidFill>
                <a:latin typeface="Calibri"/>
                <a:ea typeface="Calibri"/>
                <a:cs typeface="Calibri"/>
              </a:rPr>
              <a:t>Random assignment, causal inference, controls, and experimental evidence</a:t>
            </a:r>
            <a:endParaRPr sz="2000" dirty="0"/>
          </a:p>
        </p:txBody>
      </p:sp>
      <p:sp>
        <p:nvSpPr>
          <p:cNvPr id="6" name="Text 4">
            <a:extLst>
              <a:ext uri="{FF2B5EF4-FFF2-40B4-BE49-F238E27FC236}">
                <a16:creationId xmlns:a16="http://schemas.microsoft.com/office/drawing/2014/main" id="{B8725CA8-D724-4F29-88B7-0654E70DCFDA}"/>
              </a:ext>
            </a:extLst>
          </p:cNvPr>
          <p:cNvSpPr>
            <a:spLocks noGrp="1"/>
          </p:cNvSpPr>
          <p:nvPr/>
        </p:nvSpPr>
        <p:spPr>
          <a:xfrm>
            <a:off x="731520" y="6035040"/>
            <a:ext cx="7315200" cy="365760"/>
          </a:xfrm>
          <a:prstGeom prst="rect">
            <a:avLst/>
          </a:prstGeom>
          <a:noFill/>
        </p:spPr>
        <p:txBody>
          <a:bodyPr wrap="square" lIns="0" tIns="0" rIns="0" bIns="0" anchor="t"/>
          <a:lstStyle/>
          <a:p>
            <a:pPr marL="0" indent="0">
              <a:buNone/>
            </a:pPr>
            <a:r>
              <a:rPr sz="2000" dirty="0">
                <a:solidFill>
                  <a:srgbClr val="FFFFFF"/>
                </a:solidFill>
                <a:latin typeface="Calibri"/>
                <a:ea typeface="Calibri"/>
                <a:cs typeface="Calibri"/>
              </a:rPr>
              <a:t>Edwin Grimsley, Ph.D</a:t>
            </a:r>
            <a:r>
              <a:rPr sz="1300" dirty="0">
                <a:solidFill>
                  <a:srgbClr val="FFFFFF"/>
                </a:solidFill>
                <a:latin typeface="Calibri"/>
                <a:ea typeface="Calibri"/>
                <a:cs typeface="Calibri"/>
              </a:rPr>
              <a:t>.</a:t>
            </a:r>
            <a:endParaRPr sz="1300" dirty="0"/>
          </a:p>
        </p:txBody>
      </p:sp>
    </p:spTree>
    <p:extLst>
      <p:ext uri="{BB962C8B-B14F-4D97-AF65-F5344CB8AC3E}">
        <p14:creationId xmlns:p14="http://schemas.microsoft.com/office/powerpoint/2010/main" val="608171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53B2FF3-4A43-4CC8-9105-26502F2DB240}"/>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WHERE WE ARE</a:t>
            </a:r>
            <a:endParaRPr sz="1200"/>
          </a:p>
        </p:txBody>
      </p:sp>
      <p:sp>
        <p:nvSpPr>
          <p:cNvPr id="3" name="Text 1">
            <a:extLst>
              <a:ext uri="{FF2B5EF4-FFF2-40B4-BE49-F238E27FC236}">
                <a16:creationId xmlns:a16="http://schemas.microsoft.com/office/drawing/2014/main" id="{B85473C6-4CBE-44E9-9849-16EBA422B5A0}"/>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The benchmark the rest of the course chases</a:t>
            </a:r>
            <a:endParaRPr sz="3000"/>
          </a:p>
        </p:txBody>
      </p:sp>
      <p:sp>
        <p:nvSpPr>
          <p:cNvPr id="4" name="Text 2">
            <a:extLst>
              <a:ext uri="{FF2B5EF4-FFF2-40B4-BE49-F238E27FC236}">
                <a16:creationId xmlns:a16="http://schemas.microsoft.com/office/drawing/2014/main" id="{A4D66180-87CD-4F0F-9BDD-79C99CE0C348}"/>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a:t>
            </a:r>
            <a:endParaRPr sz="1000"/>
          </a:p>
        </p:txBody>
      </p:sp>
      <p:sp>
        <p:nvSpPr>
          <p:cNvPr id="5" name="Shape 3">
            <a:extLst>
              <a:ext uri="{FF2B5EF4-FFF2-40B4-BE49-F238E27FC236}">
                <a16:creationId xmlns:a16="http://schemas.microsoft.com/office/drawing/2014/main" id="{AF53422B-CEF6-4F2C-94B1-2AC72755925D}"/>
              </a:ext>
            </a:extLst>
          </p:cNvPr>
          <p:cNvSpPr>
            <a:spLocks noGrp="1"/>
          </p:cNvSpPr>
          <p:nvPr/>
        </p:nvSpPr>
        <p:spPr>
          <a:xfrm>
            <a:off x="548640" y="1645920"/>
            <a:ext cx="2606040" cy="3291840"/>
          </a:xfrm>
          <a:prstGeom prst="roundRect">
            <a:avLst>
              <a:gd name="adj" fmla="val 3509"/>
            </a:avLst>
          </a:prstGeom>
          <a:solidFill>
            <a:srgbClr val="EEF3F8"/>
          </a:solidFill>
          <a:ln w="12700">
            <a:solidFill>
              <a:srgbClr val="EEF3F8"/>
            </a:solidFill>
            <a:prstDash val="solid"/>
          </a:ln>
        </p:spPr>
        <p:txBody>
          <a:bodyPr/>
          <a:lstStyle/>
          <a:p>
            <a:endParaRPr lang="en-US"/>
          </a:p>
        </p:txBody>
      </p:sp>
      <p:sp>
        <p:nvSpPr>
          <p:cNvPr id="6" name="Text 4">
            <a:extLst>
              <a:ext uri="{FF2B5EF4-FFF2-40B4-BE49-F238E27FC236}">
                <a16:creationId xmlns:a16="http://schemas.microsoft.com/office/drawing/2014/main" id="{C85DB305-B119-41DD-8187-28358E4B1302}"/>
              </a:ext>
            </a:extLst>
          </p:cNvPr>
          <p:cNvSpPr>
            <a:spLocks noGrp="1"/>
          </p:cNvSpPr>
          <p:nvPr/>
        </p:nvSpPr>
        <p:spPr>
          <a:xfrm>
            <a:off x="822960" y="1874520"/>
            <a:ext cx="2103120" cy="365760"/>
          </a:xfrm>
          <a:prstGeom prst="rect">
            <a:avLst/>
          </a:prstGeom>
          <a:noFill/>
        </p:spPr>
        <p:txBody>
          <a:bodyPr wrap="square" lIns="0" tIns="0" rIns="0" bIns="0" anchor="t"/>
          <a:lstStyle/>
          <a:p>
            <a:pPr marL="0" indent="0">
              <a:buNone/>
            </a:pPr>
            <a:r>
              <a:rPr sz="1400" b="1">
                <a:solidFill>
                  <a:srgbClr val="1B4F8C"/>
                </a:solidFill>
                <a:latin typeface="Calibri"/>
                <a:ea typeface="Calibri"/>
                <a:cs typeface="Calibri"/>
              </a:rPr>
              <a:t>Week 2</a:t>
            </a:r>
            <a:endParaRPr sz="1400"/>
          </a:p>
        </p:txBody>
      </p:sp>
      <p:sp>
        <p:nvSpPr>
          <p:cNvPr id="7" name="Text 5">
            <a:extLst>
              <a:ext uri="{FF2B5EF4-FFF2-40B4-BE49-F238E27FC236}">
                <a16:creationId xmlns:a16="http://schemas.microsoft.com/office/drawing/2014/main" id="{283B0DE5-C675-4A0D-9042-5758227BAA5F}"/>
              </a:ext>
            </a:extLst>
          </p:cNvPr>
          <p:cNvSpPr>
            <a:spLocks noGrp="1"/>
          </p:cNvSpPr>
          <p:nvPr/>
        </p:nvSpPr>
        <p:spPr>
          <a:xfrm>
            <a:off x="822960" y="2286000"/>
            <a:ext cx="2103120" cy="1005840"/>
          </a:xfrm>
          <a:prstGeom prst="rect">
            <a:avLst/>
          </a:prstGeom>
          <a:noFill/>
        </p:spPr>
        <p:txBody>
          <a:bodyPr wrap="square" lIns="0" tIns="0" rIns="0" bIns="0" anchor="t"/>
          <a:lstStyle/>
          <a:p>
            <a:pPr marL="0" indent="0">
              <a:buNone/>
            </a:pPr>
            <a:r>
              <a:rPr sz="2100" b="1">
                <a:solidFill>
                  <a:srgbClr val="00274D"/>
                </a:solidFill>
                <a:latin typeface="Cambria"/>
                <a:ea typeface="Cambria"/>
                <a:cs typeface="Cambria"/>
              </a:rPr>
              <a:t>Regression &amp; controls</a:t>
            </a:r>
            <a:endParaRPr sz="2100"/>
          </a:p>
        </p:txBody>
      </p:sp>
      <p:sp>
        <p:nvSpPr>
          <p:cNvPr id="8" name="Text 6">
            <a:extLst>
              <a:ext uri="{FF2B5EF4-FFF2-40B4-BE49-F238E27FC236}">
                <a16:creationId xmlns:a16="http://schemas.microsoft.com/office/drawing/2014/main" id="{D9E18A7E-67A7-4F27-8726-FDF3CDF9D35C}"/>
              </a:ext>
            </a:extLst>
          </p:cNvPr>
          <p:cNvSpPr>
            <a:spLocks noGrp="1"/>
          </p:cNvSpPr>
          <p:nvPr/>
        </p:nvSpPr>
        <p:spPr>
          <a:xfrm>
            <a:off x="822960" y="3383280"/>
            <a:ext cx="2103120" cy="128016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Adjust for the confounders you can see</a:t>
            </a:r>
            <a:endParaRPr sz="1600"/>
          </a:p>
        </p:txBody>
      </p:sp>
      <p:sp>
        <p:nvSpPr>
          <p:cNvPr id="9" name="Shape 7">
            <a:extLst>
              <a:ext uri="{FF2B5EF4-FFF2-40B4-BE49-F238E27FC236}">
                <a16:creationId xmlns:a16="http://schemas.microsoft.com/office/drawing/2014/main" id="{E9890CEA-D325-4EA1-A540-885CAABAE541}"/>
              </a:ext>
            </a:extLst>
          </p:cNvPr>
          <p:cNvSpPr>
            <a:spLocks noGrp="1"/>
          </p:cNvSpPr>
          <p:nvPr/>
        </p:nvSpPr>
        <p:spPr>
          <a:xfrm>
            <a:off x="3383280" y="1645920"/>
            <a:ext cx="2606040" cy="3291840"/>
          </a:xfrm>
          <a:prstGeom prst="roundRect">
            <a:avLst>
              <a:gd name="adj" fmla="val 3509"/>
            </a:avLst>
          </a:prstGeom>
          <a:solidFill>
            <a:srgbClr val="EEF3F8"/>
          </a:solidFill>
          <a:ln w="12700">
            <a:solidFill>
              <a:srgbClr val="EEF3F8"/>
            </a:solidFill>
            <a:prstDash val="solid"/>
          </a:ln>
        </p:spPr>
        <p:txBody>
          <a:bodyPr/>
          <a:lstStyle/>
          <a:p>
            <a:endParaRPr lang="en-US"/>
          </a:p>
        </p:txBody>
      </p:sp>
      <p:sp>
        <p:nvSpPr>
          <p:cNvPr id="10" name="Text 8">
            <a:extLst>
              <a:ext uri="{FF2B5EF4-FFF2-40B4-BE49-F238E27FC236}">
                <a16:creationId xmlns:a16="http://schemas.microsoft.com/office/drawing/2014/main" id="{381B065E-5218-4680-8A43-8D4075A989FE}"/>
              </a:ext>
            </a:extLst>
          </p:cNvPr>
          <p:cNvSpPr>
            <a:spLocks noGrp="1"/>
          </p:cNvSpPr>
          <p:nvPr/>
        </p:nvSpPr>
        <p:spPr>
          <a:xfrm>
            <a:off x="3657600" y="1874520"/>
            <a:ext cx="2103120" cy="365760"/>
          </a:xfrm>
          <a:prstGeom prst="rect">
            <a:avLst/>
          </a:prstGeom>
          <a:noFill/>
        </p:spPr>
        <p:txBody>
          <a:bodyPr wrap="square" lIns="0" tIns="0" rIns="0" bIns="0" anchor="t"/>
          <a:lstStyle/>
          <a:p>
            <a:pPr marL="0" indent="0">
              <a:buNone/>
            </a:pPr>
            <a:r>
              <a:rPr sz="1400" b="1">
                <a:solidFill>
                  <a:srgbClr val="1B4F8C"/>
                </a:solidFill>
                <a:latin typeface="Calibri"/>
                <a:ea typeface="Calibri"/>
                <a:cs typeface="Calibri"/>
              </a:rPr>
              <a:t>Week 3</a:t>
            </a:r>
            <a:endParaRPr sz="1400"/>
          </a:p>
        </p:txBody>
      </p:sp>
      <p:sp>
        <p:nvSpPr>
          <p:cNvPr id="11" name="Text 9">
            <a:extLst>
              <a:ext uri="{FF2B5EF4-FFF2-40B4-BE49-F238E27FC236}">
                <a16:creationId xmlns:a16="http://schemas.microsoft.com/office/drawing/2014/main" id="{EB8BEE74-9FE9-470C-98FE-011049C656B9}"/>
              </a:ext>
            </a:extLst>
          </p:cNvPr>
          <p:cNvSpPr>
            <a:spLocks noGrp="1"/>
          </p:cNvSpPr>
          <p:nvPr/>
        </p:nvSpPr>
        <p:spPr>
          <a:xfrm>
            <a:off x="3657600" y="2286000"/>
            <a:ext cx="2103120" cy="1005840"/>
          </a:xfrm>
          <a:prstGeom prst="rect">
            <a:avLst/>
          </a:prstGeom>
          <a:noFill/>
        </p:spPr>
        <p:txBody>
          <a:bodyPr wrap="square" lIns="0" tIns="0" rIns="0" bIns="0" anchor="t"/>
          <a:lstStyle/>
          <a:p>
            <a:pPr marL="0" indent="0">
              <a:buNone/>
            </a:pPr>
            <a:r>
              <a:rPr sz="2100" b="1">
                <a:solidFill>
                  <a:srgbClr val="00274D"/>
                </a:solidFill>
                <a:latin typeface="Cambria"/>
                <a:ea typeface="Cambria"/>
                <a:cs typeface="Cambria"/>
              </a:rPr>
              <a:t>Potential outcomes &amp; DAGs</a:t>
            </a:r>
            <a:endParaRPr sz="2100"/>
          </a:p>
        </p:txBody>
      </p:sp>
      <p:sp>
        <p:nvSpPr>
          <p:cNvPr id="12" name="Text 10">
            <a:extLst>
              <a:ext uri="{FF2B5EF4-FFF2-40B4-BE49-F238E27FC236}">
                <a16:creationId xmlns:a16="http://schemas.microsoft.com/office/drawing/2014/main" id="{82DA6DEC-0E0E-4081-BB94-9CDF9199129B}"/>
              </a:ext>
            </a:extLst>
          </p:cNvPr>
          <p:cNvSpPr>
            <a:spLocks noGrp="1"/>
          </p:cNvSpPr>
          <p:nvPr/>
        </p:nvSpPr>
        <p:spPr>
          <a:xfrm>
            <a:off x="3657600" y="3383280"/>
            <a:ext cx="2103120" cy="128016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Name what you need to be true</a:t>
            </a:r>
            <a:endParaRPr sz="1600"/>
          </a:p>
        </p:txBody>
      </p:sp>
      <p:sp>
        <p:nvSpPr>
          <p:cNvPr id="13" name="Shape 11">
            <a:extLst>
              <a:ext uri="{FF2B5EF4-FFF2-40B4-BE49-F238E27FC236}">
                <a16:creationId xmlns:a16="http://schemas.microsoft.com/office/drawing/2014/main" id="{6FE9A74E-9C13-4245-A21D-A0E21964C11D}"/>
              </a:ext>
            </a:extLst>
          </p:cNvPr>
          <p:cNvSpPr>
            <a:spLocks noGrp="1"/>
          </p:cNvSpPr>
          <p:nvPr/>
        </p:nvSpPr>
        <p:spPr>
          <a:xfrm>
            <a:off x="6217920" y="1645920"/>
            <a:ext cx="2606040" cy="3291840"/>
          </a:xfrm>
          <a:prstGeom prst="roundRect">
            <a:avLst>
              <a:gd name="adj" fmla="val 3509"/>
            </a:avLst>
          </a:prstGeom>
          <a:solidFill>
            <a:srgbClr val="00274D"/>
          </a:solidFill>
          <a:ln w="12700">
            <a:solidFill>
              <a:srgbClr val="00274D"/>
            </a:solidFill>
            <a:prstDash val="solid"/>
          </a:ln>
        </p:spPr>
        <p:txBody>
          <a:bodyPr/>
          <a:lstStyle/>
          <a:p>
            <a:endParaRPr lang="en-US"/>
          </a:p>
        </p:txBody>
      </p:sp>
      <p:sp>
        <p:nvSpPr>
          <p:cNvPr id="14" name="Text 12">
            <a:extLst>
              <a:ext uri="{FF2B5EF4-FFF2-40B4-BE49-F238E27FC236}">
                <a16:creationId xmlns:a16="http://schemas.microsoft.com/office/drawing/2014/main" id="{76D2F387-0240-495E-899D-195AC86E74BB}"/>
              </a:ext>
            </a:extLst>
          </p:cNvPr>
          <p:cNvSpPr>
            <a:spLocks noGrp="1"/>
          </p:cNvSpPr>
          <p:nvPr/>
        </p:nvSpPr>
        <p:spPr>
          <a:xfrm>
            <a:off x="6492240" y="1874520"/>
            <a:ext cx="2103120" cy="365760"/>
          </a:xfrm>
          <a:prstGeom prst="rect">
            <a:avLst/>
          </a:prstGeom>
          <a:noFill/>
        </p:spPr>
        <p:txBody>
          <a:bodyPr wrap="square" lIns="0" tIns="0" rIns="0" bIns="0" anchor="t"/>
          <a:lstStyle/>
          <a:p>
            <a:pPr marL="0" indent="0">
              <a:buNone/>
            </a:pPr>
            <a:r>
              <a:rPr sz="1400" b="1">
                <a:solidFill>
                  <a:srgbClr val="BFD7EA"/>
                </a:solidFill>
                <a:latin typeface="Calibri"/>
                <a:ea typeface="Calibri"/>
                <a:cs typeface="Calibri"/>
              </a:rPr>
              <a:t>Week 4</a:t>
            </a:r>
            <a:endParaRPr sz="1400"/>
          </a:p>
        </p:txBody>
      </p:sp>
      <p:sp>
        <p:nvSpPr>
          <p:cNvPr id="15" name="Text 13">
            <a:extLst>
              <a:ext uri="{FF2B5EF4-FFF2-40B4-BE49-F238E27FC236}">
                <a16:creationId xmlns:a16="http://schemas.microsoft.com/office/drawing/2014/main" id="{5A1F6593-49C8-402D-8945-18C64566860F}"/>
              </a:ext>
            </a:extLst>
          </p:cNvPr>
          <p:cNvSpPr>
            <a:spLocks noGrp="1"/>
          </p:cNvSpPr>
          <p:nvPr/>
        </p:nvSpPr>
        <p:spPr>
          <a:xfrm>
            <a:off x="6492240" y="2286000"/>
            <a:ext cx="2103120" cy="1005840"/>
          </a:xfrm>
          <a:prstGeom prst="rect">
            <a:avLst/>
          </a:prstGeom>
          <a:noFill/>
        </p:spPr>
        <p:txBody>
          <a:bodyPr wrap="square" lIns="0" tIns="0" rIns="0" bIns="0" anchor="t"/>
          <a:lstStyle/>
          <a:p>
            <a:pPr marL="0" indent="0">
              <a:buNone/>
            </a:pPr>
            <a:r>
              <a:rPr sz="2100" b="1">
                <a:solidFill>
                  <a:srgbClr val="FFFFFF"/>
                </a:solidFill>
                <a:latin typeface="Cambria"/>
                <a:ea typeface="Cambria"/>
                <a:cs typeface="Cambria"/>
              </a:rPr>
              <a:t>RCTs</a:t>
            </a:r>
            <a:endParaRPr sz="2100"/>
          </a:p>
        </p:txBody>
      </p:sp>
      <p:sp>
        <p:nvSpPr>
          <p:cNvPr id="16" name="Text 14">
            <a:extLst>
              <a:ext uri="{FF2B5EF4-FFF2-40B4-BE49-F238E27FC236}">
                <a16:creationId xmlns:a16="http://schemas.microsoft.com/office/drawing/2014/main" id="{3B507225-D6B0-433A-A07F-219AAE9D6CE1}"/>
              </a:ext>
            </a:extLst>
          </p:cNvPr>
          <p:cNvSpPr>
            <a:spLocks noGrp="1"/>
          </p:cNvSpPr>
          <p:nvPr/>
        </p:nvSpPr>
        <p:spPr>
          <a:xfrm>
            <a:off x="6492240" y="3383280"/>
            <a:ext cx="2103120" cy="1280160"/>
          </a:xfrm>
          <a:prstGeom prst="rect">
            <a:avLst/>
          </a:prstGeom>
          <a:noFill/>
        </p:spPr>
        <p:txBody>
          <a:bodyPr wrap="square" lIns="0" tIns="0" rIns="0" bIns="0" anchor="t"/>
          <a:lstStyle/>
          <a:p>
            <a:pPr marL="0" indent="0">
              <a:buNone/>
            </a:pPr>
            <a:r>
              <a:rPr sz="1600">
                <a:solidFill>
                  <a:srgbClr val="FFFFFF"/>
                </a:solidFill>
                <a:latin typeface="Calibri"/>
                <a:ea typeface="Calibri"/>
                <a:cs typeface="Calibri"/>
              </a:rPr>
              <a:t>Make it true by design</a:t>
            </a:r>
            <a:endParaRPr sz="1600"/>
          </a:p>
        </p:txBody>
      </p:sp>
      <p:sp>
        <p:nvSpPr>
          <p:cNvPr id="17" name="Shape 15">
            <a:extLst>
              <a:ext uri="{FF2B5EF4-FFF2-40B4-BE49-F238E27FC236}">
                <a16:creationId xmlns:a16="http://schemas.microsoft.com/office/drawing/2014/main" id="{D0683848-C862-4A0B-93E9-DFAB17E97A51}"/>
              </a:ext>
            </a:extLst>
          </p:cNvPr>
          <p:cNvSpPr>
            <a:spLocks noGrp="1"/>
          </p:cNvSpPr>
          <p:nvPr/>
        </p:nvSpPr>
        <p:spPr>
          <a:xfrm>
            <a:off x="9052560" y="1645920"/>
            <a:ext cx="2606040" cy="3291840"/>
          </a:xfrm>
          <a:prstGeom prst="roundRect">
            <a:avLst>
              <a:gd name="adj" fmla="val 3509"/>
            </a:avLst>
          </a:prstGeom>
          <a:solidFill>
            <a:srgbClr val="EEF3F8"/>
          </a:solidFill>
          <a:ln w="12700">
            <a:solidFill>
              <a:srgbClr val="EEF3F8"/>
            </a:solidFill>
            <a:prstDash val="solid"/>
          </a:ln>
        </p:spPr>
        <p:txBody>
          <a:bodyPr/>
          <a:lstStyle/>
          <a:p>
            <a:endParaRPr lang="en-US"/>
          </a:p>
        </p:txBody>
      </p:sp>
      <p:sp>
        <p:nvSpPr>
          <p:cNvPr id="18" name="Text 16">
            <a:extLst>
              <a:ext uri="{FF2B5EF4-FFF2-40B4-BE49-F238E27FC236}">
                <a16:creationId xmlns:a16="http://schemas.microsoft.com/office/drawing/2014/main" id="{B08C63D8-3D8C-4C9B-99B5-14A1341840E9}"/>
              </a:ext>
            </a:extLst>
          </p:cNvPr>
          <p:cNvSpPr>
            <a:spLocks noGrp="1"/>
          </p:cNvSpPr>
          <p:nvPr/>
        </p:nvSpPr>
        <p:spPr>
          <a:xfrm>
            <a:off x="9326880" y="1874520"/>
            <a:ext cx="2103120" cy="365760"/>
          </a:xfrm>
          <a:prstGeom prst="rect">
            <a:avLst/>
          </a:prstGeom>
          <a:noFill/>
        </p:spPr>
        <p:txBody>
          <a:bodyPr wrap="square" lIns="0" tIns="0" rIns="0" bIns="0" anchor="t"/>
          <a:lstStyle/>
          <a:p>
            <a:pPr marL="0" indent="0">
              <a:buNone/>
            </a:pPr>
            <a:r>
              <a:rPr sz="1400" b="1">
                <a:solidFill>
                  <a:srgbClr val="1B4F8C"/>
                </a:solidFill>
                <a:latin typeface="Calibri"/>
                <a:ea typeface="Calibri"/>
                <a:cs typeface="Calibri"/>
              </a:rPr>
              <a:t>Weeks 5–10</a:t>
            </a:r>
            <a:endParaRPr sz="1400"/>
          </a:p>
        </p:txBody>
      </p:sp>
      <p:sp>
        <p:nvSpPr>
          <p:cNvPr id="19" name="Text 17">
            <a:extLst>
              <a:ext uri="{FF2B5EF4-FFF2-40B4-BE49-F238E27FC236}">
                <a16:creationId xmlns:a16="http://schemas.microsoft.com/office/drawing/2014/main" id="{1AC6AE79-08A4-4B38-B133-223D1D26B8D8}"/>
              </a:ext>
            </a:extLst>
          </p:cNvPr>
          <p:cNvSpPr>
            <a:spLocks noGrp="1"/>
          </p:cNvSpPr>
          <p:nvPr/>
        </p:nvSpPr>
        <p:spPr>
          <a:xfrm>
            <a:off x="9326880" y="2286000"/>
            <a:ext cx="2103120" cy="1005840"/>
          </a:xfrm>
          <a:prstGeom prst="rect">
            <a:avLst/>
          </a:prstGeom>
          <a:noFill/>
        </p:spPr>
        <p:txBody>
          <a:bodyPr wrap="square" lIns="0" tIns="0" rIns="0" bIns="0" anchor="t"/>
          <a:lstStyle/>
          <a:p>
            <a:pPr marL="0" indent="0">
              <a:buNone/>
            </a:pPr>
            <a:r>
              <a:rPr sz="2100" b="1">
                <a:solidFill>
                  <a:srgbClr val="00274D"/>
                </a:solidFill>
                <a:latin typeface="Cambria"/>
                <a:ea typeface="Cambria"/>
                <a:cs typeface="Cambria"/>
              </a:rPr>
              <a:t>Matching, IV, DiD, RD, panel</a:t>
            </a:r>
            <a:endParaRPr sz="2100"/>
          </a:p>
        </p:txBody>
      </p:sp>
      <p:sp>
        <p:nvSpPr>
          <p:cNvPr id="20" name="Text 18">
            <a:extLst>
              <a:ext uri="{FF2B5EF4-FFF2-40B4-BE49-F238E27FC236}">
                <a16:creationId xmlns:a16="http://schemas.microsoft.com/office/drawing/2014/main" id="{00D57FD6-3CEC-4349-B00E-08C9E0EC2205}"/>
              </a:ext>
            </a:extLst>
          </p:cNvPr>
          <p:cNvSpPr>
            <a:spLocks noGrp="1"/>
          </p:cNvSpPr>
          <p:nvPr/>
        </p:nvSpPr>
        <p:spPr>
          <a:xfrm>
            <a:off x="9326880" y="3383280"/>
            <a:ext cx="2103120" cy="128016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Approximate randomization without it</a:t>
            </a:r>
            <a:endParaRPr sz="1600"/>
          </a:p>
        </p:txBody>
      </p:sp>
      <p:sp>
        <p:nvSpPr>
          <p:cNvPr id="21" name="Text 19">
            <a:extLst>
              <a:ext uri="{FF2B5EF4-FFF2-40B4-BE49-F238E27FC236}">
                <a16:creationId xmlns:a16="http://schemas.microsoft.com/office/drawing/2014/main" id="{342A6E31-E034-4F3F-AC4D-C22D6515F595}"/>
              </a:ext>
            </a:extLst>
          </p:cNvPr>
          <p:cNvSpPr>
            <a:spLocks noGrp="1"/>
          </p:cNvSpPr>
          <p:nvPr/>
        </p:nvSpPr>
        <p:spPr>
          <a:xfrm>
            <a:off x="548640" y="5303520"/>
            <a:ext cx="11064240" cy="731520"/>
          </a:xfrm>
          <a:prstGeom prst="rect">
            <a:avLst/>
          </a:prstGeom>
          <a:noFill/>
        </p:spPr>
        <p:txBody>
          <a:bodyPr wrap="square" lIns="0" tIns="0" rIns="0" bIns="0" anchor="t"/>
          <a:lstStyle/>
          <a:p>
            <a:pPr marL="0" indent="0">
              <a:buNone/>
            </a:pPr>
            <a:r>
              <a:rPr sz="1700" i="1">
                <a:solidFill>
                  <a:srgbClr val="5B6178"/>
                </a:solidFill>
                <a:latin typeface="Calibri"/>
                <a:ea typeface="Calibri"/>
                <a:cs typeface="Calibri"/>
              </a:rPr>
              <a:t>Every design after today answers the same question: how close can we get to what randomization would have given us?</a:t>
            </a:r>
            <a:endParaRPr sz="1700"/>
          </a:p>
        </p:txBody>
      </p:sp>
    </p:spTree>
    <p:extLst>
      <p:ext uri="{BB962C8B-B14F-4D97-AF65-F5344CB8AC3E}">
        <p14:creationId xmlns:p14="http://schemas.microsoft.com/office/powerpoint/2010/main" val="774952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4649213-CF70-4FD4-B5E6-C36C5F21A938}"/>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TODAY</a:t>
            </a:r>
            <a:endParaRPr sz="1200"/>
          </a:p>
        </p:txBody>
      </p:sp>
      <p:sp>
        <p:nvSpPr>
          <p:cNvPr id="3" name="Text 1">
            <a:extLst>
              <a:ext uri="{FF2B5EF4-FFF2-40B4-BE49-F238E27FC236}">
                <a16:creationId xmlns:a16="http://schemas.microsoft.com/office/drawing/2014/main" id="{82AA42F4-DB81-49D6-881A-DC8B1073BA08}"/>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What you should be able to do by the end of class</a:t>
            </a:r>
            <a:endParaRPr sz="3000"/>
          </a:p>
        </p:txBody>
      </p:sp>
      <p:sp>
        <p:nvSpPr>
          <p:cNvPr id="4" name="Text 2">
            <a:extLst>
              <a:ext uri="{FF2B5EF4-FFF2-40B4-BE49-F238E27FC236}">
                <a16:creationId xmlns:a16="http://schemas.microsoft.com/office/drawing/2014/main" id="{2F366BC8-840A-4BBB-971E-0F34C7589C29}"/>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3</a:t>
            </a:r>
            <a:endParaRPr sz="1000"/>
          </a:p>
        </p:txBody>
      </p:sp>
      <p:sp>
        <p:nvSpPr>
          <p:cNvPr id="5" name="Shape 3">
            <a:extLst>
              <a:ext uri="{FF2B5EF4-FFF2-40B4-BE49-F238E27FC236}">
                <a16:creationId xmlns:a16="http://schemas.microsoft.com/office/drawing/2014/main" id="{61CF2720-0A0D-45B2-9CEC-6C87B95C6208}"/>
              </a:ext>
            </a:extLst>
          </p:cNvPr>
          <p:cNvSpPr>
            <a:spLocks noGrp="1"/>
          </p:cNvSpPr>
          <p:nvPr/>
        </p:nvSpPr>
        <p:spPr>
          <a:xfrm>
            <a:off x="548640" y="1691640"/>
            <a:ext cx="502920" cy="502920"/>
          </a:xfrm>
          <a:prstGeom prst="ellipse">
            <a:avLst/>
          </a:prstGeom>
          <a:solidFill>
            <a:srgbClr val="00274D"/>
          </a:solidFill>
          <a:ln w="12700">
            <a:solidFill>
              <a:srgbClr val="00274D"/>
            </a:solidFill>
            <a:prstDash val="solid"/>
          </a:ln>
        </p:spPr>
        <p:txBody>
          <a:bodyPr/>
          <a:lstStyle/>
          <a:p>
            <a:endParaRPr lang="en-US"/>
          </a:p>
        </p:txBody>
      </p:sp>
      <p:sp>
        <p:nvSpPr>
          <p:cNvPr id="6" name="Text 4">
            <a:extLst>
              <a:ext uri="{FF2B5EF4-FFF2-40B4-BE49-F238E27FC236}">
                <a16:creationId xmlns:a16="http://schemas.microsoft.com/office/drawing/2014/main" id="{019567A9-BE42-4D13-96C4-F8D8C8B1365E}"/>
              </a:ext>
            </a:extLst>
          </p:cNvPr>
          <p:cNvSpPr>
            <a:spLocks noGrp="1"/>
          </p:cNvSpPr>
          <p:nvPr/>
        </p:nvSpPr>
        <p:spPr>
          <a:xfrm>
            <a:off x="548640" y="169164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1</a:t>
            </a:r>
            <a:endParaRPr sz="1500"/>
          </a:p>
        </p:txBody>
      </p:sp>
      <p:sp>
        <p:nvSpPr>
          <p:cNvPr id="7" name="Text 5">
            <a:extLst>
              <a:ext uri="{FF2B5EF4-FFF2-40B4-BE49-F238E27FC236}">
                <a16:creationId xmlns:a16="http://schemas.microsoft.com/office/drawing/2014/main" id="{58CAD9CE-2441-48E0-B787-3DE1EA469E55}"/>
              </a:ext>
            </a:extLst>
          </p:cNvPr>
          <p:cNvSpPr>
            <a:spLocks noGrp="1"/>
          </p:cNvSpPr>
          <p:nvPr/>
        </p:nvSpPr>
        <p:spPr>
          <a:xfrm>
            <a:off x="1280160" y="1600200"/>
            <a:ext cx="10241280" cy="685800"/>
          </a:xfrm>
          <a:prstGeom prst="rect">
            <a:avLst/>
          </a:prstGeom>
          <a:noFill/>
        </p:spPr>
        <p:txBody>
          <a:bodyPr wrap="square" lIns="0" tIns="0" rIns="0" bIns="0" anchor="ctr"/>
          <a:lstStyle/>
          <a:p>
            <a:pPr marL="0" indent="0">
              <a:buNone/>
            </a:pPr>
            <a:r>
              <a:rPr sz="1800">
                <a:solidFill>
                  <a:srgbClr val="1A1A2E"/>
                </a:solidFill>
                <a:latin typeface="Calibri"/>
                <a:ea typeface="Calibri"/>
                <a:cs typeface="Calibri"/>
              </a:rPr>
              <a:t>Explain why random assignment supports unbiased estimation and chance-based inference</a:t>
            </a:r>
            <a:endParaRPr sz="1800"/>
          </a:p>
        </p:txBody>
      </p:sp>
      <p:sp>
        <p:nvSpPr>
          <p:cNvPr id="8" name="Shape 6">
            <a:extLst>
              <a:ext uri="{FF2B5EF4-FFF2-40B4-BE49-F238E27FC236}">
                <a16:creationId xmlns:a16="http://schemas.microsoft.com/office/drawing/2014/main" id="{F116ACD0-D48C-4BB9-88B4-3C1CAF423A86}"/>
              </a:ext>
            </a:extLst>
          </p:cNvPr>
          <p:cNvSpPr>
            <a:spLocks noGrp="1"/>
          </p:cNvSpPr>
          <p:nvPr/>
        </p:nvSpPr>
        <p:spPr>
          <a:xfrm>
            <a:off x="548640" y="2560320"/>
            <a:ext cx="502920" cy="502920"/>
          </a:xfrm>
          <a:prstGeom prst="ellipse">
            <a:avLst/>
          </a:prstGeom>
          <a:solidFill>
            <a:srgbClr val="1B4F8C"/>
          </a:solidFill>
          <a:ln w="12700">
            <a:solidFill>
              <a:srgbClr val="1B4F8C"/>
            </a:solidFill>
            <a:prstDash val="solid"/>
          </a:ln>
        </p:spPr>
        <p:txBody>
          <a:bodyPr/>
          <a:lstStyle/>
          <a:p>
            <a:endParaRPr lang="en-US"/>
          </a:p>
        </p:txBody>
      </p:sp>
      <p:sp>
        <p:nvSpPr>
          <p:cNvPr id="9" name="Text 7">
            <a:extLst>
              <a:ext uri="{FF2B5EF4-FFF2-40B4-BE49-F238E27FC236}">
                <a16:creationId xmlns:a16="http://schemas.microsoft.com/office/drawing/2014/main" id="{02FF717E-3D6F-4AA2-81DC-1D4B6F988A23}"/>
              </a:ext>
            </a:extLst>
          </p:cNvPr>
          <p:cNvSpPr>
            <a:spLocks noGrp="1"/>
          </p:cNvSpPr>
          <p:nvPr/>
        </p:nvSpPr>
        <p:spPr>
          <a:xfrm>
            <a:off x="548640" y="256032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2</a:t>
            </a:r>
            <a:endParaRPr sz="1500"/>
          </a:p>
        </p:txBody>
      </p:sp>
      <p:sp>
        <p:nvSpPr>
          <p:cNvPr id="10" name="Text 8">
            <a:extLst>
              <a:ext uri="{FF2B5EF4-FFF2-40B4-BE49-F238E27FC236}">
                <a16:creationId xmlns:a16="http://schemas.microsoft.com/office/drawing/2014/main" id="{664B00F5-D7E4-4837-8CD0-6B6D7A505929}"/>
              </a:ext>
            </a:extLst>
          </p:cNvPr>
          <p:cNvSpPr>
            <a:spLocks noGrp="1"/>
          </p:cNvSpPr>
          <p:nvPr/>
        </p:nvSpPr>
        <p:spPr>
          <a:xfrm>
            <a:off x="1280160" y="2468880"/>
            <a:ext cx="10241280" cy="685800"/>
          </a:xfrm>
          <a:prstGeom prst="rect">
            <a:avLst/>
          </a:prstGeom>
          <a:noFill/>
        </p:spPr>
        <p:txBody>
          <a:bodyPr wrap="square" lIns="0" tIns="0" rIns="0" bIns="0" anchor="ctr"/>
          <a:lstStyle/>
          <a:p>
            <a:pPr marL="0" indent="0">
              <a:buNone/>
            </a:pPr>
            <a:r>
              <a:rPr sz="1800">
                <a:solidFill>
                  <a:srgbClr val="1A1A2E"/>
                </a:solidFill>
                <a:latin typeface="Calibri"/>
                <a:ea typeface="Calibri"/>
                <a:cs typeface="Calibri"/>
              </a:rPr>
              <a:t>Distinguish treatments, controls, and assignment mechanisms, and say what each design choice buys you</a:t>
            </a:r>
            <a:endParaRPr sz="1800"/>
          </a:p>
        </p:txBody>
      </p:sp>
      <p:sp>
        <p:nvSpPr>
          <p:cNvPr id="11" name="Shape 9">
            <a:extLst>
              <a:ext uri="{FF2B5EF4-FFF2-40B4-BE49-F238E27FC236}">
                <a16:creationId xmlns:a16="http://schemas.microsoft.com/office/drawing/2014/main" id="{F150DA9F-50AC-43F7-B075-C21D98214BD0}"/>
              </a:ext>
            </a:extLst>
          </p:cNvPr>
          <p:cNvSpPr>
            <a:spLocks noGrp="1"/>
          </p:cNvSpPr>
          <p:nvPr/>
        </p:nvSpPr>
        <p:spPr>
          <a:xfrm>
            <a:off x="548640" y="3429000"/>
            <a:ext cx="502920" cy="502920"/>
          </a:xfrm>
          <a:prstGeom prst="ellipse">
            <a:avLst/>
          </a:prstGeom>
          <a:solidFill>
            <a:srgbClr val="00274D"/>
          </a:solidFill>
          <a:ln w="12700">
            <a:solidFill>
              <a:srgbClr val="00274D"/>
            </a:solidFill>
            <a:prstDash val="solid"/>
          </a:ln>
        </p:spPr>
        <p:txBody>
          <a:bodyPr/>
          <a:lstStyle/>
          <a:p>
            <a:endParaRPr lang="en-US"/>
          </a:p>
        </p:txBody>
      </p:sp>
      <p:sp>
        <p:nvSpPr>
          <p:cNvPr id="12" name="Text 10">
            <a:extLst>
              <a:ext uri="{FF2B5EF4-FFF2-40B4-BE49-F238E27FC236}">
                <a16:creationId xmlns:a16="http://schemas.microsoft.com/office/drawing/2014/main" id="{E4065790-0061-4DD5-9176-D8B4A45B76FB}"/>
              </a:ext>
            </a:extLst>
          </p:cNvPr>
          <p:cNvSpPr>
            <a:spLocks noGrp="1"/>
          </p:cNvSpPr>
          <p:nvPr/>
        </p:nvSpPr>
        <p:spPr>
          <a:xfrm>
            <a:off x="548640" y="342900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3</a:t>
            </a:r>
            <a:endParaRPr sz="1500"/>
          </a:p>
        </p:txBody>
      </p:sp>
      <p:sp>
        <p:nvSpPr>
          <p:cNvPr id="13" name="Text 11">
            <a:extLst>
              <a:ext uri="{FF2B5EF4-FFF2-40B4-BE49-F238E27FC236}">
                <a16:creationId xmlns:a16="http://schemas.microsoft.com/office/drawing/2014/main" id="{1501DB1A-2855-4DC7-A04A-C3B4260A4578}"/>
              </a:ext>
            </a:extLst>
          </p:cNvPr>
          <p:cNvSpPr>
            <a:spLocks noGrp="1"/>
          </p:cNvSpPr>
          <p:nvPr/>
        </p:nvSpPr>
        <p:spPr>
          <a:xfrm>
            <a:off x="1280160" y="3337560"/>
            <a:ext cx="10241280" cy="685800"/>
          </a:xfrm>
          <a:prstGeom prst="rect">
            <a:avLst/>
          </a:prstGeom>
          <a:noFill/>
        </p:spPr>
        <p:txBody>
          <a:bodyPr wrap="square" lIns="0" tIns="0" rIns="0" bIns="0" anchor="ctr"/>
          <a:lstStyle/>
          <a:p>
            <a:pPr marL="0" indent="0">
              <a:buNone/>
            </a:pPr>
            <a:r>
              <a:rPr sz="1800">
                <a:solidFill>
                  <a:srgbClr val="1A1A2E"/>
                </a:solidFill>
                <a:latin typeface="Calibri"/>
                <a:ea typeface="Calibri"/>
                <a:cs typeface="Calibri"/>
              </a:rPr>
              <a:t>Read a balance table: what it can detect, what it cannot, and how not to over-read it</a:t>
            </a:r>
            <a:endParaRPr sz="1800"/>
          </a:p>
        </p:txBody>
      </p:sp>
      <p:sp>
        <p:nvSpPr>
          <p:cNvPr id="14" name="Shape 12">
            <a:extLst>
              <a:ext uri="{FF2B5EF4-FFF2-40B4-BE49-F238E27FC236}">
                <a16:creationId xmlns:a16="http://schemas.microsoft.com/office/drawing/2014/main" id="{1CA46F22-27CD-42E5-9110-0CA86A402DD3}"/>
              </a:ext>
            </a:extLst>
          </p:cNvPr>
          <p:cNvSpPr>
            <a:spLocks noGrp="1"/>
          </p:cNvSpPr>
          <p:nvPr/>
        </p:nvSpPr>
        <p:spPr>
          <a:xfrm>
            <a:off x="548640" y="4297680"/>
            <a:ext cx="502920" cy="502920"/>
          </a:xfrm>
          <a:prstGeom prst="ellipse">
            <a:avLst/>
          </a:prstGeom>
          <a:solidFill>
            <a:srgbClr val="1B4F8C"/>
          </a:solidFill>
          <a:ln w="12700">
            <a:solidFill>
              <a:srgbClr val="1B4F8C"/>
            </a:solidFill>
            <a:prstDash val="solid"/>
          </a:ln>
        </p:spPr>
        <p:txBody>
          <a:bodyPr/>
          <a:lstStyle/>
          <a:p>
            <a:endParaRPr lang="en-US"/>
          </a:p>
        </p:txBody>
      </p:sp>
      <p:sp>
        <p:nvSpPr>
          <p:cNvPr id="15" name="Text 13">
            <a:extLst>
              <a:ext uri="{FF2B5EF4-FFF2-40B4-BE49-F238E27FC236}">
                <a16:creationId xmlns:a16="http://schemas.microsoft.com/office/drawing/2014/main" id="{59209652-EC3D-44EE-8181-A5638139FC10}"/>
              </a:ext>
            </a:extLst>
          </p:cNvPr>
          <p:cNvSpPr>
            <a:spLocks noGrp="1"/>
          </p:cNvSpPr>
          <p:nvPr/>
        </p:nvSpPr>
        <p:spPr>
          <a:xfrm>
            <a:off x="548640" y="429768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4</a:t>
            </a:r>
            <a:endParaRPr sz="1500"/>
          </a:p>
        </p:txBody>
      </p:sp>
      <p:sp>
        <p:nvSpPr>
          <p:cNvPr id="16" name="Text 14">
            <a:extLst>
              <a:ext uri="{FF2B5EF4-FFF2-40B4-BE49-F238E27FC236}">
                <a16:creationId xmlns:a16="http://schemas.microsoft.com/office/drawing/2014/main" id="{F020B505-375D-432C-91AD-1528822631AD}"/>
              </a:ext>
            </a:extLst>
          </p:cNvPr>
          <p:cNvSpPr>
            <a:spLocks noGrp="1"/>
          </p:cNvSpPr>
          <p:nvPr/>
        </p:nvSpPr>
        <p:spPr>
          <a:xfrm>
            <a:off x="1280160" y="4206240"/>
            <a:ext cx="10241280" cy="685800"/>
          </a:xfrm>
          <a:prstGeom prst="rect">
            <a:avLst/>
          </a:prstGeom>
          <a:noFill/>
        </p:spPr>
        <p:txBody>
          <a:bodyPr wrap="square" lIns="0" tIns="0" rIns="0" bIns="0" anchor="ctr"/>
          <a:lstStyle/>
          <a:p>
            <a:pPr marL="0" indent="0">
              <a:buNone/>
            </a:pPr>
            <a:r>
              <a:rPr sz="1800">
                <a:solidFill>
                  <a:srgbClr val="1A1A2E"/>
                </a:solidFill>
                <a:latin typeface="Calibri"/>
                <a:ea typeface="Calibri"/>
                <a:cs typeface="Calibri"/>
              </a:rPr>
              <a:t>Explain what covariates do (and do not do) in an experiment</a:t>
            </a:r>
            <a:endParaRPr sz="1800"/>
          </a:p>
        </p:txBody>
      </p:sp>
      <p:sp>
        <p:nvSpPr>
          <p:cNvPr id="17" name="Shape 15">
            <a:extLst>
              <a:ext uri="{FF2B5EF4-FFF2-40B4-BE49-F238E27FC236}">
                <a16:creationId xmlns:a16="http://schemas.microsoft.com/office/drawing/2014/main" id="{8CF727D3-EA01-45CF-8FFE-0430531CD117}"/>
              </a:ext>
            </a:extLst>
          </p:cNvPr>
          <p:cNvSpPr>
            <a:spLocks noGrp="1"/>
          </p:cNvSpPr>
          <p:nvPr/>
        </p:nvSpPr>
        <p:spPr>
          <a:xfrm>
            <a:off x="548640" y="5166360"/>
            <a:ext cx="502920" cy="502920"/>
          </a:xfrm>
          <a:prstGeom prst="ellipse">
            <a:avLst/>
          </a:prstGeom>
          <a:solidFill>
            <a:srgbClr val="00274D"/>
          </a:solidFill>
          <a:ln w="12700">
            <a:solidFill>
              <a:srgbClr val="00274D"/>
            </a:solidFill>
            <a:prstDash val="solid"/>
          </a:ln>
        </p:spPr>
        <p:txBody>
          <a:bodyPr/>
          <a:lstStyle/>
          <a:p>
            <a:endParaRPr lang="en-US"/>
          </a:p>
        </p:txBody>
      </p:sp>
      <p:sp>
        <p:nvSpPr>
          <p:cNvPr id="18" name="Text 16">
            <a:extLst>
              <a:ext uri="{FF2B5EF4-FFF2-40B4-BE49-F238E27FC236}">
                <a16:creationId xmlns:a16="http://schemas.microsoft.com/office/drawing/2014/main" id="{ACB77693-05F4-4708-AAB6-3CB7031FE1DA}"/>
              </a:ext>
            </a:extLst>
          </p:cNvPr>
          <p:cNvSpPr>
            <a:spLocks noGrp="1"/>
          </p:cNvSpPr>
          <p:nvPr/>
        </p:nvSpPr>
        <p:spPr>
          <a:xfrm>
            <a:off x="548640" y="51663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5</a:t>
            </a:r>
            <a:endParaRPr sz="1500"/>
          </a:p>
        </p:txBody>
      </p:sp>
      <p:sp>
        <p:nvSpPr>
          <p:cNvPr id="19" name="Text 17">
            <a:extLst>
              <a:ext uri="{FF2B5EF4-FFF2-40B4-BE49-F238E27FC236}">
                <a16:creationId xmlns:a16="http://schemas.microsoft.com/office/drawing/2014/main" id="{4DFD466B-66CA-4043-8879-73A6AE02B196}"/>
              </a:ext>
            </a:extLst>
          </p:cNvPr>
          <p:cNvSpPr>
            <a:spLocks noGrp="1"/>
          </p:cNvSpPr>
          <p:nvPr/>
        </p:nvSpPr>
        <p:spPr>
          <a:xfrm>
            <a:off x="1280160" y="5074920"/>
            <a:ext cx="10241280" cy="685800"/>
          </a:xfrm>
          <a:prstGeom prst="rect">
            <a:avLst/>
          </a:prstGeom>
          <a:noFill/>
        </p:spPr>
        <p:txBody>
          <a:bodyPr wrap="square" lIns="0" tIns="0" rIns="0" bIns="0" anchor="ctr"/>
          <a:lstStyle/>
          <a:p>
            <a:pPr marL="0" indent="0">
              <a:buNone/>
            </a:pPr>
            <a:r>
              <a:rPr sz="1800" dirty="0">
                <a:solidFill>
                  <a:srgbClr val="1A1A2E"/>
                </a:solidFill>
                <a:latin typeface="Calibri"/>
                <a:ea typeface="Calibri"/>
                <a:cs typeface="Calibri"/>
              </a:rPr>
              <a:t>Estimate an ATE in R and distinguish estimation from testing a sharp null</a:t>
            </a:r>
            <a:endParaRPr sz="1800" dirty="0"/>
          </a:p>
        </p:txBody>
      </p:sp>
    </p:spTree>
    <p:extLst>
      <p:ext uri="{BB962C8B-B14F-4D97-AF65-F5344CB8AC3E}">
        <p14:creationId xmlns:p14="http://schemas.microsoft.com/office/powerpoint/2010/main" val="2044084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74D"/>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20BEF2F-AF03-47C7-AD79-03D67E71FBD3}"/>
              </a:ext>
            </a:extLst>
          </p:cNvPr>
          <p:cNvSpPr>
            <a:spLocks noGrp="1"/>
          </p:cNvSpPr>
          <p:nvPr/>
        </p:nvSpPr>
        <p:spPr>
          <a:xfrm>
            <a:off x="731520" y="2468880"/>
            <a:ext cx="10058400" cy="457200"/>
          </a:xfrm>
          <a:prstGeom prst="rect">
            <a:avLst/>
          </a:prstGeom>
          <a:noFill/>
        </p:spPr>
        <p:txBody>
          <a:bodyPr wrap="square" lIns="0" tIns="0" rIns="0" bIns="0" anchor="t"/>
          <a:lstStyle/>
          <a:p>
            <a:pPr marL="0" indent="0">
              <a:buNone/>
            </a:pPr>
            <a:r>
              <a:rPr sz="1600" b="1" spc="200">
                <a:solidFill>
                  <a:srgbClr val="BFD7EA"/>
                </a:solidFill>
                <a:latin typeface="Calibri"/>
                <a:ea typeface="Calibri"/>
                <a:cs typeface="Calibri"/>
              </a:rPr>
              <a:t>PART 1</a:t>
            </a:r>
            <a:endParaRPr sz="1600"/>
          </a:p>
        </p:txBody>
      </p:sp>
      <p:sp>
        <p:nvSpPr>
          <p:cNvPr id="3" name="Text 1">
            <a:extLst>
              <a:ext uri="{FF2B5EF4-FFF2-40B4-BE49-F238E27FC236}">
                <a16:creationId xmlns:a16="http://schemas.microsoft.com/office/drawing/2014/main" id="{CFB66F7D-58BA-4632-8A4F-3F18FCEB3AFF}"/>
              </a:ext>
            </a:extLst>
          </p:cNvPr>
          <p:cNvSpPr>
            <a:spLocks noGrp="1"/>
          </p:cNvSpPr>
          <p:nvPr/>
        </p:nvSpPr>
        <p:spPr>
          <a:xfrm>
            <a:off x="731520" y="2926080"/>
            <a:ext cx="10515600" cy="1097280"/>
          </a:xfrm>
          <a:prstGeom prst="rect">
            <a:avLst/>
          </a:prstGeom>
          <a:noFill/>
        </p:spPr>
        <p:txBody>
          <a:bodyPr wrap="square" lIns="0" tIns="0" rIns="0" bIns="0" anchor="t"/>
          <a:lstStyle/>
          <a:p>
            <a:pPr marL="0" indent="0">
              <a:buNone/>
            </a:pPr>
            <a:r>
              <a:rPr sz="3800" b="1">
                <a:solidFill>
                  <a:srgbClr val="FFFFFF"/>
                </a:solidFill>
                <a:latin typeface="Cambria"/>
                <a:ea typeface="Cambria"/>
                <a:cs typeface="Cambria"/>
              </a:rPr>
              <a:t>Why randomize?</a:t>
            </a:r>
            <a:endParaRPr sz="3800"/>
          </a:p>
        </p:txBody>
      </p:sp>
      <p:sp>
        <p:nvSpPr>
          <p:cNvPr id="4" name="Text 2">
            <a:extLst>
              <a:ext uri="{FF2B5EF4-FFF2-40B4-BE49-F238E27FC236}">
                <a16:creationId xmlns:a16="http://schemas.microsoft.com/office/drawing/2014/main" id="{2E3E083D-57EA-4F37-8773-7B1920B0B07A}"/>
              </a:ext>
            </a:extLst>
          </p:cNvPr>
          <p:cNvSpPr>
            <a:spLocks noGrp="1"/>
          </p:cNvSpPr>
          <p:nvPr/>
        </p:nvSpPr>
        <p:spPr>
          <a:xfrm>
            <a:off x="731520" y="4023360"/>
            <a:ext cx="10058400" cy="731520"/>
          </a:xfrm>
          <a:prstGeom prst="rect">
            <a:avLst/>
          </a:prstGeom>
          <a:noFill/>
        </p:spPr>
        <p:txBody>
          <a:bodyPr wrap="square" lIns="0" tIns="0" rIns="0" bIns="0" anchor="t"/>
          <a:lstStyle/>
          <a:p>
            <a:pPr marL="0" indent="0">
              <a:buNone/>
            </a:pPr>
            <a:r>
              <a:rPr sz="1800" i="1">
                <a:solidFill>
                  <a:srgbClr val="BFD7EA"/>
                </a:solidFill>
                <a:latin typeface="Calibri"/>
                <a:ea typeface="Calibri"/>
                <a:cs typeface="Calibri"/>
              </a:rPr>
              <a:t>The selection problem and what a known assignment mechanism buys us</a:t>
            </a:r>
            <a:endParaRPr sz="1800"/>
          </a:p>
        </p:txBody>
      </p:sp>
    </p:spTree>
    <p:extLst>
      <p:ext uri="{BB962C8B-B14F-4D97-AF65-F5344CB8AC3E}">
        <p14:creationId xmlns:p14="http://schemas.microsoft.com/office/powerpoint/2010/main" val="35292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7D9E30D-25BD-43B8-ABA1-A9DA3ADAE6C0}"/>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RECAP FROM WEEK 3</a:t>
            </a:r>
            <a:endParaRPr sz="1200"/>
          </a:p>
        </p:txBody>
      </p:sp>
      <p:sp>
        <p:nvSpPr>
          <p:cNvPr id="3" name="Text 1">
            <a:extLst>
              <a:ext uri="{FF2B5EF4-FFF2-40B4-BE49-F238E27FC236}">
                <a16:creationId xmlns:a16="http://schemas.microsoft.com/office/drawing/2014/main" id="{2B11C99C-6D5F-41F6-BB09-37CA50257BC2}"/>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The fundamental problem, one more time</a:t>
            </a:r>
            <a:endParaRPr sz="3000"/>
          </a:p>
        </p:txBody>
      </p:sp>
      <p:sp>
        <p:nvSpPr>
          <p:cNvPr id="4" name="Text 2">
            <a:extLst>
              <a:ext uri="{FF2B5EF4-FFF2-40B4-BE49-F238E27FC236}">
                <a16:creationId xmlns:a16="http://schemas.microsoft.com/office/drawing/2014/main" id="{ED380EE9-6C5B-4A12-BDDA-E30399131AC6}"/>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5</a:t>
            </a:r>
            <a:endParaRPr sz="1000"/>
          </a:p>
        </p:txBody>
      </p:sp>
      <p:graphicFrame>
        <p:nvGraphicFramePr>
          <p:cNvPr id="15" name="Table 0"/>
          <p:cNvGraphicFramePr/>
          <p:nvPr/>
        </p:nvGraphicFramePr>
        <p:xfrm>
          <a:off x="548640" y="1554480"/>
          <a:ext cx="566928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02920">
                <a:tc>
                  <a:txBody>
                    <a:bodyPr/>
                    <a:lstStyle/>
                    <a:p>
                      <a:pPr marL="0" indent="0">
                        <a:buNone/>
                      </a:pPr>
                      <a:r>
                        <a:rPr sz="1400" b="1">
                          <a:solidFill>
                            <a:srgbClr val="FFFFFF"/>
                          </a:solidFill>
                          <a:latin typeface="Calibri"/>
                          <a:ea typeface="Calibri"/>
                          <a:cs typeface="Calibri"/>
                        </a:rPr>
                        <a:t>Person</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Treated?</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Y(1)</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Y(0)</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Effect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extLst>
                  <a:ext uri="{0D108BD9-81ED-4DB2-BD59-A6C34878D82A}">
                    <a16:rowId xmlns:a16="http://schemas.microsoft.com/office/drawing/2014/main" val="10000"/>
                  </a:ext>
                </a:extLst>
              </a:tr>
              <a:tr h="502920">
                <a:tc>
                  <a:txBody>
                    <a:bodyPr/>
                    <a:lstStyle/>
                    <a:p>
                      <a:pPr marL="0" indent="0">
                        <a:buNone/>
                      </a:pPr>
                      <a:r>
                        <a:rPr sz="1400">
                          <a:solidFill>
                            <a:srgbClr val="1A1A2E"/>
                          </a:solidFill>
                          <a:latin typeface="Calibri"/>
                          <a:ea typeface="Calibri"/>
                          <a:cs typeface="Calibri"/>
                        </a:rPr>
                        <a:t>A</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Yes</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8</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sz="1400">
                          <a:solidFill>
                            <a:srgbClr val="1A1A2E"/>
                          </a:solidFill>
                          <a:latin typeface="Calibri"/>
                          <a:ea typeface="Calibri"/>
                          <a:cs typeface="Calibri"/>
                        </a:rPr>
                        <a:t>B</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Yes</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6</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sz="1400">
                          <a:solidFill>
                            <a:srgbClr val="1A1A2E"/>
                          </a:solidFill>
                          <a:latin typeface="Calibri"/>
                          <a:ea typeface="Calibri"/>
                          <a:cs typeface="Calibri"/>
                        </a:rPr>
                        <a:t>C</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No</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5</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sz="1400">
                          <a:solidFill>
                            <a:srgbClr val="1A1A2E"/>
                          </a:solidFill>
                          <a:latin typeface="Calibri"/>
                          <a:ea typeface="Calibri"/>
                          <a:cs typeface="Calibri"/>
                        </a:rPr>
                        <a:t>D</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No</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3</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Shape 3">
            <a:extLst>
              <a:ext uri="{FF2B5EF4-FFF2-40B4-BE49-F238E27FC236}">
                <a16:creationId xmlns:a16="http://schemas.microsoft.com/office/drawing/2014/main" id="{410EF6E8-9FF6-4B35-9B77-6AE464641D96}"/>
              </a:ext>
            </a:extLst>
          </p:cNvPr>
          <p:cNvSpPr>
            <a:spLocks noGrp="1"/>
          </p:cNvSpPr>
          <p:nvPr/>
        </p:nvSpPr>
        <p:spPr>
          <a:xfrm>
            <a:off x="6583680" y="1554480"/>
            <a:ext cx="5029200" cy="2514600"/>
          </a:xfrm>
          <a:prstGeom prst="roundRect">
            <a:avLst>
              <a:gd name="adj" fmla="val 3636"/>
            </a:avLst>
          </a:prstGeom>
          <a:solidFill>
            <a:srgbClr val="EEF3F8"/>
          </a:solidFill>
          <a:ln w="12700">
            <a:solidFill>
              <a:srgbClr val="EEF3F8"/>
            </a:solidFill>
            <a:prstDash val="solid"/>
          </a:ln>
        </p:spPr>
        <p:txBody>
          <a:bodyPr/>
          <a:lstStyle/>
          <a:p>
            <a:endParaRPr lang="en-US"/>
          </a:p>
        </p:txBody>
      </p:sp>
      <p:sp>
        <p:nvSpPr>
          <p:cNvPr id="7" name="Text 4">
            <a:extLst>
              <a:ext uri="{FF2B5EF4-FFF2-40B4-BE49-F238E27FC236}">
                <a16:creationId xmlns:a16="http://schemas.microsoft.com/office/drawing/2014/main" id="{CE041AA4-2FAE-4AA3-906B-E914BF25EA64}"/>
              </a:ext>
            </a:extLst>
          </p:cNvPr>
          <p:cNvSpPr>
            <a:spLocks noGrp="1"/>
          </p:cNvSpPr>
          <p:nvPr/>
        </p:nvSpPr>
        <p:spPr>
          <a:xfrm>
            <a:off x="6858000" y="1691640"/>
            <a:ext cx="4480560" cy="2240280"/>
          </a:xfrm>
          <a:prstGeom prst="rect">
            <a:avLst/>
          </a:prstGeom>
          <a:noFill/>
        </p:spPr>
        <p:txBody>
          <a:bodyPr wrap="square" lIns="0" tIns="0" rIns="0" bIns="0" anchor="ctr"/>
          <a:lstStyle/>
          <a:p>
            <a:pPr marL="0" indent="0">
              <a:buNone/>
            </a:pPr>
            <a:r>
              <a:rPr sz="1700" b="1">
                <a:solidFill>
                  <a:srgbClr val="1A1A2E"/>
                </a:solidFill>
                <a:latin typeface="Calibri"/>
                <a:ea typeface="Calibri"/>
                <a:cs typeface="Calibri"/>
              </a:rPr>
              <a:t>We only ever see one potential outcome per person. </a:t>
            </a:r>
            <a:r>
              <a:rPr sz="1700">
                <a:solidFill>
                  <a:srgbClr val="1A1A2E"/>
                </a:solidFill>
                <a:latin typeface="Calibri"/>
                <a:ea typeface="Calibri"/>
                <a:cs typeface="Calibri"/>
              </a:rPr>
              <a:t>The naive comparison uses the treated people’s Y(1) and a different group’s Y(0).</a:t>
            </a:r>
            <a:endParaRPr sz="1700"/>
          </a:p>
        </p:txBody>
      </p:sp>
      <p:sp>
        <p:nvSpPr>
          <p:cNvPr id="8" name="Shape 5">
            <a:extLst>
              <a:ext uri="{FF2B5EF4-FFF2-40B4-BE49-F238E27FC236}">
                <a16:creationId xmlns:a16="http://schemas.microsoft.com/office/drawing/2014/main" id="{8AED6E27-4936-4646-86C7-18A60D121012}"/>
              </a:ext>
            </a:extLst>
          </p:cNvPr>
          <p:cNvSpPr>
            <a:spLocks noGrp="1"/>
          </p:cNvSpPr>
          <p:nvPr/>
        </p:nvSpPr>
        <p:spPr>
          <a:xfrm>
            <a:off x="548640" y="4343400"/>
            <a:ext cx="11064240" cy="822960"/>
          </a:xfrm>
          <a:prstGeom prst="roundRect">
            <a:avLst>
              <a:gd name="adj" fmla="val 11111"/>
            </a:avLst>
          </a:prstGeom>
          <a:solidFill>
            <a:srgbClr val="F5F7FA"/>
          </a:solidFill>
          <a:ln w="12700">
            <a:solidFill>
              <a:srgbClr val="F5F7FA"/>
            </a:solidFill>
            <a:prstDash val="solid"/>
          </a:ln>
        </p:spPr>
        <p:txBody>
          <a:bodyPr/>
          <a:lstStyle/>
          <a:p>
            <a:endParaRPr lang="en-US"/>
          </a:p>
        </p:txBody>
      </p:sp>
      <p:sp>
        <p:nvSpPr>
          <p:cNvPr id="9" name="Text 6">
            <a:extLst>
              <a:ext uri="{FF2B5EF4-FFF2-40B4-BE49-F238E27FC236}">
                <a16:creationId xmlns:a16="http://schemas.microsoft.com/office/drawing/2014/main" id="{494DE1F4-1B64-4979-8DC6-13AE73519CF0}"/>
              </a:ext>
            </a:extLst>
          </p:cNvPr>
          <p:cNvSpPr>
            <a:spLocks noGrp="1"/>
          </p:cNvSpPr>
          <p:nvPr/>
        </p:nvSpPr>
        <p:spPr>
          <a:xfrm>
            <a:off x="822960" y="4343400"/>
            <a:ext cx="10515600" cy="822960"/>
          </a:xfrm>
          <a:prstGeom prst="rect">
            <a:avLst/>
          </a:prstGeom>
          <a:noFill/>
        </p:spPr>
        <p:txBody>
          <a:bodyPr wrap="square" lIns="0" tIns="0" rIns="0" bIns="0" anchor="ctr"/>
          <a:lstStyle/>
          <a:p>
            <a:pPr marL="0" indent="0" algn="ctr">
              <a:buNone/>
            </a:pPr>
            <a:r>
              <a:rPr sz="2000">
                <a:solidFill>
                  <a:srgbClr val="00274D"/>
                </a:solidFill>
                <a:latin typeface="Cambria"/>
                <a:ea typeface="Cambria"/>
                <a:cs typeface="Cambria"/>
              </a:rPr>
              <a:t>E[Y | D=1] − E[Y | D=0]  =  ATT  +  { E[Y(0) | D=1] − E[Y(0) | D=0] }</a:t>
            </a:r>
            <a:endParaRPr sz="2000"/>
          </a:p>
        </p:txBody>
      </p:sp>
      <p:sp>
        <p:nvSpPr>
          <p:cNvPr id="10" name="Text 7">
            <a:extLst>
              <a:ext uri="{FF2B5EF4-FFF2-40B4-BE49-F238E27FC236}">
                <a16:creationId xmlns:a16="http://schemas.microsoft.com/office/drawing/2014/main" id="{1D2FE264-6BA2-4187-8939-D4D365E533FC}"/>
              </a:ext>
            </a:extLst>
          </p:cNvPr>
          <p:cNvSpPr>
            <a:spLocks noGrp="1"/>
          </p:cNvSpPr>
          <p:nvPr/>
        </p:nvSpPr>
        <p:spPr>
          <a:xfrm>
            <a:off x="548640" y="5303520"/>
            <a:ext cx="11064240" cy="548640"/>
          </a:xfrm>
          <a:prstGeom prst="rect">
            <a:avLst/>
          </a:prstGeom>
          <a:noFill/>
        </p:spPr>
        <p:txBody>
          <a:bodyPr wrap="square" lIns="0" tIns="0" rIns="0" bIns="0" anchor="t"/>
          <a:lstStyle/>
          <a:p>
            <a:pPr marL="0" indent="0" algn="ctr">
              <a:buNone/>
            </a:pPr>
            <a:r>
              <a:rPr sz="1700" b="1">
                <a:solidFill>
                  <a:srgbClr val="1A1A2E"/>
                </a:solidFill>
                <a:latin typeface="Calibri"/>
                <a:ea typeface="Calibri"/>
                <a:cs typeface="Calibri"/>
              </a:rPr>
              <a:t>Difference in means</a:t>
            </a:r>
            <a:r>
              <a:rPr sz="1700">
                <a:solidFill>
                  <a:srgbClr val="1A1A2E"/>
                </a:solidFill>
                <a:latin typeface="Calibri"/>
                <a:ea typeface="Calibri"/>
                <a:cs typeface="Calibri"/>
              </a:rPr>
              <a:t>  =  the effect we want  +  </a:t>
            </a:r>
            <a:r>
              <a:rPr sz="1700" b="1">
                <a:solidFill>
                  <a:srgbClr val="A13A2F"/>
                </a:solidFill>
                <a:latin typeface="Calibri"/>
                <a:ea typeface="Calibri"/>
                <a:cs typeface="Calibri"/>
              </a:rPr>
              <a:t>selection bias</a:t>
            </a:r>
            <a:r>
              <a:rPr sz="1700">
                <a:solidFill>
                  <a:srgbClr val="1A1A2E"/>
                </a:solidFill>
                <a:latin typeface="Calibri"/>
                <a:ea typeface="Calibri"/>
                <a:cs typeface="Calibri"/>
              </a:rPr>
              <a:t>: how the treated would have differed anyway.</a:t>
            </a:r>
            <a:endParaRPr sz="1700"/>
          </a:p>
        </p:txBody>
      </p:sp>
    </p:spTree>
    <p:extLst>
      <p:ext uri="{BB962C8B-B14F-4D97-AF65-F5344CB8AC3E}">
        <p14:creationId xmlns:p14="http://schemas.microsoft.com/office/powerpoint/2010/main" val="55001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00CBEC-AD6D-4D57-B98E-9A6CA922165A}"/>
              </a:ext>
            </a:extLst>
          </p:cNvPr>
          <p:cNvSpPr>
            <a:spLocks noGrp="1"/>
          </p:cNvSpPr>
          <p:nvPr/>
        </p:nvSpPr>
        <p:spPr>
          <a:xfrm>
            <a:off x="548640" y="320040"/>
            <a:ext cx="9525000" cy="320040"/>
          </a:xfrm>
          <a:prstGeom prst="rect">
            <a:avLst/>
          </a:prstGeom>
          <a:noFill/>
          <a:ln w="0">
            <a:noFill/>
          </a:ln>
        </p:spPr>
        <p:txBody>
          <a:bodyPr>
            <a:noAutofit/>
          </a:bodyPr>
          <a:lstStyle/>
          <a:p>
            <a:pPr>
              <a:defRPr sz="1200" b="1">
                <a:solidFill>
                  <a:srgbClr val="1B4F8C"/>
                </a:solidFill>
                <a:latin typeface="Calibri"/>
                <a:ea typeface="Calibri"/>
                <a:cs typeface="Calibri"/>
              </a:defRPr>
            </a:pPr>
            <a:r>
              <a:rPr sz="1200" b="1">
                <a:solidFill>
                  <a:srgbClr val="1B4F8C"/>
                </a:solidFill>
                <a:latin typeface="Calibri"/>
                <a:ea typeface="Calibri"/>
                <a:cs typeface="Calibri"/>
              </a:rPr>
              <a:t>ROSENBAUM</a:t>
            </a:r>
          </a:p>
        </p:txBody>
      </p:sp>
      <p:sp>
        <p:nvSpPr>
          <p:cNvPr id="2" name="Rectangle 1">
            <a:extLst>
              <a:ext uri="{FF2B5EF4-FFF2-40B4-BE49-F238E27FC236}">
                <a16:creationId xmlns:a16="http://schemas.microsoft.com/office/drawing/2014/main" id="{8FD5E41F-1A76-4C54-9599-86BE2F84A385}"/>
              </a:ext>
            </a:extLst>
          </p:cNvPr>
          <p:cNvSpPr>
            <a:spLocks noGrp="1"/>
          </p:cNvSpPr>
          <p:nvPr/>
        </p:nvSpPr>
        <p:spPr>
          <a:xfrm>
            <a:off x="548640" y="685800"/>
            <a:ext cx="11058525" cy="723900"/>
          </a:xfrm>
          <a:prstGeom prst="rect">
            <a:avLst/>
          </a:prstGeom>
          <a:noFill/>
          <a:ln w="0">
            <a:noFill/>
          </a:ln>
        </p:spPr>
        <p:txBody>
          <a:bodyPr>
            <a:noAutofit/>
          </a:bodyPr>
          <a:lstStyle/>
          <a:p>
            <a:pPr>
              <a:defRPr sz="3000" b="1">
                <a:solidFill>
                  <a:srgbClr val="00274D"/>
                </a:solidFill>
                <a:latin typeface="Cambria"/>
                <a:ea typeface="Cambria"/>
                <a:cs typeface="Cambria"/>
              </a:defRPr>
            </a:pPr>
            <a:r>
              <a:rPr sz="3000" b="1">
                <a:solidFill>
                  <a:srgbClr val="00274D"/>
                </a:solidFill>
                <a:latin typeface="Cambria"/>
                <a:ea typeface="Cambria"/>
                <a:cs typeface="Cambria"/>
              </a:rPr>
              <a:t>An unbiased estimate can still be very noisy</a:t>
            </a:r>
          </a:p>
        </p:txBody>
      </p:sp>
      <p:sp>
        <p:nvSpPr>
          <p:cNvPr id="3" name="Rectangle 2">
            <a:extLst>
              <a:ext uri="{FF2B5EF4-FFF2-40B4-BE49-F238E27FC236}">
                <a16:creationId xmlns:a16="http://schemas.microsoft.com/office/drawing/2014/main" id="{1708CBD9-CF68-4E03-9045-D9508BD87164}"/>
              </a:ext>
            </a:extLst>
          </p:cNvPr>
          <p:cNvSpPr>
            <a:spLocks noGrp="1"/>
          </p:cNvSpPr>
          <p:nvPr/>
        </p:nvSpPr>
        <p:spPr>
          <a:xfrm>
            <a:off x="548640" y="6038850"/>
            <a:ext cx="11058525" cy="285750"/>
          </a:xfrm>
          <a:prstGeom prst="rect">
            <a:avLst/>
          </a:prstGeom>
          <a:noFill/>
          <a:ln w="0">
            <a:noFill/>
          </a:ln>
        </p:spPr>
        <p:txBody>
          <a:bodyPr>
            <a:noAutofit/>
          </a:bodyPr>
          <a:lstStyle/>
          <a:p>
            <a:pPr>
              <a:defRPr sz="1275" b="0">
                <a:solidFill>
                  <a:srgbClr val="5B6178"/>
                </a:solidFill>
                <a:latin typeface="Calibri"/>
                <a:ea typeface="Calibri"/>
                <a:cs typeface="Calibri"/>
              </a:defRPr>
            </a:pPr>
            <a:r>
              <a:rPr sz="1275" b="0">
                <a:solidFill>
                  <a:srgbClr val="5B6178"/>
                </a:solidFill>
                <a:latin typeface="Calibri"/>
                <a:ea typeface="Calibri"/>
                <a:cs typeface="Calibri"/>
              </a:rPr>
              <a:t>Rosenbaum (2023), ch. 1, pp. 9–20 and ch. 2, pp. 34–36</a:t>
            </a:r>
          </a:p>
        </p:txBody>
      </p:sp>
      <p:sp>
        <p:nvSpPr>
          <p:cNvPr id="4" name="Rectangle 3">
            <a:extLst>
              <a:ext uri="{FF2B5EF4-FFF2-40B4-BE49-F238E27FC236}">
                <a16:creationId xmlns:a16="http://schemas.microsoft.com/office/drawing/2014/main" id="{5B8F46FF-99E1-4B82-855A-8E2FA9D7F380}"/>
              </a:ext>
            </a:extLst>
          </p:cNvPr>
          <p:cNvSpPr>
            <a:spLocks noGrp="1"/>
          </p:cNvSpPr>
          <p:nvPr/>
        </p:nvSpPr>
        <p:spPr>
          <a:xfrm>
            <a:off x="548640" y="6400800"/>
            <a:ext cx="6667500" cy="276225"/>
          </a:xfrm>
          <a:prstGeom prst="rect">
            <a:avLst/>
          </a:prstGeom>
          <a:noFill/>
          <a:ln w="0">
            <a:noFill/>
          </a:ln>
        </p:spPr>
        <p:txBody>
          <a:bodyPr>
            <a:noAutofit/>
          </a:bodyPr>
          <a:lstStyle/>
          <a:p>
            <a:pPr>
              <a:defRPr sz="1000" b="0">
                <a:solidFill>
                  <a:srgbClr val="5B6178"/>
                </a:solidFill>
                <a:latin typeface="Calibri"/>
                <a:ea typeface="Calibri"/>
                <a:cs typeface="Calibri"/>
              </a:defRPr>
            </a:pPr>
            <a:r>
              <a:rPr sz="1000" b="0">
                <a:solidFill>
                  <a:srgbClr val="5B6178"/>
                </a:solidFill>
                <a:latin typeface="Calibri"/>
                <a:ea typeface="Calibri"/>
                <a:cs typeface="Calibri"/>
              </a:rPr>
              <a:t>Week 4 · Randomized Controlled Trials  |  6</a:t>
            </a:r>
          </a:p>
        </p:txBody>
      </p:sp>
      <p:sp>
        <p:nvSpPr>
          <p:cNvPr id="5" name="Rectangle 4">
            <a:extLst>
              <a:ext uri="{FF2B5EF4-FFF2-40B4-BE49-F238E27FC236}">
                <a16:creationId xmlns:a16="http://schemas.microsoft.com/office/drawing/2014/main" id="{A5C7ECC0-3752-45D8-AABF-0D6057B24C5A}"/>
              </a:ext>
            </a:extLst>
          </p:cNvPr>
          <p:cNvSpPr>
            <a:spLocks noGrp="1"/>
          </p:cNvSpPr>
          <p:nvPr/>
        </p:nvSpPr>
        <p:spPr>
          <a:xfrm>
            <a:off x="571500" y="1524000"/>
            <a:ext cx="10668000" cy="428625"/>
          </a:xfrm>
          <a:prstGeom prst="rect">
            <a:avLst/>
          </a:prstGeom>
          <a:noFill/>
          <a:ln w="0">
            <a:noFill/>
          </a:ln>
        </p:spPr>
        <p:txBody>
          <a:bodyPr>
            <a:noAutofit/>
          </a:bodyPr>
          <a:lstStyle/>
          <a:p>
            <a:pPr>
              <a:defRPr sz="2025" b="0">
                <a:solidFill>
                  <a:srgbClr val="1A1A2E"/>
                </a:solidFill>
                <a:latin typeface="Calibri"/>
                <a:ea typeface="Calibri"/>
                <a:cs typeface="Calibri"/>
              </a:defRPr>
            </a:pPr>
            <a:r>
              <a:rPr sz="2025" b="0">
                <a:solidFill>
                  <a:srgbClr val="1A1A2E"/>
                </a:solidFill>
                <a:latin typeface="Calibri"/>
                <a:ea typeface="Calibri"/>
                <a:cs typeface="Calibri"/>
              </a:rPr>
              <a:t>Suppose treatment changes neither person’s survival.</a:t>
            </a:r>
          </a:p>
        </p:txBody>
      </p:sp>
      <p:graphicFrame>
        <p:nvGraphicFramePr>
          <p:cNvPr id="16" name="Table 15"/>
          <p:cNvGraphicFramePr/>
          <p:nvPr/>
        </p:nvGraphicFramePr>
        <p:xfrm>
          <a:off x="571500" y="2152650"/>
          <a:ext cx="6286500" cy="1809750"/>
        </p:xfrm>
        <a:graphic>
          <a:graphicData uri="http://schemas.openxmlformats.org/drawingml/2006/table">
            <a:tbl>
              <a:tblPr/>
              <a:tblGrid>
                <a:gridCol w="228600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603250">
                <a:tc>
                  <a:txBody>
                    <a:bodyPr/>
                    <a:lstStyle/>
                    <a:p>
                      <a:r>
                        <a:rPr sz="1800" b="1">
                          <a:solidFill>
                            <a:srgbClr val="FFFFFF"/>
                          </a:solidFill>
                          <a:latin typeface="Calibri"/>
                          <a:ea typeface="Calibri"/>
                          <a:cs typeface="Calibri"/>
                        </a:rPr>
                        <a:t>Person</a:t>
                      </a:r>
                    </a:p>
                  </a:txBody>
                  <a:tcPr>
                    <a:solidFill>
                      <a:srgbClr val="00274D"/>
                    </a:solidFill>
                  </a:tcPr>
                </a:tc>
                <a:tc>
                  <a:txBody>
                    <a:bodyPr/>
                    <a:lstStyle/>
                    <a:p>
                      <a:r>
                        <a:rPr sz="1800" b="1">
                          <a:solidFill>
                            <a:srgbClr val="FFFFFF"/>
                          </a:solidFill>
                          <a:latin typeface="Calibri"/>
                          <a:ea typeface="Calibri"/>
                          <a:cs typeface="Calibri"/>
                        </a:rPr>
                        <a:t>Y(1)</a:t>
                      </a:r>
                    </a:p>
                  </a:txBody>
                  <a:tcPr>
                    <a:solidFill>
                      <a:srgbClr val="00274D"/>
                    </a:solidFill>
                  </a:tcPr>
                </a:tc>
                <a:tc>
                  <a:txBody>
                    <a:bodyPr/>
                    <a:lstStyle/>
                    <a:p>
                      <a:r>
                        <a:rPr sz="1800" b="1">
                          <a:solidFill>
                            <a:srgbClr val="FFFFFF"/>
                          </a:solidFill>
                          <a:latin typeface="Calibri"/>
                          <a:ea typeface="Calibri"/>
                          <a:cs typeface="Calibri"/>
                        </a:rPr>
                        <a:t>Y(0)</a:t>
                      </a:r>
                    </a:p>
                  </a:txBody>
                  <a:tcPr>
                    <a:solidFill>
                      <a:srgbClr val="00274D"/>
                    </a:solidFill>
                  </a:tcPr>
                </a:tc>
                <a:tc>
                  <a:txBody>
                    <a:bodyPr/>
                    <a:lstStyle/>
                    <a:p>
                      <a:r>
                        <a:rPr sz="1800" b="1">
                          <a:solidFill>
                            <a:srgbClr val="FFFFFF"/>
                          </a:solidFill>
                          <a:latin typeface="Calibri"/>
                          <a:ea typeface="Calibri"/>
                          <a:cs typeface="Calibri"/>
                        </a:rPr>
                        <a:t>Individual effect</a:t>
                      </a:r>
                    </a:p>
                  </a:txBody>
                  <a:tcPr>
                    <a:solidFill>
                      <a:srgbClr val="00274D"/>
                    </a:solidFill>
                  </a:tcPr>
                </a:tc>
                <a:extLst>
                  <a:ext uri="{0D108BD9-81ED-4DB2-BD59-A6C34878D82A}">
                    <a16:rowId xmlns:a16="http://schemas.microsoft.com/office/drawing/2014/main" val="10000"/>
                  </a:ext>
                </a:extLst>
              </a:tr>
              <a:tr h="603250">
                <a:tc>
                  <a:txBody>
                    <a:bodyPr/>
                    <a:lstStyle/>
                    <a:p>
                      <a:r>
                        <a:rPr sz="1800" b="0">
                          <a:solidFill>
                            <a:srgbClr val="1A1A2E"/>
                          </a:solidFill>
                          <a:latin typeface="Calibri"/>
                          <a:ea typeface="Calibri"/>
                          <a:cs typeface="Calibri"/>
                        </a:rPr>
                        <a:t>Kim</a:t>
                      </a:r>
                    </a:p>
                  </a:txBody>
                  <a:tcPr>
                    <a:solidFill>
                      <a:srgbClr val="F0F4F8"/>
                    </a:solidFill>
                  </a:tcPr>
                </a:tc>
                <a:tc>
                  <a:txBody>
                    <a:bodyPr/>
                    <a:lstStyle/>
                    <a:p>
                      <a:r>
                        <a:rPr sz="1800" b="0">
                          <a:solidFill>
                            <a:srgbClr val="1A1A2E"/>
                          </a:solidFill>
                          <a:latin typeface="Calibri"/>
                          <a:ea typeface="Calibri"/>
                          <a:cs typeface="Calibri"/>
                        </a:rPr>
                        <a:t>1</a:t>
                      </a:r>
                    </a:p>
                  </a:txBody>
                  <a:tcPr>
                    <a:solidFill>
                      <a:srgbClr val="F0F4F8"/>
                    </a:solidFill>
                  </a:tcPr>
                </a:tc>
                <a:tc>
                  <a:txBody>
                    <a:bodyPr/>
                    <a:lstStyle/>
                    <a:p>
                      <a:r>
                        <a:rPr sz="1800" b="0">
                          <a:solidFill>
                            <a:srgbClr val="1A1A2E"/>
                          </a:solidFill>
                          <a:latin typeface="Calibri"/>
                          <a:ea typeface="Calibri"/>
                          <a:cs typeface="Calibri"/>
                        </a:rPr>
                        <a:t>1</a:t>
                      </a:r>
                    </a:p>
                  </a:txBody>
                  <a:tcPr>
                    <a:solidFill>
                      <a:srgbClr val="F0F4F8"/>
                    </a:solidFill>
                  </a:tcPr>
                </a:tc>
                <a:tc>
                  <a:txBody>
                    <a:bodyPr/>
                    <a:lstStyle/>
                    <a:p>
                      <a:r>
                        <a:rPr sz="1800" b="0">
                          <a:solidFill>
                            <a:srgbClr val="1A1A2E"/>
                          </a:solidFill>
                          <a:latin typeface="Calibri"/>
                          <a:ea typeface="Calibri"/>
                          <a:cs typeface="Calibri"/>
                        </a:rPr>
                        <a:t>0</a:t>
                      </a:r>
                    </a:p>
                  </a:txBody>
                  <a:tcPr>
                    <a:solidFill>
                      <a:srgbClr val="F0F4F8"/>
                    </a:solidFill>
                  </a:tcPr>
                </a:tc>
                <a:extLst>
                  <a:ext uri="{0D108BD9-81ED-4DB2-BD59-A6C34878D82A}">
                    <a16:rowId xmlns:a16="http://schemas.microsoft.com/office/drawing/2014/main" val="10001"/>
                  </a:ext>
                </a:extLst>
              </a:tr>
              <a:tr h="603250">
                <a:tc>
                  <a:txBody>
                    <a:bodyPr/>
                    <a:lstStyle/>
                    <a:p>
                      <a:r>
                        <a:rPr sz="1800" b="0">
                          <a:solidFill>
                            <a:srgbClr val="1A1A2E"/>
                          </a:solidFill>
                          <a:latin typeface="Calibri"/>
                          <a:ea typeface="Calibri"/>
                          <a:cs typeface="Calibri"/>
                        </a:rPr>
                        <a:t>James</a:t>
                      </a:r>
                    </a:p>
                  </a:txBody>
                  <a:tcPr>
                    <a:solidFill>
                      <a:srgbClr val="FFFFFF"/>
                    </a:solidFill>
                  </a:tcPr>
                </a:tc>
                <a:tc>
                  <a:txBody>
                    <a:bodyPr/>
                    <a:lstStyle/>
                    <a:p>
                      <a:r>
                        <a:rPr sz="1800" b="0">
                          <a:solidFill>
                            <a:srgbClr val="1A1A2E"/>
                          </a:solidFill>
                          <a:latin typeface="Calibri"/>
                          <a:ea typeface="Calibri"/>
                          <a:cs typeface="Calibri"/>
                        </a:rPr>
                        <a:t>0</a:t>
                      </a:r>
                    </a:p>
                  </a:txBody>
                  <a:tcPr>
                    <a:solidFill>
                      <a:srgbClr val="FFFFFF"/>
                    </a:solidFill>
                  </a:tcPr>
                </a:tc>
                <a:tc>
                  <a:txBody>
                    <a:bodyPr/>
                    <a:lstStyle/>
                    <a:p>
                      <a:r>
                        <a:rPr sz="1800" b="0">
                          <a:solidFill>
                            <a:srgbClr val="1A1A2E"/>
                          </a:solidFill>
                          <a:latin typeface="Calibri"/>
                          <a:ea typeface="Calibri"/>
                          <a:cs typeface="Calibri"/>
                        </a:rPr>
                        <a:t>0</a:t>
                      </a:r>
                    </a:p>
                  </a:txBody>
                  <a:tcPr>
                    <a:solidFill>
                      <a:srgbClr val="FFFFFF"/>
                    </a:solidFill>
                  </a:tcPr>
                </a:tc>
                <a:tc>
                  <a:txBody>
                    <a:bodyPr/>
                    <a:lstStyle/>
                    <a:p>
                      <a:r>
                        <a:rPr sz="1800" b="0">
                          <a:solidFill>
                            <a:srgbClr val="1A1A2E"/>
                          </a:solidFill>
                          <a:latin typeface="Calibri"/>
                          <a:ea typeface="Calibri"/>
                          <a:cs typeface="Calibri"/>
                        </a:rPr>
                        <a:t>0</a:t>
                      </a:r>
                    </a:p>
                  </a:txBody>
                  <a:tcPr>
                    <a:solidFill>
                      <a:srgbClr val="FFFFFF"/>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5E7835C1-2B05-4136-8D53-93D9C526CE08}"/>
              </a:ext>
            </a:extLst>
          </p:cNvPr>
          <p:cNvSpPr>
            <a:spLocks noGrp="1"/>
          </p:cNvSpPr>
          <p:nvPr/>
        </p:nvSpPr>
        <p:spPr>
          <a:xfrm>
            <a:off x="7524750" y="2362200"/>
            <a:ext cx="3810000" cy="523875"/>
          </a:xfrm>
          <a:prstGeom prst="rect">
            <a:avLst/>
          </a:prstGeom>
          <a:noFill/>
          <a:ln w="0">
            <a:noFill/>
          </a:ln>
        </p:spPr>
        <p:txBody>
          <a:bodyPr>
            <a:noAutofit/>
          </a:bodyPr>
          <a:lstStyle/>
          <a:p>
            <a:pPr>
              <a:defRPr sz="2700" b="1">
                <a:solidFill>
                  <a:srgbClr val="1E7A46"/>
                </a:solidFill>
                <a:latin typeface="Calibri"/>
                <a:ea typeface="Calibri"/>
                <a:cs typeface="Calibri"/>
              </a:defRPr>
            </a:pPr>
            <a:r>
              <a:rPr sz="2700" b="1">
                <a:solidFill>
                  <a:srgbClr val="1E7A46"/>
                </a:solidFill>
                <a:latin typeface="Calibri"/>
                <a:ea typeface="Calibri"/>
                <a:cs typeface="Calibri"/>
              </a:rPr>
              <a:t>True ATE = 0</a:t>
            </a:r>
          </a:p>
        </p:txBody>
      </p:sp>
      <p:sp>
        <p:nvSpPr>
          <p:cNvPr id="8" name="Rectangle 7">
            <a:extLst>
              <a:ext uri="{FF2B5EF4-FFF2-40B4-BE49-F238E27FC236}">
                <a16:creationId xmlns:a16="http://schemas.microsoft.com/office/drawing/2014/main" id="{60C21C58-889C-426D-9A1E-EF2785B8D5E2}"/>
              </a:ext>
            </a:extLst>
          </p:cNvPr>
          <p:cNvSpPr>
            <a:spLocks noGrp="1"/>
          </p:cNvSpPr>
          <p:nvPr/>
        </p:nvSpPr>
        <p:spPr>
          <a:xfrm>
            <a:off x="7524750" y="3048000"/>
            <a:ext cx="3810000" cy="809625"/>
          </a:xfrm>
          <a:prstGeom prst="rect">
            <a:avLst/>
          </a:prstGeom>
          <a:noFill/>
          <a:ln w="0">
            <a:noFill/>
          </a:ln>
        </p:spPr>
        <p:txBody>
          <a:bodyPr>
            <a:noAutofit/>
          </a:bodyPr>
          <a:lstStyle/>
          <a:p>
            <a:pPr>
              <a:defRPr sz="1950" b="0">
                <a:solidFill>
                  <a:srgbClr val="1A1A2E"/>
                </a:solidFill>
                <a:latin typeface="Calibri"/>
                <a:ea typeface="Calibri"/>
                <a:cs typeface="Calibri"/>
              </a:defRPr>
            </a:pPr>
            <a:r>
              <a:rPr sz="1950" b="0">
                <a:solidFill>
                  <a:srgbClr val="1A1A2E"/>
                </a:solidFill>
                <a:latin typeface="Calibri"/>
                <a:ea typeface="Calibri"/>
                <a:cs typeface="Calibri"/>
              </a:rPr>
              <a:t>Assign one person to treatment</a:t>
            </a:r>
          </a:p>
          <a:p>
            <a:pPr>
              <a:defRPr sz="1950" b="0">
                <a:solidFill>
                  <a:srgbClr val="1A1A2E"/>
                </a:solidFill>
                <a:latin typeface="Calibri"/>
                <a:ea typeface="Calibri"/>
                <a:cs typeface="Calibri"/>
              </a:defRPr>
            </a:pPr>
            <a:r>
              <a:rPr sz="1950" b="0">
                <a:solidFill>
                  <a:srgbClr val="1A1A2E"/>
                </a:solidFill>
                <a:latin typeface="Calibri"/>
                <a:ea typeface="Calibri"/>
                <a:cs typeface="Calibri"/>
              </a:rPr>
              <a:t>and the other to control.</a:t>
            </a:r>
          </a:p>
        </p:txBody>
      </p:sp>
      <p:sp>
        <p:nvSpPr>
          <p:cNvPr id="9" name="Rectangle 8">
            <a:extLst>
              <a:ext uri="{FF2B5EF4-FFF2-40B4-BE49-F238E27FC236}">
                <a16:creationId xmlns:a16="http://schemas.microsoft.com/office/drawing/2014/main" id="{44DA373C-4AF5-4D5A-A494-81C827411943}"/>
              </a:ext>
            </a:extLst>
          </p:cNvPr>
          <p:cNvSpPr>
            <a:spLocks noGrp="1"/>
          </p:cNvSpPr>
          <p:nvPr/>
        </p:nvSpPr>
        <p:spPr>
          <a:xfrm>
            <a:off x="571500" y="4286250"/>
            <a:ext cx="10572750" cy="904875"/>
          </a:xfrm>
          <a:prstGeom prst="rect">
            <a:avLst/>
          </a:prstGeom>
          <a:noFill/>
          <a:ln w="0">
            <a:noFill/>
          </a:ln>
        </p:spPr>
        <p:txBody>
          <a:bodyPr>
            <a:noAutofit/>
          </a:bodyPr>
          <a:lstStyle/>
          <a:p>
            <a:pPr>
              <a:defRPr sz="2175" b="1">
                <a:solidFill>
                  <a:srgbClr val="00274D"/>
                </a:solidFill>
                <a:latin typeface="Calibri"/>
                <a:ea typeface="Calibri"/>
                <a:cs typeface="Calibri"/>
              </a:defRPr>
            </a:pPr>
            <a:r>
              <a:rPr sz="2175" b="1">
                <a:solidFill>
                  <a:srgbClr val="00274D"/>
                </a:solidFill>
                <a:latin typeface="Calibri"/>
                <a:ea typeface="Calibri"/>
                <a:cs typeface="Calibri"/>
              </a:rPr>
              <a:t>Kim treated: estimated effect = +1</a:t>
            </a:r>
          </a:p>
          <a:p>
            <a:pPr>
              <a:defRPr sz="2175" b="1">
                <a:solidFill>
                  <a:srgbClr val="00274D"/>
                </a:solidFill>
                <a:latin typeface="Calibri"/>
                <a:ea typeface="Calibri"/>
                <a:cs typeface="Calibri"/>
              </a:defRPr>
            </a:pPr>
            <a:r>
              <a:rPr sz="2175" b="1">
                <a:solidFill>
                  <a:srgbClr val="00274D"/>
                </a:solidFill>
                <a:latin typeface="Calibri"/>
                <a:ea typeface="Calibri"/>
                <a:cs typeface="Calibri"/>
              </a:rPr>
              <a:t>James treated: estimated effect = −1</a:t>
            </a:r>
          </a:p>
        </p:txBody>
      </p:sp>
      <p:sp>
        <p:nvSpPr>
          <p:cNvPr id="10" name="Rectangle 9">
            <a:extLst>
              <a:ext uri="{FF2B5EF4-FFF2-40B4-BE49-F238E27FC236}">
                <a16:creationId xmlns:a16="http://schemas.microsoft.com/office/drawing/2014/main" id="{12BFD261-93B2-4AE5-9063-F4842F640ADF}"/>
              </a:ext>
            </a:extLst>
          </p:cNvPr>
          <p:cNvSpPr>
            <a:spLocks noGrp="1"/>
          </p:cNvSpPr>
          <p:nvPr/>
        </p:nvSpPr>
        <p:spPr>
          <a:xfrm>
            <a:off x="571500" y="5219700"/>
            <a:ext cx="10668000" cy="762000"/>
          </a:xfrm>
          <a:prstGeom prst="rect">
            <a:avLst/>
          </a:prstGeom>
          <a:noFill/>
          <a:ln w="0">
            <a:noFill/>
          </a:ln>
        </p:spPr>
        <p:txBody>
          <a:bodyPr>
            <a:noAutofit/>
          </a:bodyPr>
          <a:lstStyle/>
          <a:p>
            <a:pPr>
              <a:defRPr sz="1950" b="0">
                <a:solidFill>
                  <a:srgbClr val="1A1A2E"/>
                </a:solidFill>
                <a:latin typeface="Calibri"/>
                <a:ea typeface="Calibri"/>
                <a:cs typeface="Calibri"/>
              </a:defRPr>
            </a:pPr>
            <a:r>
              <a:rPr sz="1950" b="0">
                <a:solidFill>
                  <a:srgbClr val="1A1A2E"/>
                </a:solidFill>
                <a:latin typeface="Calibri"/>
                <a:ea typeface="Calibri"/>
                <a:cs typeface="Calibri"/>
              </a:rPr>
              <a:t>Average over the fair coin: ½(+1) + ½(−1) = 0.</a:t>
            </a:r>
          </a:p>
          <a:p>
            <a:pPr>
              <a:defRPr sz="1950" b="0">
                <a:solidFill>
                  <a:srgbClr val="1A1A2E"/>
                </a:solidFill>
                <a:latin typeface="Calibri"/>
                <a:ea typeface="Calibri"/>
                <a:cs typeface="Calibri"/>
              </a:defRPr>
            </a:pPr>
            <a:r>
              <a:rPr sz="1950" b="0">
                <a:solidFill>
                  <a:srgbClr val="1A1A2E"/>
                </a:solidFill>
                <a:latin typeface="Calibri"/>
                <a:ea typeface="Calibri"/>
                <a:cs typeface="Calibri"/>
              </a:rPr>
              <a:t>More independent assignments generally improve precision.</a:t>
            </a:r>
          </a:p>
        </p:txBody>
      </p:sp>
    </p:spTree>
    <p:extLst>
      <p:ext uri="{BB962C8B-B14F-4D97-AF65-F5344CB8AC3E}">
        <p14:creationId xmlns:p14="http://schemas.microsoft.com/office/powerpoint/2010/main" val="213316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3D70573-C496-41A1-9E0B-7B093BBDA7F9}"/>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THE SELECTION PROBLEM</a:t>
            </a:r>
            <a:endParaRPr sz="1200"/>
          </a:p>
        </p:txBody>
      </p:sp>
      <p:sp>
        <p:nvSpPr>
          <p:cNvPr id="3" name="Text 1">
            <a:extLst>
              <a:ext uri="{FF2B5EF4-FFF2-40B4-BE49-F238E27FC236}">
                <a16:creationId xmlns:a16="http://schemas.microsoft.com/office/drawing/2014/main" id="{BDC49A50-AC69-4127-84BD-738ADA6C3DC2}"/>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Who signs up is not random</a:t>
            </a:r>
            <a:endParaRPr sz="3000"/>
          </a:p>
        </p:txBody>
      </p:sp>
      <p:sp>
        <p:nvSpPr>
          <p:cNvPr id="4" name="Text 2">
            <a:extLst>
              <a:ext uri="{FF2B5EF4-FFF2-40B4-BE49-F238E27FC236}">
                <a16:creationId xmlns:a16="http://schemas.microsoft.com/office/drawing/2014/main" id="{AC59CF60-9F10-422E-8EB2-7522FF4820C4}"/>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7</a:t>
            </a:r>
            <a:endParaRPr sz="1000"/>
          </a:p>
        </p:txBody>
      </p:sp>
      <p:sp>
        <p:nvSpPr>
          <p:cNvPr id="5" name="Shape 3">
            <a:extLst>
              <a:ext uri="{FF2B5EF4-FFF2-40B4-BE49-F238E27FC236}">
                <a16:creationId xmlns:a16="http://schemas.microsoft.com/office/drawing/2014/main" id="{039F6C0A-49B6-4CF4-A77D-C4BB680DB47D}"/>
              </a:ext>
            </a:extLst>
          </p:cNvPr>
          <p:cNvSpPr>
            <a:spLocks noGrp="1"/>
          </p:cNvSpPr>
          <p:nvPr/>
        </p:nvSpPr>
        <p:spPr>
          <a:xfrm>
            <a:off x="548640" y="1554480"/>
            <a:ext cx="5486400" cy="3931920"/>
          </a:xfrm>
          <a:prstGeom prst="roundRect">
            <a:avLst>
              <a:gd name="adj" fmla="val 2326"/>
            </a:avLst>
          </a:prstGeom>
          <a:solidFill>
            <a:srgbClr val="EEF3F8"/>
          </a:solidFill>
          <a:ln w="12700">
            <a:solidFill>
              <a:srgbClr val="EEF3F8"/>
            </a:solidFill>
            <a:prstDash val="solid"/>
          </a:ln>
        </p:spPr>
        <p:txBody>
          <a:bodyPr/>
          <a:lstStyle/>
          <a:p>
            <a:endParaRPr lang="en-US"/>
          </a:p>
        </p:txBody>
      </p:sp>
      <p:sp>
        <p:nvSpPr>
          <p:cNvPr id="6" name="Text 4">
            <a:extLst>
              <a:ext uri="{FF2B5EF4-FFF2-40B4-BE49-F238E27FC236}">
                <a16:creationId xmlns:a16="http://schemas.microsoft.com/office/drawing/2014/main" id="{EB61EADF-3460-45D0-B06B-87700A19DDE5}"/>
              </a:ext>
            </a:extLst>
          </p:cNvPr>
          <p:cNvSpPr>
            <a:spLocks noGrp="1"/>
          </p:cNvSpPr>
          <p:nvPr/>
        </p:nvSpPr>
        <p:spPr>
          <a:xfrm>
            <a:off x="822960" y="1737360"/>
            <a:ext cx="4937760" cy="3566160"/>
          </a:xfrm>
          <a:prstGeom prst="rect">
            <a:avLst/>
          </a:prstGeom>
          <a:noFill/>
        </p:spPr>
        <p:txBody>
          <a:bodyPr wrap="square" lIns="0" tIns="0" rIns="0" bIns="0" anchor="t"/>
          <a:lstStyle/>
          <a:p>
            <a:pPr marL="0" indent="0">
              <a:buNone/>
            </a:pPr>
            <a:r>
              <a:rPr sz="2000" b="1">
                <a:solidFill>
                  <a:srgbClr val="00274D"/>
                </a:solidFill>
                <a:latin typeface="Cambria"/>
                <a:ea typeface="Cambria"/>
                <a:cs typeface="Cambria"/>
              </a:rPr>
              <a:t>A voluntary job-training program</a:t>
            </a:r>
            <a:endParaRPr sz="1700"/>
          </a:p>
          <a:p>
            <a:pPr marL="0" indent="0">
              <a:buNone/>
            </a:pPr>
            <a:r>
              <a:rPr sz="800">
                <a:solidFill>
                  <a:srgbClr val="1A1A2E"/>
                </a:solidFill>
                <a:latin typeface="Calibri"/>
                <a:ea typeface="Calibri"/>
                <a:cs typeface="Calibri"/>
              </a:rPr>
              <a:t> </a:t>
            </a:r>
            <a:endParaRPr sz="1700"/>
          </a:p>
          <a:p>
            <a:pPr marL="0" indent="0">
              <a:buNone/>
            </a:pPr>
            <a:r>
              <a:rPr sz="1700">
                <a:solidFill>
                  <a:srgbClr val="1A1A2E"/>
                </a:solidFill>
                <a:latin typeface="Calibri"/>
                <a:ea typeface="Calibri"/>
                <a:cs typeface="Calibri"/>
              </a:rPr>
              <a:t>Participants earn more a year later than non-participants. But participants were also more motivated, more connected, and had more stable housing before they ever enrolled.</a:t>
            </a:r>
            <a:endParaRPr sz="1700"/>
          </a:p>
          <a:p>
            <a:pPr marL="0" indent="0">
              <a:buNone/>
            </a:pPr>
            <a:r>
              <a:rPr sz="800">
                <a:solidFill>
                  <a:srgbClr val="1A1A2E"/>
                </a:solidFill>
                <a:latin typeface="Calibri"/>
                <a:ea typeface="Calibri"/>
                <a:cs typeface="Calibri"/>
              </a:rPr>
              <a:t> </a:t>
            </a:r>
            <a:endParaRPr sz="1700"/>
          </a:p>
          <a:p>
            <a:pPr marL="0" indent="0">
              <a:buNone/>
            </a:pPr>
            <a:r>
              <a:rPr sz="1700" b="1">
                <a:solidFill>
                  <a:srgbClr val="A13A2F"/>
                </a:solidFill>
                <a:latin typeface="Calibri"/>
                <a:ea typeface="Calibri"/>
                <a:cs typeface="Calibri"/>
              </a:rPr>
              <a:t>E[Y(0) | D=1] &gt; E[Y(0) | D=0]</a:t>
            </a:r>
            <a:r>
              <a:rPr sz="1700">
                <a:solidFill>
                  <a:srgbClr val="1A1A2E"/>
                </a:solidFill>
                <a:latin typeface="Calibri"/>
                <a:ea typeface="Calibri"/>
                <a:cs typeface="Calibri"/>
              </a:rPr>
              <a:t>  →  the naive estimate is too large.</a:t>
            </a:r>
            <a:endParaRPr sz="1700"/>
          </a:p>
        </p:txBody>
      </p:sp>
      <p:sp>
        <p:nvSpPr>
          <p:cNvPr id="7" name="Shape 5">
            <a:extLst>
              <a:ext uri="{FF2B5EF4-FFF2-40B4-BE49-F238E27FC236}">
                <a16:creationId xmlns:a16="http://schemas.microsoft.com/office/drawing/2014/main" id="{4AAC5C18-057A-463B-B93A-E1F5683B32F1}"/>
              </a:ext>
            </a:extLst>
          </p:cNvPr>
          <p:cNvSpPr>
            <a:spLocks noGrp="1"/>
          </p:cNvSpPr>
          <p:nvPr/>
        </p:nvSpPr>
        <p:spPr>
          <a:xfrm>
            <a:off x="8229600" y="1737360"/>
            <a:ext cx="1188720" cy="731520"/>
          </a:xfrm>
          <a:prstGeom prst="ellipse">
            <a:avLst/>
          </a:prstGeom>
          <a:solidFill>
            <a:srgbClr val="5B6178"/>
          </a:solidFill>
          <a:ln w="12700">
            <a:solidFill>
              <a:srgbClr val="5B6178"/>
            </a:solidFill>
            <a:prstDash val="solid"/>
          </a:ln>
        </p:spPr>
        <p:txBody>
          <a:bodyPr/>
          <a:lstStyle/>
          <a:p>
            <a:endParaRPr lang="en-US"/>
          </a:p>
        </p:txBody>
      </p:sp>
      <p:sp>
        <p:nvSpPr>
          <p:cNvPr id="8" name="Text 6">
            <a:extLst>
              <a:ext uri="{FF2B5EF4-FFF2-40B4-BE49-F238E27FC236}">
                <a16:creationId xmlns:a16="http://schemas.microsoft.com/office/drawing/2014/main" id="{38FA6397-2E45-4C49-BF09-DF4A41176FA7}"/>
              </a:ext>
            </a:extLst>
          </p:cNvPr>
          <p:cNvSpPr>
            <a:spLocks noGrp="1"/>
          </p:cNvSpPr>
          <p:nvPr/>
        </p:nvSpPr>
        <p:spPr>
          <a:xfrm>
            <a:off x="8229600" y="1737360"/>
            <a:ext cx="1188720" cy="7315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U</a:t>
            </a:r>
            <a:endParaRPr sz="1500"/>
          </a:p>
        </p:txBody>
      </p:sp>
      <p:sp>
        <p:nvSpPr>
          <p:cNvPr id="9" name="Shape 7">
            <a:extLst>
              <a:ext uri="{FF2B5EF4-FFF2-40B4-BE49-F238E27FC236}">
                <a16:creationId xmlns:a16="http://schemas.microsoft.com/office/drawing/2014/main" id="{0117BCB7-1CD0-4E68-83B5-14E0AFA09621}"/>
              </a:ext>
            </a:extLst>
          </p:cNvPr>
          <p:cNvSpPr>
            <a:spLocks noGrp="1"/>
          </p:cNvSpPr>
          <p:nvPr/>
        </p:nvSpPr>
        <p:spPr>
          <a:xfrm>
            <a:off x="6766560" y="3749040"/>
            <a:ext cx="1188720" cy="731520"/>
          </a:xfrm>
          <a:prstGeom prst="ellipse">
            <a:avLst/>
          </a:prstGeom>
          <a:solidFill>
            <a:srgbClr val="00274D"/>
          </a:solidFill>
          <a:ln w="12700">
            <a:solidFill>
              <a:srgbClr val="00274D"/>
            </a:solidFill>
            <a:prstDash val="solid"/>
          </a:ln>
        </p:spPr>
        <p:txBody>
          <a:bodyPr/>
          <a:lstStyle/>
          <a:p>
            <a:endParaRPr lang="en-US"/>
          </a:p>
        </p:txBody>
      </p:sp>
      <p:sp>
        <p:nvSpPr>
          <p:cNvPr id="10" name="Text 8">
            <a:extLst>
              <a:ext uri="{FF2B5EF4-FFF2-40B4-BE49-F238E27FC236}">
                <a16:creationId xmlns:a16="http://schemas.microsoft.com/office/drawing/2014/main" id="{410E9ED6-2895-478D-AA8E-2AED42210CDF}"/>
              </a:ext>
            </a:extLst>
          </p:cNvPr>
          <p:cNvSpPr>
            <a:spLocks noGrp="1"/>
          </p:cNvSpPr>
          <p:nvPr/>
        </p:nvSpPr>
        <p:spPr>
          <a:xfrm>
            <a:off x="6766560" y="3749040"/>
            <a:ext cx="1188720" cy="7315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D</a:t>
            </a:r>
            <a:endParaRPr sz="1500"/>
          </a:p>
        </p:txBody>
      </p:sp>
      <p:sp>
        <p:nvSpPr>
          <p:cNvPr id="11" name="Shape 9">
            <a:extLst>
              <a:ext uri="{FF2B5EF4-FFF2-40B4-BE49-F238E27FC236}">
                <a16:creationId xmlns:a16="http://schemas.microsoft.com/office/drawing/2014/main" id="{A2EEC968-4DE6-442A-887D-DBC5349F088A}"/>
              </a:ext>
            </a:extLst>
          </p:cNvPr>
          <p:cNvSpPr>
            <a:spLocks noGrp="1"/>
          </p:cNvSpPr>
          <p:nvPr/>
        </p:nvSpPr>
        <p:spPr>
          <a:xfrm>
            <a:off x="9784080" y="3749040"/>
            <a:ext cx="1188720" cy="731520"/>
          </a:xfrm>
          <a:prstGeom prst="ellipse">
            <a:avLst/>
          </a:prstGeom>
          <a:solidFill>
            <a:srgbClr val="00274D"/>
          </a:solidFill>
          <a:ln w="12700">
            <a:solidFill>
              <a:srgbClr val="00274D"/>
            </a:solidFill>
            <a:prstDash val="solid"/>
          </a:ln>
        </p:spPr>
        <p:txBody>
          <a:bodyPr/>
          <a:lstStyle/>
          <a:p>
            <a:endParaRPr lang="en-US"/>
          </a:p>
        </p:txBody>
      </p:sp>
      <p:sp>
        <p:nvSpPr>
          <p:cNvPr id="12" name="Text 10">
            <a:extLst>
              <a:ext uri="{FF2B5EF4-FFF2-40B4-BE49-F238E27FC236}">
                <a16:creationId xmlns:a16="http://schemas.microsoft.com/office/drawing/2014/main" id="{C691C33A-9F22-4649-AB38-E57DE360E73B}"/>
              </a:ext>
            </a:extLst>
          </p:cNvPr>
          <p:cNvSpPr>
            <a:spLocks noGrp="1"/>
          </p:cNvSpPr>
          <p:nvPr/>
        </p:nvSpPr>
        <p:spPr>
          <a:xfrm>
            <a:off x="9784080" y="3749040"/>
            <a:ext cx="1188720" cy="7315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Y</a:t>
            </a:r>
            <a:endParaRPr sz="1500"/>
          </a:p>
        </p:txBody>
      </p:sp>
      <p:sp>
        <p:nvSpPr>
          <p:cNvPr id="13" name="Shape 11">
            <a:extLst>
              <a:ext uri="{FF2B5EF4-FFF2-40B4-BE49-F238E27FC236}">
                <a16:creationId xmlns:a16="http://schemas.microsoft.com/office/drawing/2014/main" id="{2E8CCAD1-9ABF-4773-AD58-CE6C6C702921}"/>
              </a:ext>
            </a:extLst>
          </p:cNvPr>
          <p:cNvSpPr>
            <a:spLocks noGrp="1"/>
          </p:cNvSpPr>
          <p:nvPr/>
        </p:nvSpPr>
        <p:spPr>
          <a:xfrm flipH="1">
            <a:off x="7498080" y="2423160"/>
            <a:ext cx="868680" cy="1325880"/>
          </a:xfrm>
          <a:prstGeom prst="line">
            <a:avLst/>
          </a:prstGeom>
          <a:noFill/>
          <a:ln w="31750">
            <a:solidFill>
              <a:srgbClr val="A13A2F"/>
            </a:solidFill>
            <a:prstDash val="solid"/>
            <a:tailEnd type="triangle"/>
          </a:ln>
        </p:spPr>
        <p:txBody>
          <a:bodyPr/>
          <a:lstStyle/>
          <a:p>
            <a:endParaRPr lang="en-US"/>
          </a:p>
        </p:txBody>
      </p:sp>
      <p:sp>
        <p:nvSpPr>
          <p:cNvPr id="14" name="Shape 12">
            <a:extLst>
              <a:ext uri="{FF2B5EF4-FFF2-40B4-BE49-F238E27FC236}">
                <a16:creationId xmlns:a16="http://schemas.microsoft.com/office/drawing/2014/main" id="{54A064A2-92E6-44C1-A6ED-5E421A0A078E}"/>
              </a:ext>
            </a:extLst>
          </p:cNvPr>
          <p:cNvSpPr>
            <a:spLocks noGrp="1"/>
          </p:cNvSpPr>
          <p:nvPr/>
        </p:nvSpPr>
        <p:spPr>
          <a:xfrm>
            <a:off x="9144000" y="2423160"/>
            <a:ext cx="914400" cy="1325880"/>
          </a:xfrm>
          <a:prstGeom prst="line">
            <a:avLst/>
          </a:prstGeom>
          <a:noFill/>
          <a:ln w="31750">
            <a:solidFill>
              <a:srgbClr val="A13A2F"/>
            </a:solidFill>
            <a:prstDash val="solid"/>
            <a:tailEnd type="triangle"/>
          </a:ln>
        </p:spPr>
        <p:txBody>
          <a:bodyPr/>
          <a:lstStyle/>
          <a:p>
            <a:endParaRPr lang="en-US"/>
          </a:p>
        </p:txBody>
      </p:sp>
      <p:sp>
        <p:nvSpPr>
          <p:cNvPr id="15" name="Shape 13">
            <a:extLst>
              <a:ext uri="{FF2B5EF4-FFF2-40B4-BE49-F238E27FC236}">
                <a16:creationId xmlns:a16="http://schemas.microsoft.com/office/drawing/2014/main" id="{41A9E139-5EFE-4013-AAAA-4C1DF7EB3625}"/>
              </a:ext>
            </a:extLst>
          </p:cNvPr>
          <p:cNvSpPr>
            <a:spLocks noGrp="1"/>
          </p:cNvSpPr>
          <p:nvPr/>
        </p:nvSpPr>
        <p:spPr>
          <a:xfrm>
            <a:off x="7955280" y="4114800"/>
            <a:ext cx="1828800" cy="0"/>
          </a:xfrm>
          <a:prstGeom prst="line">
            <a:avLst/>
          </a:prstGeom>
          <a:noFill/>
          <a:ln w="31750">
            <a:solidFill>
              <a:srgbClr val="00274D"/>
            </a:solidFill>
            <a:prstDash val="solid"/>
            <a:tailEnd type="triangle"/>
          </a:ln>
        </p:spPr>
        <p:txBody>
          <a:bodyPr/>
          <a:lstStyle/>
          <a:p>
            <a:endParaRPr lang="en-US"/>
          </a:p>
        </p:txBody>
      </p:sp>
      <p:sp>
        <p:nvSpPr>
          <p:cNvPr id="16" name="Text 14">
            <a:extLst>
              <a:ext uri="{FF2B5EF4-FFF2-40B4-BE49-F238E27FC236}">
                <a16:creationId xmlns:a16="http://schemas.microsoft.com/office/drawing/2014/main" id="{041929B8-1D4E-4BD2-8EAF-EEA9E493195B}"/>
              </a:ext>
            </a:extLst>
          </p:cNvPr>
          <p:cNvSpPr>
            <a:spLocks noGrp="1"/>
          </p:cNvSpPr>
          <p:nvPr/>
        </p:nvSpPr>
        <p:spPr>
          <a:xfrm>
            <a:off x="6583680" y="4754880"/>
            <a:ext cx="5029200" cy="731520"/>
          </a:xfrm>
          <a:prstGeom prst="rect">
            <a:avLst/>
          </a:prstGeom>
          <a:noFill/>
        </p:spPr>
        <p:txBody>
          <a:bodyPr wrap="square" lIns="0" tIns="0" rIns="0" bIns="0" anchor="t"/>
          <a:lstStyle/>
          <a:p>
            <a:pPr marL="0" indent="0" algn="ctr">
              <a:buNone/>
            </a:pPr>
            <a:r>
              <a:rPr sz="1400" i="1">
                <a:solidFill>
                  <a:srgbClr val="5B6178"/>
                </a:solidFill>
                <a:latin typeface="Calibri"/>
                <a:ea typeface="Calibri"/>
                <a:cs typeface="Calibri"/>
              </a:rPr>
              <a:t>U = motivation, networks, stability (often unmeasured)</a:t>
            </a:r>
            <a:endParaRPr sz="1400"/>
          </a:p>
        </p:txBody>
      </p:sp>
    </p:spTree>
    <p:extLst>
      <p:ext uri="{BB962C8B-B14F-4D97-AF65-F5344CB8AC3E}">
        <p14:creationId xmlns:p14="http://schemas.microsoft.com/office/powerpoint/2010/main" val="1116076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820EB31-1E8E-48C7-B28F-ED8D64475D3F}"/>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THE KEY RESULT</a:t>
            </a:r>
            <a:endParaRPr sz="1200"/>
          </a:p>
        </p:txBody>
      </p:sp>
      <p:sp>
        <p:nvSpPr>
          <p:cNvPr id="3" name="Text 1">
            <a:extLst>
              <a:ext uri="{FF2B5EF4-FFF2-40B4-BE49-F238E27FC236}">
                <a16:creationId xmlns:a16="http://schemas.microsoft.com/office/drawing/2014/main" id="{FEA943BA-4B30-4D9D-84A1-9273CF97193E}"/>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Randomization breaks the arrow into treatment</a:t>
            </a:r>
            <a:endParaRPr sz="3000"/>
          </a:p>
        </p:txBody>
      </p:sp>
      <p:sp>
        <p:nvSpPr>
          <p:cNvPr id="4" name="Text 2">
            <a:extLst>
              <a:ext uri="{FF2B5EF4-FFF2-40B4-BE49-F238E27FC236}">
                <a16:creationId xmlns:a16="http://schemas.microsoft.com/office/drawing/2014/main" id="{A834486A-AA42-42E4-810C-912CEF865B76}"/>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8</a:t>
            </a:r>
            <a:endParaRPr sz="1000"/>
          </a:p>
        </p:txBody>
      </p:sp>
      <p:sp>
        <p:nvSpPr>
          <p:cNvPr id="5" name="Shape 3">
            <a:extLst>
              <a:ext uri="{FF2B5EF4-FFF2-40B4-BE49-F238E27FC236}">
                <a16:creationId xmlns:a16="http://schemas.microsoft.com/office/drawing/2014/main" id="{875C73CF-F93A-4C5F-A855-01FB43A002BB}"/>
              </a:ext>
            </a:extLst>
          </p:cNvPr>
          <p:cNvSpPr>
            <a:spLocks noGrp="1"/>
          </p:cNvSpPr>
          <p:nvPr/>
        </p:nvSpPr>
        <p:spPr>
          <a:xfrm>
            <a:off x="2194560" y="1645920"/>
            <a:ext cx="1188720" cy="731520"/>
          </a:xfrm>
          <a:prstGeom prst="ellipse">
            <a:avLst/>
          </a:prstGeom>
          <a:solidFill>
            <a:srgbClr val="5B6178"/>
          </a:solidFill>
          <a:ln w="12700">
            <a:solidFill>
              <a:srgbClr val="5B6178"/>
            </a:solidFill>
            <a:prstDash val="solid"/>
          </a:ln>
        </p:spPr>
        <p:txBody>
          <a:bodyPr/>
          <a:lstStyle/>
          <a:p>
            <a:endParaRPr lang="en-US"/>
          </a:p>
        </p:txBody>
      </p:sp>
      <p:sp>
        <p:nvSpPr>
          <p:cNvPr id="6" name="Text 4">
            <a:extLst>
              <a:ext uri="{FF2B5EF4-FFF2-40B4-BE49-F238E27FC236}">
                <a16:creationId xmlns:a16="http://schemas.microsoft.com/office/drawing/2014/main" id="{88E0DE07-17A5-4FAB-B65B-B66A992A4BDF}"/>
              </a:ext>
            </a:extLst>
          </p:cNvPr>
          <p:cNvSpPr>
            <a:spLocks noGrp="1"/>
          </p:cNvSpPr>
          <p:nvPr/>
        </p:nvSpPr>
        <p:spPr>
          <a:xfrm>
            <a:off x="2194560" y="1645920"/>
            <a:ext cx="1188720" cy="7315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U</a:t>
            </a:r>
            <a:endParaRPr sz="1500"/>
          </a:p>
        </p:txBody>
      </p:sp>
      <p:sp>
        <p:nvSpPr>
          <p:cNvPr id="7" name="Shape 5">
            <a:extLst>
              <a:ext uri="{FF2B5EF4-FFF2-40B4-BE49-F238E27FC236}">
                <a16:creationId xmlns:a16="http://schemas.microsoft.com/office/drawing/2014/main" id="{6BC5E694-3BA1-4AAB-9296-A89E1EA62AC8}"/>
              </a:ext>
            </a:extLst>
          </p:cNvPr>
          <p:cNvSpPr>
            <a:spLocks noGrp="1"/>
          </p:cNvSpPr>
          <p:nvPr/>
        </p:nvSpPr>
        <p:spPr>
          <a:xfrm>
            <a:off x="731520" y="3657600"/>
            <a:ext cx="1188720" cy="731520"/>
          </a:xfrm>
          <a:prstGeom prst="ellipse">
            <a:avLst/>
          </a:prstGeom>
          <a:solidFill>
            <a:srgbClr val="00274D"/>
          </a:solidFill>
          <a:ln w="12700">
            <a:solidFill>
              <a:srgbClr val="00274D"/>
            </a:solidFill>
            <a:prstDash val="solid"/>
          </a:ln>
        </p:spPr>
        <p:txBody>
          <a:bodyPr/>
          <a:lstStyle/>
          <a:p>
            <a:endParaRPr lang="en-US"/>
          </a:p>
        </p:txBody>
      </p:sp>
      <p:sp>
        <p:nvSpPr>
          <p:cNvPr id="8" name="Text 6">
            <a:extLst>
              <a:ext uri="{FF2B5EF4-FFF2-40B4-BE49-F238E27FC236}">
                <a16:creationId xmlns:a16="http://schemas.microsoft.com/office/drawing/2014/main" id="{D8CF3397-C18D-49CC-9F50-A8513C88E48F}"/>
              </a:ext>
            </a:extLst>
          </p:cNvPr>
          <p:cNvSpPr>
            <a:spLocks noGrp="1"/>
          </p:cNvSpPr>
          <p:nvPr/>
        </p:nvSpPr>
        <p:spPr>
          <a:xfrm>
            <a:off x="731520" y="3657600"/>
            <a:ext cx="1188720" cy="7315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D</a:t>
            </a:r>
            <a:endParaRPr sz="1500"/>
          </a:p>
        </p:txBody>
      </p:sp>
      <p:sp>
        <p:nvSpPr>
          <p:cNvPr id="9" name="Shape 7">
            <a:extLst>
              <a:ext uri="{FF2B5EF4-FFF2-40B4-BE49-F238E27FC236}">
                <a16:creationId xmlns:a16="http://schemas.microsoft.com/office/drawing/2014/main" id="{0E9FC5A2-ABE9-490C-AB4F-7490BB61BD83}"/>
              </a:ext>
            </a:extLst>
          </p:cNvPr>
          <p:cNvSpPr>
            <a:spLocks noGrp="1"/>
          </p:cNvSpPr>
          <p:nvPr/>
        </p:nvSpPr>
        <p:spPr>
          <a:xfrm>
            <a:off x="3749040" y="3657600"/>
            <a:ext cx="1188720" cy="731520"/>
          </a:xfrm>
          <a:prstGeom prst="ellipse">
            <a:avLst/>
          </a:prstGeom>
          <a:solidFill>
            <a:srgbClr val="00274D"/>
          </a:solidFill>
          <a:ln w="12700">
            <a:solidFill>
              <a:srgbClr val="00274D"/>
            </a:solidFill>
            <a:prstDash val="solid"/>
          </a:ln>
        </p:spPr>
        <p:txBody>
          <a:bodyPr/>
          <a:lstStyle/>
          <a:p>
            <a:endParaRPr lang="en-US"/>
          </a:p>
        </p:txBody>
      </p:sp>
      <p:sp>
        <p:nvSpPr>
          <p:cNvPr id="10" name="Text 8">
            <a:extLst>
              <a:ext uri="{FF2B5EF4-FFF2-40B4-BE49-F238E27FC236}">
                <a16:creationId xmlns:a16="http://schemas.microsoft.com/office/drawing/2014/main" id="{1A90D9E8-5AD2-4D31-82FA-C17DCE97C0F9}"/>
              </a:ext>
            </a:extLst>
          </p:cNvPr>
          <p:cNvSpPr>
            <a:spLocks noGrp="1"/>
          </p:cNvSpPr>
          <p:nvPr/>
        </p:nvSpPr>
        <p:spPr>
          <a:xfrm>
            <a:off x="3749040" y="3657600"/>
            <a:ext cx="1188720" cy="7315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Y</a:t>
            </a:r>
            <a:endParaRPr sz="1500"/>
          </a:p>
        </p:txBody>
      </p:sp>
      <p:sp>
        <p:nvSpPr>
          <p:cNvPr id="11" name="Shape 9">
            <a:extLst>
              <a:ext uri="{FF2B5EF4-FFF2-40B4-BE49-F238E27FC236}">
                <a16:creationId xmlns:a16="http://schemas.microsoft.com/office/drawing/2014/main" id="{49977510-23A3-4E68-9AAA-B2F8FC9F8F72}"/>
              </a:ext>
            </a:extLst>
          </p:cNvPr>
          <p:cNvSpPr>
            <a:spLocks noGrp="1"/>
          </p:cNvSpPr>
          <p:nvPr/>
        </p:nvSpPr>
        <p:spPr>
          <a:xfrm>
            <a:off x="731520" y="1645920"/>
            <a:ext cx="1188720" cy="731520"/>
          </a:xfrm>
          <a:prstGeom prst="ellipse">
            <a:avLst/>
          </a:prstGeom>
          <a:solidFill>
            <a:srgbClr val="1E7A46"/>
          </a:solidFill>
          <a:ln w="12700">
            <a:solidFill>
              <a:srgbClr val="1E7A46"/>
            </a:solidFill>
            <a:prstDash val="solid"/>
          </a:ln>
        </p:spPr>
        <p:txBody>
          <a:bodyPr/>
          <a:lstStyle/>
          <a:p>
            <a:endParaRPr lang="en-US"/>
          </a:p>
        </p:txBody>
      </p:sp>
      <p:sp>
        <p:nvSpPr>
          <p:cNvPr id="12" name="Text 10">
            <a:extLst>
              <a:ext uri="{FF2B5EF4-FFF2-40B4-BE49-F238E27FC236}">
                <a16:creationId xmlns:a16="http://schemas.microsoft.com/office/drawing/2014/main" id="{FED1A756-1B07-4A7E-A7A0-8660A32F2447}"/>
              </a:ext>
            </a:extLst>
          </p:cNvPr>
          <p:cNvSpPr>
            <a:spLocks noGrp="1"/>
          </p:cNvSpPr>
          <p:nvPr/>
        </p:nvSpPr>
        <p:spPr>
          <a:xfrm>
            <a:off x="731520" y="1645920"/>
            <a:ext cx="1188720" cy="7315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Coin</a:t>
            </a:r>
            <a:endParaRPr sz="1500"/>
          </a:p>
        </p:txBody>
      </p:sp>
      <p:sp>
        <p:nvSpPr>
          <p:cNvPr id="13" name="Shape 11">
            <a:extLst>
              <a:ext uri="{FF2B5EF4-FFF2-40B4-BE49-F238E27FC236}">
                <a16:creationId xmlns:a16="http://schemas.microsoft.com/office/drawing/2014/main" id="{2C5ED222-C3AF-47D7-B198-775BE0C1EA3A}"/>
              </a:ext>
            </a:extLst>
          </p:cNvPr>
          <p:cNvSpPr>
            <a:spLocks noGrp="1"/>
          </p:cNvSpPr>
          <p:nvPr/>
        </p:nvSpPr>
        <p:spPr>
          <a:xfrm>
            <a:off x="1325880" y="2377440"/>
            <a:ext cx="0" cy="1280160"/>
          </a:xfrm>
          <a:prstGeom prst="line">
            <a:avLst/>
          </a:prstGeom>
          <a:noFill/>
          <a:ln w="31750">
            <a:solidFill>
              <a:srgbClr val="1E7A46"/>
            </a:solidFill>
            <a:prstDash val="solid"/>
            <a:tailEnd type="triangle"/>
          </a:ln>
        </p:spPr>
        <p:txBody>
          <a:bodyPr/>
          <a:lstStyle/>
          <a:p>
            <a:endParaRPr lang="en-US"/>
          </a:p>
        </p:txBody>
      </p:sp>
      <p:sp>
        <p:nvSpPr>
          <p:cNvPr id="14" name="Shape 12">
            <a:extLst>
              <a:ext uri="{FF2B5EF4-FFF2-40B4-BE49-F238E27FC236}">
                <a16:creationId xmlns:a16="http://schemas.microsoft.com/office/drawing/2014/main" id="{7CEAA961-9DA4-4217-9B51-03635719B40A}"/>
              </a:ext>
            </a:extLst>
          </p:cNvPr>
          <p:cNvSpPr>
            <a:spLocks noGrp="1"/>
          </p:cNvSpPr>
          <p:nvPr/>
        </p:nvSpPr>
        <p:spPr>
          <a:xfrm>
            <a:off x="3108960" y="2377440"/>
            <a:ext cx="914400" cy="1280160"/>
          </a:xfrm>
          <a:prstGeom prst="line">
            <a:avLst/>
          </a:prstGeom>
          <a:noFill/>
          <a:ln w="31750">
            <a:solidFill>
              <a:srgbClr val="A13A2F"/>
            </a:solidFill>
            <a:prstDash val="solid"/>
            <a:tailEnd type="triangle"/>
          </a:ln>
        </p:spPr>
        <p:txBody>
          <a:bodyPr/>
          <a:lstStyle/>
          <a:p>
            <a:endParaRPr lang="en-US"/>
          </a:p>
        </p:txBody>
      </p:sp>
      <p:sp>
        <p:nvSpPr>
          <p:cNvPr id="15" name="Shape 13">
            <a:extLst>
              <a:ext uri="{FF2B5EF4-FFF2-40B4-BE49-F238E27FC236}">
                <a16:creationId xmlns:a16="http://schemas.microsoft.com/office/drawing/2014/main" id="{0229A97E-84F6-45A2-BED7-8AC290CFFAFE}"/>
              </a:ext>
            </a:extLst>
          </p:cNvPr>
          <p:cNvSpPr>
            <a:spLocks noGrp="1"/>
          </p:cNvSpPr>
          <p:nvPr/>
        </p:nvSpPr>
        <p:spPr>
          <a:xfrm>
            <a:off x="1920240" y="4023360"/>
            <a:ext cx="1828800" cy="0"/>
          </a:xfrm>
          <a:prstGeom prst="line">
            <a:avLst/>
          </a:prstGeom>
          <a:noFill/>
          <a:ln w="31750">
            <a:solidFill>
              <a:srgbClr val="00274D"/>
            </a:solidFill>
            <a:prstDash val="solid"/>
            <a:tailEnd type="triangle"/>
          </a:ln>
        </p:spPr>
        <p:txBody>
          <a:bodyPr/>
          <a:lstStyle/>
          <a:p>
            <a:endParaRPr lang="en-US"/>
          </a:p>
        </p:txBody>
      </p:sp>
      <p:sp>
        <p:nvSpPr>
          <p:cNvPr id="16" name="Text 14">
            <a:extLst>
              <a:ext uri="{FF2B5EF4-FFF2-40B4-BE49-F238E27FC236}">
                <a16:creationId xmlns:a16="http://schemas.microsoft.com/office/drawing/2014/main" id="{429865C0-1C00-4C73-B3F5-361DA28DB0B9}"/>
              </a:ext>
            </a:extLst>
          </p:cNvPr>
          <p:cNvSpPr>
            <a:spLocks noGrp="1"/>
          </p:cNvSpPr>
          <p:nvPr/>
        </p:nvSpPr>
        <p:spPr>
          <a:xfrm>
            <a:off x="548640" y="4663440"/>
            <a:ext cx="4754880" cy="731520"/>
          </a:xfrm>
          <a:prstGeom prst="rect">
            <a:avLst/>
          </a:prstGeom>
          <a:noFill/>
        </p:spPr>
        <p:txBody>
          <a:bodyPr wrap="square" lIns="0" tIns="0" rIns="0" bIns="0" anchor="t"/>
          <a:lstStyle/>
          <a:p>
            <a:pPr marL="0" indent="0">
              <a:buNone/>
            </a:pPr>
            <a:r>
              <a:rPr sz="1500" i="1">
                <a:solidFill>
                  <a:srgbClr val="5B6178"/>
                </a:solidFill>
                <a:latin typeface="Calibri"/>
                <a:ea typeface="Calibri"/>
                <a:cs typeface="Calibri"/>
              </a:rPr>
              <a:t>U still affects Y, but it no longer affects who gets D.</a:t>
            </a:r>
            <a:endParaRPr sz="1500"/>
          </a:p>
        </p:txBody>
      </p:sp>
      <p:sp>
        <p:nvSpPr>
          <p:cNvPr id="17" name="Shape 15">
            <a:extLst>
              <a:ext uri="{FF2B5EF4-FFF2-40B4-BE49-F238E27FC236}">
                <a16:creationId xmlns:a16="http://schemas.microsoft.com/office/drawing/2014/main" id="{83A59527-DBA6-4DE7-AB53-279FA053ABA9}"/>
              </a:ext>
            </a:extLst>
          </p:cNvPr>
          <p:cNvSpPr>
            <a:spLocks noGrp="1"/>
          </p:cNvSpPr>
          <p:nvPr/>
        </p:nvSpPr>
        <p:spPr>
          <a:xfrm>
            <a:off x="5760720" y="1554480"/>
            <a:ext cx="5852160" cy="1280160"/>
          </a:xfrm>
          <a:prstGeom prst="roundRect">
            <a:avLst>
              <a:gd name="adj" fmla="val 7143"/>
            </a:avLst>
          </a:prstGeom>
          <a:solidFill>
            <a:srgbClr val="E8F5EC"/>
          </a:solidFill>
          <a:ln w="12700">
            <a:solidFill>
              <a:srgbClr val="E8F5EC"/>
            </a:solidFill>
            <a:prstDash val="solid"/>
          </a:ln>
        </p:spPr>
        <p:txBody>
          <a:bodyPr/>
          <a:lstStyle/>
          <a:p>
            <a:endParaRPr lang="en-US"/>
          </a:p>
        </p:txBody>
      </p:sp>
      <p:sp>
        <p:nvSpPr>
          <p:cNvPr id="18" name="Text 16">
            <a:extLst>
              <a:ext uri="{FF2B5EF4-FFF2-40B4-BE49-F238E27FC236}">
                <a16:creationId xmlns:a16="http://schemas.microsoft.com/office/drawing/2014/main" id="{861AB402-981A-4565-B6E6-58B14BA7DD78}"/>
              </a:ext>
            </a:extLst>
          </p:cNvPr>
          <p:cNvSpPr>
            <a:spLocks noGrp="1"/>
          </p:cNvSpPr>
          <p:nvPr/>
        </p:nvSpPr>
        <p:spPr>
          <a:xfrm>
            <a:off x="6035040" y="1554480"/>
            <a:ext cx="5303520" cy="1280160"/>
          </a:xfrm>
          <a:prstGeom prst="rect">
            <a:avLst/>
          </a:prstGeom>
          <a:noFill/>
        </p:spPr>
        <p:txBody>
          <a:bodyPr wrap="square" lIns="0" tIns="0" rIns="0" bIns="0" anchor="ctr"/>
          <a:lstStyle/>
          <a:p>
            <a:pPr marL="0" indent="0" algn="ctr">
              <a:buNone/>
            </a:pPr>
            <a:r>
              <a:rPr sz="3000" b="1">
                <a:solidFill>
                  <a:srgbClr val="1E7A46"/>
                </a:solidFill>
                <a:latin typeface="Cambria"/>
                <a:ea typeface="Cambria"/>
                <a:cs typeface="Cambria"/>
              </a:rPr>
              <a:t>D  ⟂  { Y(1), Y(0) }</a:t>
            </a:r>
            <a:endParaRPr sz="3000"/>
          </a:p>
        </p:txBody>
      </p:sp>
      <p:sp>
        <p:nvSpPr>
          <p:cNvPr id="19" name="Text 17">
            <a:extLst>
              <a:ext uri="{FF2B5EF4-FFF2-40B4-BE49-F238E27FC236}">
                <a16:creationId xmlns:a16="http://schemas.microsoft.com/office/drawing/2014/main" id="{BF1AD256-3896-4A47-8AEB-2B0F1D1C95E9}"/>
              </a:ext>
            </a:extLst>
          </p:cNvPr>
          <p:cNvSpPr>
            <a:spLocks noGrp="1"/>
          </p:cNvSpPr>
          <p:nvPr/>
        </p:nvSpPr>
        <p:spPr>
          <a:xfrm>
            <a:off x="5760720" y="3063240"/>
            <a:ext cx="5852160" cy="2468880"/>
          </a:xfrm>
          <a:prstGeom prst="rect">
            <a:avLst/>
          </a:prstGeom>
          <a:noFill/>
        </p:spPr>
        <p:txBody>
          <a:bodyPr wrap="square" lIns="0" tIns="0" rIns="0" bIns="0" anchor="t"/>
          <a:lstStyle/>
          <a:p>
            <a:pPr marL="342900" indent="-342900">
              <a:spcAft>
                <a:spcPts val="800"/>
              </a:spcAft>
              <a:buSzPct val="100000"/>
              <a:buChar char="•"/>
            </a:pPr>
            <a:r>
              <a:rPr sz="1700">
                <a:solidFill>
                  <a:srgbClr val="1A1A2E"/>
                </a:solidFill>
                <a:latin typeface="Calibri"/>
                <a:ea typeface="Calibri"/>
                <a:cs typeface="Calibri"/>
              </a:rPr>
              <a:t>Treatment is independent of potential outcomes, so E[Y(0) | D=1] = E[Y(0) | D=0]</a:t>
            </a:r>
            <a:endParaRPr sz="1700"/>
          </a:p>
          <a:p>
            <a:pPr marL="342900" indent="-342900">
              <a:spcAft>
                <a:spcPts val="800"/>
              </a:spcAft>
              <a:buSzPct val="100000"/>
              <a:buChar char="•"/>
            </a:pPr>
            <a:r>
              <a:rPr sz="1700">
                <a:solidFill>
                  <a:srgbClr val="1A1A2E"/>
                </a:solidFill>
                <a:latin typeface="Calibri"/>
                <a:ea typeface="Calibri"/>
                <a:cs typeface="Calibri"/>
              </a:rPr>
              <a:t>In the population, selection bias is zero and ATT = ATE</a:t>
            </a:r>
            <a:endParaRPr sz="1700"/>
          </a:p>
          <a:p>
            <a:pPr marL="342900" indent="-342900">
              <a:spcAft>
                <a:spcPts val="800"/>
              </a:spcAft>
              <a:buSzPct val="100000"/>
              <a:buChar char="•"/>
            </a:pPr>
            <a:r>
              <a:rPr sz="1700">
                <a:solidFill>
                  <a:srgbClr val="1A1A2E"/>
                </a:solidFill>
                <a:latin typeface="Calibri"/>
                <a:ea typeface="Calibri"/>
                <a:cs typeface="Calibri"/>
              </a:rPr>
              <a:t>A simple difference in means is unbiased for the ATE</a:t>
            </a:r>
            <a:endParaRPr sz="1700"/>
          </a:p>
          <a:p>
            <a:pPr marL="342900" indent="-342900">
              <a:spcAft>
                <a:spcPts val="800"/>
              </a:spcAft>
              <a:buSzPct val="100000"/>
              <a:buChar char="•"/>
            </a:pPr>
            <a:r>
              <a:rPr sz="1700">
                <a:solidFill>
                  <a:srgbClr val="1A1A2E"/>
                </a:solidFill>
                <a:latin typeface="Calibri"/>
                <a:ea typeface="Calibri"/>
                <a:cs typeface="Calibri"/>
              </a:rPr>
              <a:t>This covers measured and unmeasured confounders in expectation</a:t>
            </a:r>
            <a:endParaRPr sz="1700"/>
          </a:p>
        </p:txBody>
      </p:sp>
    </p:spTree>
    <p:extLst>
      <p:ext uri="{BB962C8B-B14F-4D97-AF65-F5344CB8AC3E}">
        <p14:creationId xmlns:p14="http://schemas.microsoft.com/office/powerpoint/2010/main" val="943181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662AB66-F706-4103-B7BD-A9FE234BB53C}"/>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A CRUCIAL QUALIFIER</a:t>
            </a:r>
            <a:endParaRPr sz="1200"/>
          </a:p>
        </p:txBody>
      </p:sp>
      <p:sp>
        <p:nvSpPr>
          <p:cNvPr id="3" name="Text 1">
            <a:extLst>
              <a:ext uri="{FF2B5EF4-FFF2-40B4-BE49-F238E27FC236}">
                <a16:creationId xmlns:a16="http://schemas.microsoft.com/office/drawing/2014/main" id="{E83F2056-D0BF-4DB5-B520-E631E7629239}"/>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Balanced in expectation, not in every sample</a:t>
            </a:r>
            <a:endParaRPr sz="3000"/>
          </a:p>
        </p:txBody>
      </p:sp>
      <p:sp>
        <p:nvSpPr>
          <p:cNvPr id="4" name="Text 2">
            <a:extLst>
              <a:ext uri="{FF2B5EF4-FFF2-40B4-BE49-F238E27FC236}">
                <a16:creationId xmlns:a16="http://schemas.microsoft.com/office/drawing/2014/main" id="{382F3AFE-D33C-40CB-84C1-AE76D3C70580}"/>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9</a:t>
            </a:r>
            <a:endParaRPr sz="1000"/>
          </a:p>
        </p:txBody>
      </p:sp>
      <p:graphicFrame>
        <p:nvGraphicFramePr>
          <p:cNvPr id="12" name="Chart 0"/>
          <p:cNvGraphicFramePr/>
          <p:nvPr/>
        </p:nvGraphicFramePr>
        <p:xfrm>
          <a:off x="548640" y="1463040"/>
          <a:ext cx="69494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a:extLst>
              <a:ext uri="{FF2B5EF4-FFF2-40B4-BE49-F238E27FC236}">
                <a16:creationId xmlns:a16="http://schemas.microsoft.com/office/drawing/2014/main" id="{16C16445-2FEA-4F0A-83D7-E19C2365DEF1}"/>
              </a:ext>
            </a:extLst>
          </p:cNvPr>
          <p:cNvSpPr>
            <a:spLocks noGrp="1"/>
          </p:cNvSpPr>
          <p:nvPr/>
        </p:nvSpPr>
        <p:spPr>
          <a:xfrm>
            <a:off x="7863840" y="1463040"/>
            <a:ext cx="3749040" cy="4114800"/>
          </a:xfrm>
          <a:prstGeom prst="roundRect">
            <a:avLst>
              <a:gd name="adj" fmla="val 2439"/>
            </a:avLst>
          </a:prstGeom>
          <a:solidFill>
            <a:srgbClr val="EEF3F8"/>
          </a:solidFill>
          <a:ln w="12700">
            <a:solidFill>
              <a:srgbClr val="EEF3F8"/>
            </a:solidFill>
            <a:prstDash val="solid"/>
          </a:ln>
        </p:spPr>
        <p:txBody>
          <a:bodyPr/>
          <a:lstStyle/>
          <a:p>
            <a:endParaRPr lang="en-US"/>
          </a:p>
        </p:txBody>
      </p:sp>
      <p:sp>
        <p:nvSpPr>
          <p:cNvPr id="7" name="Text 4">
            <a:extLst>
              <a:ext uri="{FF2B5EF4-FFF2-40B4-BE49-F238E27FC236}">
                <a16:creationId xmlns:a16="http://schemas.microsoft.com/office/drawing/2014/main" id="{E1864F6A-638D-4253-882A-7515D985BE2F}"/>
              </a:ext>
            </a:extLst>
          </p:cNvPr>
          <p:cNvSpPr>
            <a:spLocks noGrp="1"/>
          </p:cNvSpPr>
          <p:nvPr/>
        </p:nvSpPr>
        <p:spPr>
          <a:xfrm>
            <a:off x="8138160" y="1645920"/>
            <a:ext cx="3200400" cy="3749040"/>
          </a:xfrm>
          <a:prstGeom prst="rect">
            <a:avLst/>
          </a:prstGeom>
          <a:noFill/>
        </p:spPr>
        <p:txBody>
          <a:bodyPr wrap="square" lIns="0" tIns="0" rIns="0" bIns="0" anchor="t"/>
          <a:lstStyle/>
          <a:p>
            <a:pPr marL="0" indent="0">
              <a:buNone/>
            </a:pPr>
            <a:r>
              <a:rPr sz="1600" b="1">
                <a:solidFill>
                  <a:srgbClr val="1E7A46"/>
                </a:solidFill>
                <a:latin typeface="Calibri"/>
                <a:ea typeface="Calibri"/>
                <a:cs typeface="Calibri"/>
              </a:rPr>
              <a:t>Centered on zero: </a:t>
            </a:r>
            <a:r>
              <a:rPr sz="1600">
                <a:solidFill>
                  <a:srgbClr val="1A1A2E"/>
                </a:solidFill>
                <a:latin typeface="Calibri"/>
                <a:ea typeface="Calibri"/>
                <a:cs typeface="Calibri"/>
              </a:rPr>
              <a:t>on average, randomization balances age perfectly.</a:t>
            </a:r>
            <a:endParaRPr sz="1600"/>
          </a:p>
          <a:p>
            <a:pPr marL="0" indent="0">
              <a:buNone/>
            </a:pPr>
            <a:r>
              <a:rPr sz="800">
                <a:solidFill>
                  <a:srgbClr val="1A1A2E"/>
                </a:solidFill>
                <a:latin typeface="Calibri"/>
                <a:ea typeface="Calibri"/>
                <a:cs typeface="Calibri"/>
              </a:rPr>
              <a:t> </a:t>
            </a:r>
            <a:endParaRPr sz="1600"/>
          </a:p>
          <a:p>
            <a:pPr marL="0" indent="0">
              <a:buNone/>
            </a:pPr>
            <a:r>
              <a:rPr sz="1600" b="1">
                <a:solidFill>
                  <a:srgbClr val="A13A2F"/>
                </a:solidFill>
                <a:latin typeface="Calibri"/>
                <a:ea typeface="Calibri"/>
                <a:cs typeface="Calibri"/>
              </a:rPr>
              <a:t>But in 16% of draws, </a:t>
            </a:r>
            <a:r>
              <a:rPr sz="1600">
                <a:solidFill>
                  <a:srgbClr val="1A1A2E"/>
                </a:solidFill>
                <a:latin typeface="Calibri"/>
                <a:ea typeface="Calibri"/>
                <a:cs typeface="Calibri"/>
              </a:rPr>
              <a:t>the groups differ by more than 4 years.</a:t>
            </a:r>
            <a:endParaRPr sz="1600"/>
          </a:p>
          <a:p>
            <a:pPr marL="0" indent="0">
              <a:buNone/>
            </a:pPr>
            <a:r>
              <a:rPr sz="800">
                <a:solidFill>
                  <a:srgbClr val="1A1A2E"/>
                </a:solidFill>
                <a:latin typeface="Calibri"/>
                <a:ea typeface="Calibri"/>
                <a:cs typeface="Calibri"/>
              </a:rPr>
              <a:t> </a:t>
            </a:r>
            <a:endParaRPr sz="1600"/>
          </a:p>
          <a:p>
            <a:pPr marL="0" indent="0">
              <a:buNone/>
            </a:pPr>
            <a:r>
              <a:rPr sz="1600">
                <a:solidFill>
                  <a:srgbClr val="1A1A2E"/>
                </a:solidFill>
                <a:latin typeface="Calibri"/>
                <a:ea typeface="Calibri"/>
                <a:cs typeface="Calibri"/>
              </a:rPr>
              <a:t>Any single experiment is one draw. Chance imbalance is shrunk by larger samples and by blocking.</a:t>
            </a:r>
            <a:endParaRPr sz="1600"/>
          </a:p>
        </p:txBody>
      </p:sp>
    </p:spTree>
    <p:extLst>
      <p:ext uri="{BB962C8B-B14F-4D97-AF65-F5344CB8AC3E}">
        <p14:creationId xmlns:p14="http://schemas.microsoft.com/office/powerpoint/2010/main" val="1580897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5BD1355-0457-4F20-991A-210465B36738}"/>
              </a:ext>
            </a:extLst>
          </p:cNvPr>
          <p:cNvSpPr>
            <a:spLocks noGrp="1"/>
          </p:cNvSpPr>
          <p:nvPr/>
        </p:nvSpPr>
        <p:spPr>
          <a:xfrm>
            <a:off x="548640" y="320040"/>
            <a:ext cx="9525000" cy="320040"/>
          </a:xfrm>
          <a:prstGeom prst="rect">
            <a:avLst/>
          </a:prstGeom>
          <a:noFill/>
          <a:ln w="0">
            <a:noFill/>
          </a:ln>
        </p:spPr>
        <p:txBody>
          <a:bodyPr>
            <a:noAutofit/>
          </a:bodyPr>
          <a:lstStyle/>
          <a:p>
            <a:pPr>
              <a:defRPr sz="1200" b="1">
                <a:solidFill>
                  <a:srgbClr val="1B4F8C"/>
                </a:solidFill>
                <a:latin typeface="Calibri"/>
                <a:ea typeface="Calibri"/>
                <a:cs typeface="Calibri"/>
              </a:defRPr>
            </a:pPr>
            <a:r>
              <a:rPr sz="1200" b="1">
                <a:solidFill>
                  <a:srgbClr val="1B4F8C"/>
                </a:solidFill>
                <a:latin typeface="Calibri"/>
                <a:ea typeface="Calibri"/>
                <a:cs typeface="Calibri"/>
              </a:rPr>
              <a:t>ROSENBAUM</a:t>
            </a:r>
          </a:p>
        </p:txBody>
      </p:sp>
      <p:sp>
        <p:nvSpPr>
          <p:cNvPr id="2" name="Rectangle 1">
            <a:extLst>
              <a:ext uri="{FF2B5EF4-FFF2-40B4-BE49-F238E27FC236}">
                <a16:creationId xmlns:a16="http://schemas.microsoft.com/office/drawing/2014/main" id="{EAA863BA-7575-4321-BB48-BF41042A0F23}"/>
              </a:ext>
            </a:extLst>
          </p:cNvPr>
          <p:cNvSpPr>
            <a:spLocks noGrp="1"/>
          </p:cNvSpPr>
          <p:nvPr/>
        </p:nvSpPr>
        <p:spPr>
          <a:xfrm>
            <a:off x="548640" y="685800"/>
            <a:ext cx="11058525" cy="723900"/>
          </a:xfrm>
          <a:prstGeom prst="rect">
            <a:avLst/>
          </a:prstGeom>
          <a:noFill/>
          <a:ln w="0">
            <a:noFill/>
          </a:ln>
        </p:spPr>
        <p:txBody>
          <a:bodyPr>
            <a:noAutofit/>
          </a:bodyPr>
          <a:lstStyle/>
          <a:p>
            <a:pPr>
              <a:defRPr sz="3000" b="1">
                <a:solidFill>
                  <a:srgbClr val="00274D"/>
                </a:solidFill>
                <a:latin typeface="Cambria"/>
                <a:ea typeface="Cambria"/>
                <a:cs typeface="Cambria"/>
              </a:defRPr>
            </a:pPr>
            <a:r>
              <a:rPr sz="3000" b="1">
                <a:solidFill>
                  <a:srgbClr val="00274D"/>
                </a:solidFill>
                <a:latin typeface="Cambria"/>
                <a:ea typeface="Cambria"/>
                <a:cs typeface="Cambria"/>
              </a:rPr>
              <a:t>PALM: estimating an average treatment effect</a:t>
            </a:r>
          </a:p>
        </p:txBody>
      </p:sp>
      <p:sp>
        <p:nvSpPr>
          <p:cNvPr id="3" name="Rectangle 2">
            <a:extLst>
              <a:ext uri="{FF2B5EF4-FFF2-40B4-BE49-F238E27FC236}">
                <a16:creationId xmlns:a16="http://schemas.microsoft.com/office/drawing/2014/main" id="{CEF342B8-13EF-41B0-B21C-4FDE54EAA1E0}"/>
              </a:ext>
            </a:extLst>
          </p:cNvPr>
          <p:cNvSpPr>
            <a:spLocks noGrp="1"/>
          </p:cNvSpPr>
          <p:nvPr/>
        </p:nvSpPr>
        <p:spPr>
          <a:xfrm>
            <a:off x="548640" y="6038850"/>
            <a:ext cx="11058525" cy="285750"/>
          </a:xfrm>
          <a:prstGeom prst="rect">
            <a:avLst/>
          </a:prstGeom>
          <a:noFill/>
          <a:ln w="0">
            <a:noFill/>
          </a:ln>
        </p:spPr>
        <p:txBody>
          <a:bodyPr>
            <a:noAutofit/>
          </a:bodyPr>
          <a:lstStyle/>
          <a:p>
            <a:pPr>
              <a:defRPr sz="1275" b="0">
                <a:solidFill>
                  <a:srgbClr val="5B6178"/>
                </a:solidFill>
                <a:latin typeface="Calibri"/>
                <a:ea typeface="Calibri"/>
                <a:cs typeface="Calibri"/>
              </a:defRPr>
            </a:pPr>
            <a:r>
              <a:rPr sz="1275" b="0">
                <a:solidFill>
                  <a:srgbClr val="5B6178"/>
                </a:solidFill>
                <a:latin typeface="Calibri"/>
                <a:ea typeface="Calibri"/>
                <a:cs typeface="Calibri"/>
              </a:rPr>
              <a:t>Rosenbaum (2023), ch. 2, pp. 21–35. Simplified two-arm comparison</a:t>
            </a:r>
          </a:p>
        </p:txBody>
      </p:sp>
      <p:sp>
        <p:nvSpPr>
          <p:cNvPr id="4" name="Rectangle 3">
            <a:extLst>
              <a:ext uri="{FF2B5EF4-FFF2-40B4-BE49-F238E27FC236}">
                <a16:creationId xmlns:a16="http://schemas.microsoft.com/office/drawing/2014/main" id="{FB2FEAFD-A14D-4081-8CFE-AFF8BEBBAAF9}"/>
              </a:ext>
            </a:extLst>
          </p:cNvPr>
          <p:cNvSpPr>
            <a:spLocks noGrp="1"/>
          </p:cNvSpPr>
          <p:nvPr/>
        </p:nvSpPr>
        <p:spPr>
          <a:xfrm>
            <a:off x="548640" y="6400800"/>
            <a:ext cx="6667500" cy="276225"/>
          </a:xfrm>
          <a:prstGeom prst="rect">
            <a:avLst/>
          </a:prstGeom>
          <a:noFill/>
          <a:ln w="0">
            <a:noFill/>
          </a:ln>
        </p:spPr>
        <p:txBody>
          <a:bodyPr>
            <a:noAutofit/>
          </a:bodyPr>
          <a:lstStyle/>
          <a:p>
            <a:pPr>
              <a:defRPr sz="1000" b="0">
                <a:solidFill>
                  <a:srgbClr val="5B6178"/>
                </a:solidFill>
                <a:latin typeface="Calibri"/>
                <a:ea typeface="Calibri"/>
                <a:cs typeface="Calibri"/>
              </a:defRPr>
            </a:pPr>
            <a:r>
              <a:rPr sz="1000" b="0">
                <a:solidFill>
                  <a:srgbClr val="5B6178"/>
                </a:solidFill>
                <a:latin typeface="Calibri"/>
                <a:ea typeface="Calibri"/>
                <a:cs typeface="Calibri"/>
              </a:rPr>
              <a:t>Week 4 · Randomized Controlled Trials  |  10</a:t>
            </a:r>
          </a:p>
        </p:txBody>
      </p:sp>
      <p:sp>
        <p:nvSpPr>
          <p:cNvPr id="5" name="Rectangle 4">
            <a:extLst>
              <a:ext uri="{FF2B5EF4-FFF2-40B4-BE49-F238E27FC236}">
                <a16:creationId xmlns:a16="http://schemas.microsoft.com/office/drawing/2014/main" id="{E05282E0-AA78-4FD1-8993-B01C6C3F2D49}"/>
              </a:ext>
            </a:extLst>
          </p:cNvPr>
          <p:cNvSpPr>
            <a:spLocks noGrp="1"/>
          </p:cNvSpPr>
          <p:nvPr/>
        </p:nvSpPr>
        <p:spPr>
          <a:xfrm>
            <a:off x="571500" y="1562100"/>
            <a:ext cx="10668000" cy="476250"/>
          </a:xfrm>
          <a:prstGeom prst="rect">
            <a:avLst/>
          </a:prstGeom>
          <a:noFill/>
          <a:ln w="0">
            <a:noFill/>
          </a:ln>
        </p:spPr>
        <p:txBody>
          <a:bodyPr>
            <a:noAutofit/>
          </a:bodyPr>
          <a:lstStyle/>
          <a:p>
            <a:pPr>
              <a:defRPr sz="2175" b="0">
                <a:solidFill>
                  <a:srgbClr val="1A1A2E"/>
                </a:solidFill>
                <a:latin typeface="Calibri"/>
                <a:ea typeface="Calibri"/>
                <a:cs typeface="Calibri"/>
              </a:defRPr>
            </a:pPr>
            <a:r>
              <a:rPr sz="2175" b="0">
                <a:solidFill>
                  <a:srgbClr val="1A1A2E"/>
                </a:solidFill>
                <a:latin typeface="Calibri"/>
                <a:ea typeface="Calibri"/>
                <a:cs typeface="Calibri"/>
              </a:rPr>
              <a:t>Outcome: survival 28 days after treatment began</a:t>
            </a:r>
          </a:p>
        </p:txBody>
      </p:sp>
      <p:graphicFrame>
        <p:nvGraphicFramePr>
          <p:cNvPr id="14" name="Table 13"/>
          <p:cNvGraphicFramePr/>
          <p:nvPr/>
        </p:nvGraphicFramePr>
        <p:xfrm>
          <a:off x="571500" y="2266950"/>
          <a:ext cx="11049000" cy="1857375"/>
        </p:xfrm>
        <a:graphic>
          <a:graphicData uri="http://schemas.openxmlformats.org/drawingml/2006/table">
            <a:tbl>
              <a:tblPr/>
              <a:tblGrid>
                <a:gridCol w="44767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381250">
                  <a:extLst>
                    <a:ext uri="{9D8B030D-6E8A-4147-A177-3AD203B41FA5}">
                      <a16:colId xmlns:a16="http://schemas.microsoft.com/office/drawing/2014/main" val="20003"/>
                    </a:ext>
                  </a:extLst>
                </a:gridCol>
              </a:tblGrid>
              <a:tr h="619125">
                <a:tc>
                  <a:txBody>
                    <a:bodyPr/>
                    <a:lstStyle/>
                    <a:p>
                      <a:r>
                        <a:rPr sz="1800" b="1">
                          <a:solidFill>
                            <a:srgbClr val="FFFFFF"/>
                          </a:solidFill>
                          <a:latin typeface="Calibri"/>
                          <a:ea typeface="Calibri"/>
                          <a:cs typeface="Calibri"/>
                        </a:rPr>
                        <a:t>Assigned treatment</a:t>
                      </a:r>
                    </a:p>
                  </a:txBody>
                  <a:tcPr>
                    <a:solidFill>
                      <a:srgbClr val="00274D"/>
                    </a:solidFill>
                  </a:tcPr>
                </a:tc>
                <a:tc>
                  <a:txBody>
                    <a:bodyPr/>
                    <a:lstStyle/>
                    <a:p>
                      <a:r>
                        <a:rPr sz="1800" b="1">
                          <a:solidFill>
                            <a:srgbClr val="FFFFFF"/>
                          </a:solidFill>
                          <a:latin typeface="Calibri"/>
                          <a:ea typeface="Calibri"/>
                          <a:cs typeface="Calibri"/>
                        </a:rPr>
                        <a:t>Survived</a:t>
                      </a:r>
                    </a:p>
                  </a:txBody>
                  <a:tcPr>
                    <a:solidFill>
                      <a:srgbClr val="00274D"/>
                    </a:solidFill>
                  </a:tcPr>
                </a:tc>
                <a:tc>
                  <a:txBody>
                    <a:bodyPr/>
                    <a:lstStyle/>
                    <a:p>
                      <a:r>
                        <a:rPr sz="1800" b="1">
                          <a:solidFill>
                            <a:srgbClr val="FFFFFF"/>
                          </a:solidFill>
                          <a:latin typeface="Calibri"/>
                          <a:ea typeface="Calibri"/>
                          <a:cs typeface="Calibri"/>
                        </a:rPr>
                        <a:t>Total</a:t>
                      </a:r>
                    </a:p>
                  </a:txBody>
                  <a:tcPr>
                    <a:solidFill>
                      <a:srgbClr val="00274D"/>
                    </a:solidFill>
                  </a:tcPr>
                </a:tc>
                <a:tc>
                  <a:txBody>
                    <a:bodyPr/>
                    <a:lstStyle/>
                    <a:p>
                      <a:r>
                        <a:rPr sz="1800" b="1">
                          <a:solidFill>
                            <a:srgbClr val="FFFFFF"/>
                          </a:solidFill>
                          <a:latin typeface="Calibri"/>
                          <a:ea typeface="Calibri"/>
                          <a:cs typeface="Calibri"/>
                        </a:rPr>
                        <a:t>Survival</a:t>
                      </a:r>
                    </a:p>
                  </a:txBody>
                  <a:tcPr>
                    <a:solidFill>
                      <a:srgbClr val="00274D"/>
                    </a:solidFill>
                  </a:tcPr>
                </a:tc>
                <a:extLst>
                  <a:ext uri="{0D108BD9-81ED-4DB2-BD59-A6C34878D82A}">
                    <a16:rowId xmlns:a16="http://schemas.microsoft.com/office/drawing/2014/main" val="10000"/>
                  </a:ext>
                </a:extLst>
              </a:tr>
              <a:tr h="619125">
                <a:tc>
                  <a:txBody>
                    <a:bodyPr/>
                    <a:lstStyle/>
                    <a:p>
                      <a:r>
                        <a:rPr sz="1800" b="0">
                          <a:solidFill>
                            <a:srgbClr val="1A1A2E"/>
                          </a:solidFill>
                          <a:latin typeface="Calibri"/>
                          <a:ea typeface="Calibri"/>
                          <a:cs typeface="Calibri"/>
                        </a:rPr>
                        <a:t>mAb114</a:t>
                      </a:r>
                    </a:p>
                  </a:txBody>
                  <a:tcPr>
                    <a:solidFill>
                      <a:srgbClr val="F0F4F8"/>
                    </a:solidFill>
                  </a:tcPr>
                </a:tc>
                <a:tc>
                  <a:txBody>
                    <a:bodyPr/>
                    <a:lstStyle/>
                    <a:p>
                      <a:r>
                        <a:rPr sz="1800" b="0">
                          <a:solidFill>
                            <a:srgbClr val="1A1A2E"/>
                          </a:solidFill>
                          <a:latin typeface="Calibri"/>
                          <a:ea typeface="Calibri"/>
                          <a:cs typeface="Calibri"/>
                        </a:rPr>
                        <a:t>113</a:t>
                      </a:r>
                    </a:p>
                  </a:txBody>
                  <a:tcPr>
                    <a:solidFill>
                      <a:srgbClr val="F0F4F8"/>
                    </a:solidFill>
                  </a:tcPr>
                </a:tc>
                <a:tc>
                  <a:txBody>
                    <a:bodyPr/>
                    <a:lstStyle/>
                    <a:p>
                      <a:r>
                        <a:rPr sz="1800" b="0">
                          <a:solidFill>
                            <a:srgbClr val="1A1A2E"/>
                          </a:solidFill>
                          <a:latin typeface="Calibri"/>
                          <a:ea typeface="Calibri"/>
                          <a:cs typeface="Calibri"/>
                        </a:rPr>
                        <a:t>174</a:t>
                      </a:r>
                    </a:p>
                  </a:txBody>
                  <a:tcPr>
                    <a:solidFill>
                      <a:srgbClr val="F0F4F8"/>
                    </a:solidFill>
                  </a:tcPr>
                </a:tc>
                <a:tc>
                  <a:txBody>
                    <a:bodyPr/>
                    <a:lstStyle/>
                    <a:p>
                      <a:r>
                        <a:rPr sz="1800" b="0">
                          <a:solidFill>
                            <a:srgbClr val="1A1A2E"/>
                          </a:solidFill>
                          <a:latin typeface="Calibri"/>
                          <a:ea typeface="Calibri"/>
                          <a:cs typeface="Calibri"/>
                        </a:rPr>
                        <a:t>64.9%</a:t>
                      </a:r>
                    </a:p>
                  </a:txBody>
                  <a:tcPr>
                    <a:solidFill>
                      <a:srgbClr val="F0F4F8"/>
                    </a:solidFill>
                  </a:tcPr>
                </a:tc>
                <a:extLst>
                  <a:ext uri="{0D108BD9-81ED-4DB2-BD59-A6C34878D82A}">
                    <a16:rowId xmlns:a16="http://schemas.microsoft.com/office/drawing/2014/main" val="10001"/>
                  </a:ext>
                </a:extLst>
              </a:tr>
              <a:tr h="619125">
                <a:tc>
                  <a:txBody>
                    <a:bodyPr/>
                    <a:lstStyle/>
                    <a:p>
                      <a:r>
                        <a:rPr sz="1800" b="0">
                          <a:solidFill>
                            <a:srgbClr val="1A1A2E"/>
                          </a:solidFill>
                          <a:latin typeface="Calibri"/>
                          <a:ea typeface="Calibri"/>
                          <a:cs typeface="Calibri"/>
                        </a:rPr>
                        <a:t>ZMapp</a:t>
                      </a:r>
                    </a:p>
                  </a:txBody>
                  <a:tcPr>
                    <a:solidFill>
                      <a:srgbClr val="FFFFFF"/>
                    </a:solidFill>
                  </a:tcPr>
                </a:tc>
                <a:tc>
                  <a:txBody>
                    <a:bodyPr/>
                    <a:lstStyle/>
                    <a:p>
                      <a:r>
                        <a:rPr sz="1800" b="0">
                          <a:solidFill>
                            <a:srgbClr val="1A1A2E"/>
                          </a:solidFill>
                          <a:latin typeface="Calibri"/>
                          <a:ea typeface="Calibri"/>
                          <a:cs typeface="Calibri"/>
                        </a:rPr>
                        <a:t>85</a:t>
                      </a:r>
                    </a:p>
                  </a:txBody>
                  <a:tcPr>
                    <a:solidFill>
                      <a:srgbClr val="FFFFFF"/>
                    </a:solidFill>
                  </a:tcPr>
                </a:tc>
                <a:tc>
                  <a:txBody>
                    <a:bodyPr/>
                    <a:lstStyle/>
                    <a:p>
                      <a:r>
                        <a:rPr sz="1800" b="0">
                          <a:solidFill>
                            <a:srgbClr val="1A1A2E"/>
                          </a:solidFill>
                          <a:latin typeface="Calibri"/>
                          <a:ea typeface="Calibri"/>
                          <a:cs typeface="Calibri"/>
                        </a:rPr>
                        <a:t>169</a:t>
                      </a:r>
                    </a:p>
                  </a:txBody>
                  <a:tcPr>
                    <a:solidFill>
                      <a:srgbClr val="FFFFFF"/>
                    </a:solidFill>
                  </a:tcPr>
                </a:tc>
                <a:tc>
                  <a:txBody>
                    <a:bodyPr/>
                    <a:lstStyle/>
                    <a:p>
                      <a:r>
                        <a:rPr sz="1800" b="0">
                          <a:solidFill>
                            <a:srgbClr val="1A1A2E"/>
                          </a:solidFill>
                          <a:latin typeface="Calibri"/>
                          <a:ea typeface="Calibri"/>
                          <a:cs typeface="Calibri"/>
                        </a:rPr>
                        <a:t>50.3%</a:t>
                      </a:r>
                    </a:p>
                  </a:txBody>
                  <a:tcPr>
                    <a:solidFill>
                      <a:srgbClr val="FFFFFF"/>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5E77261D-773F-4F3C-AA18-D2AA03E087AB}"/>
              </a:ext>
            </a:extLst>
          </p:cNvPr>
          <p:cNvSpPr>
            <a:spLocks noGrp="1"/>
          </p:cNvSpPr>
          <p:nvPr/>
        </p:nvSpPr>
        <p:spPr>
          <a:xfrm>
            <a:off x="571500" y="4524375"/>
            <a:ext cx="11049000" cy="647700"/>
          </a:xfrm>
          <a:prstGeom prst="rect">
            <a:avLst/>
          </a:prstGeom>
          <a:noFill/>
          <a:ln w="0">
            <a:noFill/>
          </a:ln>
        </p:spPr>
        <p:txBody>
          <a:bodyPr>
            <a:noAutofit/>
          </a:bodyPr>
          <a:lstStyle/>
          <a:p>
            <a:pPr>
              <a:defRPr sz="2550" b="1">
                <a:solidFill>
                  <a:srgbClr val="1E7A46"/>
                </a:solidFill>
                <a:latin typeface="Calibri"/>
                <a:ea typeface="Calibri"/>
                <a:cs typeface="Calibri"/>
              </a:defRPr>
            </a:pPr>
            <a:r>
              <a:rPr sz="2550" b="1">
                <a:solidFill>
                  <a:srgbClr val="1E7A46"/>
                </a:solidFill>
                <a:latin typeface="Calibri"/>
                <a:ea typeface="Calibri"/>
                <a:cs typeface="Calibri"/>
              </a:rPr>
              <a:t>Estimated effect: 64.9% − 50.3% = 14.6 percentage points</a:t>
            </a:r>
          </a:p>
        </p:txBody>
      </p:sp>
      <p:sp>
        <p:nvSpPr>
          <p:cNvPr id="8" name="Rectangle 7">
            <a:extLst>
              <a:ext uri="{FF2B5EF4-FFF2-40B4-BE49-F238E27FC236}">
                <a16:creationId xmlns:a16="http://schemas.microsoft.com/office/drawing/2014/main" id="{F6382CF5-36B9-4EFF-B622-B65D381874C3}"/>
              </a:ext>
            </a:extLst>
          </p:cNvPr>
          <p:cNvSpPr>
            <a:spLocks noGrp="1"/>
          </p:cNvSpPr>
          <p:nvPr/>
        </p:nvSpPr>
        <p:spPr>
          <a:xfrm>
            <a:off x="571500" y="5257800"/>
            <a:ext cx="10953750" cy="704850"/>
          </a:xfrm>
          <a:prstGeom prst="rect">
            <a:avLst/>
          </a:prstGeom>
          <a:noFill/>
          <a:ln w="0">
            <a:noFill/>
          </a:ln>
        </p:spPr>
        <p:txBody>
          <a:bodyPr>
            <a:noAutofit/>
          </a:bodyPr>
          <a:lstStyle/>
          <a:p>
            <a:pPr>
              <a:defRPr sz="2025" b="0">
                <a:solidFill>
                  <a:srgbClr val="1A1A2E"/>
                </a:solidFill>
                <a:latin typeface="Calibri"/>
                <a:ea typeface="Calibri"/>
                <a:cs typeface="Calibri"/>
              </a:defRPr>
            </a:pPr>
            <a:r>
              <a:rPr sz="2025" b="0">
                <a:solidFill>
                  <a:srgbClr val="1A1A2E"/>
                </a:solidFill>
                <a:latin typeface="Calibri"/>
                <a:ea typeface="Calibri"/>
                <a:cs typeface="Calibri"/>
              </a:rPr>
              <a:t>Random assignment makes each arm informative about its treatment’s</a:t>
            </a:r>
          </a:p>
          <a:p>
            <a:pPr>
              <a:defRPr sz="2025" b="0">
                <a:solidFill>
                  <a:srgbClr val="1A1A2E"/>
                </a:solidFill>
                <a:latin typeface="Calibri"/>
                <a:ea typeface="Calibri"/>
                <a:cs typeface="Calibri"/>
              </a:defRPr>
            </a:pPr>
            <a:r>
              <a:rPr sz="2025" b="0">
                <a:solidFill>
                  <a:srgbClr val="1A1A2E"/>
                </a:solidFill>
                <a:latin typeface="Calibri"/>
                <a:ea typeface="Calibri"/>
                <a:cs typeface="Calibri"/>
              </a:rPr>
              <a:t>potential outcomes across the trial participants.</a:t>
            </a:r>
          </a:p>
        </p:txBody>
      </p:sp>
    </p:spTree>
    <p:extLst>
      <p:ext uri="{BB962C8B-B14F-4D97-AF65-F5344CB8AC3E}">
        <p14:creationId xmlns:p14="http://schemas.microsoft.com/office/powerpoint/2010/main" val="702485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736EB4-FD31-4CA7-A114-DCA97FA7ACE5}"/>
              </a:ext>
            </a:extLst>
          </p:cNvPr>
          <p:cNvSpPr>
            <a:spLocks noGrp="1"/>
          </p:cNvSpPr>
          <p:nvPr/>
        </p:nvSpPr>
        <p:spPr>
          <a:xfrm>
            <a:off x="548640" y="320040"/>
            <a:ext cx="9525000" cy="320040"/>
          </a:xfrm>
          <a:prstGeom prst="rect">
            <a:avLst/>
          </a:prstGeom>
          <a:noFill/>
          <a:ln w="0">
            <a:noFill/>
          </a:ln>
        </p:spPr>
        <p:txBody>
          <a:bodyPr>
            <a:noAutofit/>
          </a:bodyPr>
          <a:lstStyle/>
          <a:p>
            <a:pPr>
              <a:defRPr sz="1200" b="1">
                <a:solidFill>
                  <a:srgbClr val="1B4F8C"/>
                </a:solidFill>
                <a:latin typeface="Calibri"/>
                <a:ea typeface="Calibri"/>
                <a:cs typeface="Calibri"/>
              </a:defRPr>
            </a:pPr>
            <a:r>
              <a:rPr sz="1200" b="1">
                <a:solidFill>
                  <a:srgbClr val="1B4F8C"/>
                </a:solidFill>
                <a:latin typeface="Calibri"/>
                <a:ea typeface="Calibri"/>
                <a:cs typeface="Calibri"/>
              </a:rPr>
              <a:t>ROSENBAUM</a:t>
            </a:r>
          </a:p>
        </p:txBody>
      </p:sp>
      <p:sp>
        <p:nvSpPr>
          <p:cNvPr id="2" name="Rectangle 1">
            <a:extLst>
              <a:ext uri="{FF2B5EF4-FFF2-40B4-BE49-F238E27FC236}">
                <a16:creationId xmlns:a16="http://schemas.microsoft.com/office/drawing/2014/main" id="{153E0612-F5CC-481F-8D32-71692D80A76E}"/>
              </a:ext>
            </a:extLst>
          </p:cNvPr>
          <p:cNvSpPr>
            <a:spLocks noGrp="1"/>
          </p:cNvSpPr>
          <p:nvPr/>
        </p:nvSpPr>
        <p:spPr>
          <a:xfrm>
            <a:off x="548640" y="685800"/>
            <a:ext cx="11058525" cy="723900"/>
          </a:xfrm>
          <a:prstGeom prst="rect">
            <a:avLst/>
          </a:prstGeom>
          <a:noFill/>
          <a:ln w="0">
            <a:noFill/>
          </a:ln>
        </p:spPr>
        <p:txBody>
          <a:bodyPr>
            <a:noAutofit/>
          </a:bodyPr>
          <a:lstStyle/>
          <a:p>
            <a:pPr>
              <a:defRPr sz="3000" b="1">
                <a:solidFill>
                  <a:srgbClr val="00274D"/>
                </a:solidFill>
                <a:latin typeface="Cambria"/>
                <a:ea typeface="Cambria"/>
                <a:cs typeface="Cambria"/>
              </a:defRPr>
            </a:pPr>
            <a:r>
              <a:rPr sz="3000" b="1">
                <a:solidFill>
                  <a:srgbClr val="00274D"/>
                </a:solidFill>
                <a:latin typeface="Cambria"/>
                <a:ea typeface="Cambria"/>
                <a:cs typeface="Cambria"/>
              </a:rPr>
              <a:t>Fisher’s sharp null and randomization inference</a:t>
            </a:r>
          </a:p>
        </p:txBody>
      </p:sp>
      <p:sp>
        <p:nvSpPr>
          <p:cNvPr id="3" name="Rectangle 2">
            <a:extLst>
              <a:ext uri="{FF2B5EF4-FFF2-40B4-BE49-F238E27FC236}">
                <a16:creationId xmlns:a16="http://schemas.microsoft.com/office/drawing/2014/main" id="{FA4A59E3-463B-4972-B2E4-89061A33DF98}"/>
              </a:ext>
            </a:extLst>
          </p:cNvPr>
          <p:cNvSpPr>
            <a:spLocks noGrp="1"/>
          </p:cNvSpPr>
          <p:nvPr/>
        </p:nvSpPr>
        <p:spPr>
          <a:xfrm>
            <a:off x="548640" y="6038850"/>
            <a:ext cx="11058525" cy="285750"/>
          </a:xfrm>
          <a:prstGeom prst="rect">
            <a:avLst/>
          </a:prstGeom>
          <a:noFill/>
          <a:ln w="0">
            <a:noFill/>
          </a:ln>
        </p:spPr>
        <p:txBody>
          <a:bodyPr>
            <a:noAutofit/>
          </a:bodyPr>
          <a:lstStyle/>
          <a:p>
            <a:pPr>
              <a:defRPr sz="1275" b="0">
                <a:solidFill>
                  <a:srgbClr val="5B6178"/>
                </a:solidFill>
                <a:latin typeface="Calibri"/>
                <a:ea typeface="Calibri"/>
                <a:cs typeface="Calibri"/>
              </a:defRPr>
            </a:pPr>
            <a:r>
              <a:rPr sz="1275" b="0">
                <a:solidFill>
                  <a:srgbClr val="5B6178"/>
                </a:solidFill>
                <a:latin typeface="Calibri"/>
                <a:ea typeface="Calibri"/>
                <a:cs typeface="Calibri"/>
              </a:rPr>
              <a:t>Rosenbaum (2023), ch. 2, pp. 37–41</a:t>
            </a:r>
          </a:p>
        </p:txBody>
      </p:sp>
      <p:sp>
        <p:nvSpPr>
          <p:cNvPr id="4" name="Rectangle 3">
            <a:extLst>
              <a:ext uri="{FF2B5EF4-FFF2-40B4-BE49-F238E27FC236}">
                <a16:creationId xmlns:a16="http://schemas.microsoft.com/office/drawing/2014/main" id="{44B651DF-5F3C-4868-9F5B-806D6D93633E}"/>
              </a:ext>
            </a:extLst>
          </p:cNvPr>
          <p:cNvSpPr>
            <a:spLocks noGrp="1"/>
          </p:cNvSpPr>
          <p:nvPr/>
        </p:nvSpPr>
        <p:spPr>
          <a:xfrm>
            <a:off x="548640" y="6400800"/>
            <a:ext cx="6667500" cy="276225"/>
          </a:xfrm>
          <a:prstGeom prst="rect">
            <a:avLst/>
          </a:prstGeom>
          <a:noFill/>
          <a:ln w="0">
            <a:noFill/>
          </a:ln>
        </p:spPr>
        <p:txBody>
          <a:bodyPr>
            <a:noAutofit/>
          </a:bodyPr>
          <a:lstStyle/>
          <a:p>
            <a:pPr>
              <a:defRPr sz="1000" b="0">
                <a:solidFill>
                  <a:srgbClr val="5B6178"/>
                </a:solidFill>
                <a:latin typeface="Calibri"/>
                <a:ea typeface="Calibri"/>
                <a:cs typeface="Calibri"/>
              </a:defRPr>
            </a:pPr>
            <a:r>
              <a:rPr sz="1000" b="0">
                <a:solidFill>
                  <a:srgbClr val="5B6178"/>
                </a:solidFill>
                <a:latin typeface="Calibri"/>
                <a:ea typeface="Calibri"/>
                <a:cs typeface="Calibri"/>
              </a:rPr>
              <a:t>Week 4 · Randomized Controlled Trials  |  11</a:t>
            </a:r>
          </a:p>
        </p:txBody>
      </p:sp>
      <p:sp>
        <p:nvSpPr>
          <p:cNvPr id="5" name="Rectangle 4">
            <a:extLst>
              <a:ext uri="{FF2B5EF4-FFF2-40B4-BE49-F238E27FC236}">
                <a16:creationId xmlns:a16="http://schemas.microsoft.com/office/drawing/2014/main" id="{BC4F9960-30AC-4035-A8EA-6017D787CB6F}"/>
              </a:ext>
            </a:extLst>
          </p:cNvPr>
          <p:cNvSpPr>
            <a:spLocks noGrp="1"/>
          </p:cNvSpPr>
          <p:nvPr/>
        </p:nvSpPr>
        <p:spPr>
          <a:xfrm>
            <a:off x="571500" y="1657350"/>
            <a:ext cx="11049000" cy="619125"/>
          </a:xfrm>
          <a:prstGeom prst="rect">
            <a:avLst/>
          </a:prstGeom>
          <a:noFill/>
          <a:ln w="0">
            <a:noFill/>
          </a:ln>
        </p:spPr>
        <p:txBody>
          <a:bodyPr>
            <a:noAutofit/>
          </a:bodyPr>
          <a:lstStyle/>
          <a:p>
            <a:pPr>
              <a:defRPr sz="2625" b="1">
                <a:solidFill>
                  <a:srgbClr val="00274D"/>
                </a:solidFill>
                <a:latin typeface="Calibri"/>
                <a:ea typeface="Calibri"/>
                <a:cs typeface="Calibri"/>
              </a:defRPr>
            </a:pPr>
            <a:r>
              <a:rPr sz="2625" b="1">
                <a:solidFill>
                  <a:srgbClr val="00274D"/>
                </a:solidFill>
                <a:latin typeface="Calibri"/>
                <a:ea typeface="Calibri"/>
                <a:cs typeface="Calibri"/>
              </a:rPr>
              <a:t>Sharp null: Yᵢ(1) = Yᵢ(0) for every person i</a:t>
            </a:r>
          </a:p>
        </p:txBody>
      </p:sp>
      <p:sp>
        <p:nvSpPr>
          <p:cNvPr id="6" name="Rectangle 5">
            <a:extLst>
              <a:ext uri="{FF2B5EF4-FFF2-40B4-BE49-F238E27FC236}">
                <a16:creationId xmlns:a16="http://schemas.microsoft.com/office/drawing/2014/main" id="{16288B63-0DBF-403E-A01D-52D2958BFD3B}"/>
              </a:ext>
            </a:extLst>
          </p:cNvPr>
          <p:cNvSpPr>
            <a:spLocks noGrp="1"/>
          </p:cNvSpPr>
          <p:nvPr/>
        </p:nvSpPr>
        <p:spPr>
          <a:xfrm>
            <a:off x="571500" y="2447925"/>
            <a:ext cx="11049000" cy="838200"/>
          </a:xfrm>
          <a:prstGeom prst="rect">
            <a:avLst/>
          </a:prstGeom>
          <a:noFill/>
          <a:ln w="0">
            <a:noFill/>
          </a:ln>
        </p:spPr>
        <p:txBody>
          <a:bodyPr>
            <a:noAutofit/>
          </a:bodyPr>
          <a:lstStyle/>
          <a:p>
            <a:pPr>
              <a:defRPr sz="2175" b="0">
                <a:solidFill>
                  <a:srgbClr val="1A1A2E"/>
                </a:solidFill>
                <a:latin typeface="Calibri"/>
                <a:ea typeface="Calibri"/>
                <a:cs typeface="Calibri"/>
              </a:defRPr>
            </a:pPr>
            <a:r>
              <a:rPr sz="2175" b="0">
                <a:solidFill>
                  <a:srgbClr val="1A1A2E"/>
                </a:solidFill>
                <a:latin typeface="Calibri"/>
                <a:ea typeface="Calibri"/>
                <a:cs typeface="Calibri"/>
              </a:rPr>
              <a:t>Under this null, each observed outcome would remain the same</a:t>
            </a:r>
          </a:p>
          <a:p>
            <a:pPr>
              <a:defRPr sz="2175" b="0">
                <a:solidFill>
                  <a:srgbClr val="1A1A2E"/>
                </a:solidFill>
                <a:latin typeface="Calibri"/>
                <a:ea typeface="Calibri"/>
                <a:cs typeface="Calibri"/>
              </a:defRPr>
            </a:pPr>
            <a:r>
              <a:rPr sz="2175" b="0">
                <a:solidFill>
                  <a:srgbClr val="1A1A2E"/>
                </a:solidFill>
                <a:latin typeface="Calibri"/>
                <a:ea typeface="Calibri"/>
                <a:cs typeface="Calibri"/>
              </a:rPr>
              <a:t>under every assignment allowed by the experiment.</a:t>
            </a:r>
          </a:p>
        </p:txBody>
      </p:sp>
      <p:sp>
        <p:nvSpPr>
          <p:cNvPr id="7" name="Rectangle 6">
            <a:extLst>
              <a:ext uri="{FF2B5EF4-FFF2-40B4-BE49-F238E27FC236}">
                <a16:creationId xmlns:a16="http://schemas.microsoft.com/office/drawing/2014/main" id="{C88DDE0E-1148-48D9-9CC7-C4C30B2CC392}"/>
              </a:ext>
            </a:extLst>
          </p:cNvPr>
          <p:cNvSpPr>
            <a:spLocks noGrp="1"/>
          </p:cNvSpPr>
          <p:nvPr/>
        </p:nvSpPr>
        <p:spPr>
          <a:xfrm>
            <a:off x="571500" y="3600450"/>
            <a:ext cx="11049000" cy="1476375"/>
          </a:xfrm>
          <a:prstGeom prst="rect">
            <a:avLst/>
          </a:prstGeom>
          <a:noFill/>
          <a:ln w="0">
            <a:noFill/>
          </a:ln>
        </p:spPr>
        <p:txBody>
          <a:bodyPr>
            <a:noAutofit/>
          </a:bodyPr>
          <a:lstStyle/>
          <a:p>
            <a:pPr>
              <a:defRPr sz="2100" b="0">
                <a:solidFill>
                  <a:srgbClr val="1A1A2E"/>
                </a:solidFill>
                <a:latin typeface="Calibri"/>
                <a:ea typeface="Calibri"/>
                <a:cs typeface="Calibri"/>
              </a:defRPr>
            </a:pPr>
            <a:r>
              <a:rPr sz="2100" b="0">
                <a:solidFill>
                  <a:srgbClr val="1A1A2E"/>
                </a:solidFill>
                <a:latin typeface="Calibri"/>
                <a:ea typeface="Calibri"/>
                <a:cs typeface="Calibri"/>
              </a:rPr>
              <a:t>1. Hold outcomes fixed and reassign treatment using the original design.</a:t>
            </a:r>
          </a:p>
          <a:p>
            <a:pPr>
              <a:defRPr sz="2100" b="0">
                <a:solidFill>
                  <a:srgbClr val="1A1A2E"/>
                </a:solidFill>
                <a:latin typeface="Calibri"/>
                <a:ea typeface="Calibri"/>
                <a:cs typeface="Calibri"/>
              </a:defRPr>
            </a:pPr>
            <a:r>
              <a:rPr sz="2100" b="0">
                <a:solidFill>
                  <a:srgbClr val="1A1A2E"/>
                </a:solidFill>
                <a:latin typeface="Calibri"/>
                <a:ea typeface="Calibri"/>
                <a:cs typeface="Calibri"/>
              </a:rPr>
              <a:t>2. Recalculate the treated-minus-control difference each time.</a:t>
            </a:r>
          </a:p>
          <a:p>
            <a:pPr>
              <a:defRPr sz="2100" b="0">
                <a:solidFill>
                  <a:srgbClr val="1A1A2E"/>
                </a:solidFill>
                <a:latin typeface="Calibri"/>
                <a:ea typeface="Calibri"/>
                <a:cs typeface="Calibri"/>
              </a:defRPr>
            </a:pPr>
            <a:r>
              <a:rPr sz="2100" b="0">
                <a:solidFill>
                  <a:srgbClr val="1A1A2E"/>
                </a:solidFill>
                <a:latin typeface="Calibri"/>
                <a:ea typeface="Calibri"/>
                <a:cs typeface="Calibri"/>
              </a:rPr>
              <a:t>3. Compare the observed difference with this randomization distribution.</a:t>
            </a:r>
          </a:p>
        </p:txBody>
      </p:sp>
      <p:sp>
        <p:nvSpPr>
          <p:cNvPr id="8" name="Rectangle 7">
            <a:extLst>
              <a:ext uri="{FF2B5EF4-FFF2-40B4-BE49-F238E27FC236}">
                <a16:creationId xmlns:a16="http://schemas.microsoft.com/office/drawing/2014/main" id="{707BBD49-DEA4-4C87-9219-AD46854C1DB1}"/>
              </a:ext>
            </a:extLst>
          </p:cNvPr>
          <p:cNvSpPr>
            <a:spLocks noGrp="1"/>
          </p:cNvSpPr>
          <p:nvPr/>
        </p:nvSpPr>
        <p:spPr>
          <a:xfrm>
            <a:off x="571500" y="5362575"/>
            <a:ext cx="11049000" cy="590550"/>
          </a:xfrm>
          <a:prstGeom prst="rect">
            <a:avLst/>
          </a:prstGeom>
          <a:noFill/>
          <a:ln w="0">
            <a:noFill/>
          </a:ln>
        </p:spPr>
        <p:txBody>
          <a:bodyPr>
            <a:noAutofit/>
          </a:bodyPr>
          <a:lstStyle/>
          <a:p>
            <a:pPr>
              <a:defRPr sz="2025" b="1">
                <a:solidFill>
                  <a:srgbClr val="1B4F8C"/>
                </a:solidFill>
                <a:latin typeface="Calibri"/>
                <a:ea typeface="Calibri"/>
                <a:cs typeface="Calibri"/>
              </a:defRPr>
            </a:pPr>
            <a:r>
              <a:rPr sz="2025" b="1">
                <a:solidFill>
                  <a:srgbClr val="1B4F8C"/>
                </a:solidFill>
                <a:latin typeface="Calibri"/>
                <a:ea typeface="Calibri"/>
                <a:cs typeface="Calibri"/>
              </a:rPr>
              <a:t>ATE = 0 is weaker: positive and negative individual effects can cancel.</a:t>
            </a:r>
          </a:p>
        </p:txBody>
      </p:sp>
    </p:spTree>
    <p:extLst>
      <p:ext uri="{BB962C8B-B14F-4D97-AF65-F5344CB8AC3E}">
        <p14:creationId xmlns:p14="http://schemas.microsoft.com/office/powerpoint/2010/main" val="1481891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986894E-9B9B-4176-88CB-36099285B259}"/>
              </a:ext>
            </a:extLst>
          </p:cNvPr>
          <p:cNvSpPr>
            <a:spLocks noGrp="1"/>
          </p:cNvSpPr>
          <p:nvPr/>
        </p:nvSpPr>
        <p:spPr>
          <a:xfrm>
            <a:off x="548640" y="320040"/>
            <a:ext cx="9525000" cy="320040"/>
          </a:xfrm>
          <a:prstGeom prst="rect">
            <a:avLst/>
          </a:prstGeom>
          <a:noFill/>
          <a:ln w="0">
            <a:noFill/>
          </a:ln>
        </p:spPr>
        <p:txBody>
          <a:bodyPr>
            <a:noAutofit/>
          </a:bodyPr>
          <a:lstStyle/>
          <a:p>
            <a:pPr>
              <a:defRPr sz="1200" b="1">
                <a:solidFill>
                  <a:srgbClr val="1B4F8C"/>
                </a:solidFill>
                <a:latin typeface="Calibri"/>
                <a:ea typeface="Calibri"/>
                <a:cs typeface="Calibri"/>
              </a:defRPr>
            </a:pPr>
            <a:r>
              <a:rPr sz="1200" b="1">
                <a:solidFill>
                  <a:srgbClr val="1B4F8C"/>
                </a:solidFill>
                <a:latin typeface="Calibri"/>
                <a:ea typeface="Calibri"/>
                <a:cs typeface="Calibri"/>
              </a:rPr>
              <a:t>ROSENBAUM</a:t>
            </a:r>
          </a:p>
        </p:txBody>
      </p:sp>
      <p:sp>
        <p:nvSpPr>
          <p:cNvPr id="2" name="Rectangle 1">
            <a:extLst>
              <a:ext uri="{FF2B5EF4-FFF2-40B4-BE49-F238E27FC236}">
                <a16:creationId xmlns:a16="http://schemas.microsoft.com/office/drawing/2014/main" id="{1513136F-7F7F-412D-B49A-F44CF62E3110}"/>
              </a:ext>
            </a:extLst>
          </p:cNvPr>
          <p:cNvSpPr>
            <a:spLocks noGrp="1"/>
          </p:cNvSpPr>
          <p:nvPr/>
        </p:nvSpPr>
        <p:spPr>
          <a:xfrm>
            <a:off x="548640" y="685800"/>
            <a:ext cx="11058525" cy="723900"/>
          </a:xfrm>
          <a:prstGeom prst="rect">
            <a:avLst/>
          </a:prstGeom>
          <a:noFill/>
          <a:ln w="0">
            <a:noFill/>
          </a:ln>
        </p:spPr>
        <p:txBody>
          <a:bodyPr>
            <a:noAutofit/>
          </a:bodyPr>
          <a:lstStyle/>
          <a:p>
            <a:pPr>
              <a:defRPr sz="3000" b="1">
                <a:solidFill>
                  <a:srgbClr val="00274D"/>
                </a:solidFill>
                <a:latin typeface="Cambria"/>
                <a:ea typeface="Cambria"/>
                <a:cs typeface="Cambria"/>
              </a:defRPr>
            </a:pPr>
            <a:r>
              <a:rPr sz="3000" b="1">
                <a:solidFill>
                  <a:srgbClr val="00274D"/>
                </a:solidFill>
                <a:latin typeface="Cambria"/>
                <a:ea typeface="Cambria"/>
                <a:cs typeface="Cambria"/>
              </a:rPr>
              <a:t>A randomization test with four participants</a:t>
            </a:r>
          </a:p>
        </p:txBody>
      </p:sp>
      <p:sp>
        <p:nvSpPr>
          <p:cNvPr id="3" name="Rectangle 2">
            <a:extLst>
              <a:ext uri="{FF2B5EF4-FFF2-40B4-BE49-F238E27FC236}">
                <a16:creationId xmlns:a16="http://schemas.microsoft.com/office/drawing/2014/main" id="{5959673C-B0C9-4EE7-A010-013BCC3070F1}"/>
              </a:ext>
            </a:extLst>
          </p:cNvPr>
          <p:cNvSpPr>
            <a:spLocks noGrp="1"/>
          </p:cNvSpPr>
          <p:nvPr/>
        </p:nvSpPr>
        <p:spPr>
          <a:xfrm>
            <a:off x="548640" y="6038850"/>
            <a:ext cx="11058525" cy="285750"/>
          </a:xfrm>
          <a:prstGeom prst="rect">
            <a:avLst/>
          </a:prstGeom>
          <a:noFill/>
          <a:ln w="0">
            <a:noFill/>
          </a:ln>
        </p:spPr>
        <p:txBody>
          <a:bodyPr>
            <a:noAutofit/>
          </a:bodyPr>
          <a:lstStyle/>
          <a:p>
            <a:pPr>
              <a:defRPr sz="1275" b="0">
                <a:solidFill>
                  <a:srgbClr val="5B6178"/>
                </a:solidFill>
                <a:latin typeface="Calibri"/>
                <a:ea typeface="Calibri"/>
                <a:cs typeface="Calibri"/>
              </a:defRPr>
            </a:pPr>
            <a:r>
              <a:rPr sz="1275" b="0">
                <a:solidFill>
                  <a:srgbClr val="5B6178"/>
                </a:solidFill>
                <a:latin typeface="Calibri"/>
                <a:ea typeface="Calibri"/>
                <a:cs typeface="Calibri"/>
              </a:rPr>
              <a:t>Instructor-created example illustrating Rosenbaum, ch. 2, pp. 37–41</a:t>
            </a:r>
          </a:p>
        </p:txBody>
      </p:sp>
      <p:sp>
        <p:nvSpPr>
          <p:cNvPr id="4" name="Rectangle 3">
            <a:extLst>
              <a:ext uri="{FF2B5EF4-FFF2-40B4-BE49-F238E27FC236}">
                <a16:creationId xmlns:a16="http://schemas.microsoft.com/office/drawing/2014/main" id="{88C5E436-78A4-41E8-89AF-54128C4D32F8}"/>
              </a:ext>
            </a:extLst>
          </p:cNvPr>
          <p:cNvSpPr>
            <a:spLocks noGrp="1"/>
          </p:cNvSpPr>
          <p:nvPr/>
        </p:nvSpPr>
        <p:spPr>
          <a:xfrm>
            <a:off x="548640" y="6400800"/>
            <a:ext cx="6667500" cy="276225"/>
          </a:xfrm>
          <a:prstGeom prst="rect">
            <a:avLst/>
          </a:prstGeom>
          <a:noFill/>
          <a:ln w="0">
            <a:noFill/>
          </a:ln>
        </p:spPr>
        <p:txBody>
          <a:bodyPr>
            <a:noAutofit/>
          </a:bodyPr>
          <a:lstStyle/>
          <a:p>
            <a:pPr>
              <a:defRPr sz="1000" b="0">
                <a:solidFill>
                  <a:srgbClr val="5B6178"/>
                </a:solidFill>
                <a:latin typeface="Calibri"/>
                <a:ea typeface="Calibri"/>
                <a:cs typeface="Calibri"/>
              </a:defRPr>
            </a:pPr>
            <a:r>
              <a:rPr sz="1000" b="0">
                <a:solidFill>
                  <a:srgbClr val="5B6178"/>
                </a:solidFill>
                <a:latin typeface="Calibri"/>
                <a:ea typeface="Calibri"/>
                <a:cs typeface="Calibri"/>
              </a:rPr>
              <a:t>Week 4 · Randomized Controlled Trials  |  12</a:t>
            </a:r>
          </a:p>
        </p:txBody>
      </p:sp>
      <p:sp>
        <p:nvSpPr>
          <p:cNvPr id="5" name="Rectangle 4">
            <a:extLst>
              <a:ext uri="{FF2B5EF4-FFF2-40B4-BE49-F238E27FC236}">
                <a16:creationId xmlns:a16="http://schemas.microsoft.com/office/drawing/2014/main" id="{7F43EBD5-4F6A-46E5-8C75-61D76B72FDA5}"/>
              </a:ext>
            </a:extLst>
          </p:cNvPr>
          <p:cNvSpPr>
            <a:spLocks noGrp="1"/>
          </p:cNvSpPr>
          <p:nvPr/>
        </p:nvSpPr>
        <p:spPr>
          <a:xfrm>
            <a:off x="571500" y="1533525"/>
            <a:ext cx="11049000" cy="466725"/>
          </a:xfrm>
          <a:prstGeom prst="rect">
            <a:avLst/>
          </a:prstGeom>
          <a:noFill/>
          <a:ln w="0">
            <a:noFill/>
          </a:ln>
        </p:spPr>
        <p:txBody>
          <a:bodyPr>
            <a:noAutofit/>
          </a:bodyPr>
          <a:lstStyle/>
          <a:p>
            <a:pPr>
              <a:defRPr sz="2025" b="0">
                <a:solidFill>
                  <a:srgbClr val="1A1A2E"/>
                </a:solidFill>
                <a:latin typeface="Calibri"/>
                <a:ea typeface="Calibri"/>
                <a:cs typeface="Calibri"/>
              </a:defRPr>
            </a:pPr>
            <a:r>
              <a:rPr sz="2025" b="0">
                <a:solidFill>
                  <a:srgbClr val="1A1A2E"/>
                </a:solidFill>
                <a:latin typeface="Calibri"/>
                <a:ea typeface="Calibri"/>
                <a:cs typeface="Calibri"/>
              </a:rPr>
              <a:t>Observed outcomes: A = 8, B = 6, C = 4, D = 2. Randomly treat two.</a:t>
            </a:r>
          </a:p>
        </p:txBody>
      </p:sp>
      <p:graphicFrame>
        <p:nvGraphicFramePr>
          <p:cNvPr id="14" name="Table 13"/>
          <p:cNvGraphicFramePr/>
          <p:nvPr/>
        </p:nvGraphicFramePr>
        <p:xfrm>
          <a:off x="571500" y="2200275"/>
          <a:ext cx="6048375" cy="3476627"/>
        </p:xfrm>
        <a:graphic>
          <a:graphicData uri="http://schemas.openxmlformats.org/drawingml/2006/table">
            <a:tbl>
              <a:tblPr/>
              <a:tblGrid>
                <a:gridCol w="261937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496661">
                <a:tc>
                  <a:txBody>
                    <a:bodyPr/>
                    <a:lstStyle/>
                    <a:p>
                      <a:r>
                        <a:rPr sz="1800" b="1">
                          <a:solidFill>
                            <a:srgbClr val="FFFFFF"/>
                          </a:solidFill>
                          <a:latin typeface="Calibri"/>
                          <a:ea typeface="Calibri"/>
                          <a:cs typeface="Calibri"/>
                        </a:rPr>
                        <a:t>Treated pair</a:t>
                      </a:r>
                    </a:p>
                  </a:txBody>
                  <a:tcPr>
                    <a:solidFill>
                      <a:srgbClr val="00274D"/>
                    </a:solidFill>
                  </a:tcPr>
                </a:tc>
                <a:tc>
                  <a:txBody>
                    <a:bodyPr/>
                    <a:lstStyle/>
                    <a:p>
                      <a:r>
                        <a:rPr sz="1800" b="1">
                          <a:solidFill>
                            <a:srgbClr val="FFFFFF"/>
                          </a:solidFill>
                          <a:latin typeface="Calibri"/>
                          <a:ea typeface="Calibri"/>
                          <a:cs typeface="Calibri"/>
                        </a:rPr>
                        <a:t>Treated − control mean</a:t>
                      </a:r>
                    </a:p>
                  </a:txBody>
                  <a:tcPr>
                    <a:solidFill>
                      <a:srgbClr val="00274D"/>
                    </a:solidFill>
                  </a:tcPr>
                </a:tc>
                <a:extLst>
                  <a:ext uri="{0D108BD9-81ED-4DB2-BD59-A6C34878D82A}">
                    <a16:rowId xmlns:a16="http://schemas.microsoft.com/office/drawing/2014/main" val="10000"/>
                  </a:ext>
                </a:extLst>
              </a:tr>
              <a:tr h="496661">
                <a:tc>
                  <a:txBody>
                    <a:bodyPr/>
                    <a:lstStyle/>
                    <a:p>
                      <a:r>
                        <a:rPr sz="1800" b="0">
                          <a:solidFill>
                            <a:srgbClr val="1A1A2E"/>
                          </a:solidFill>
                          <a:latin typeface="Calibri"/>
                          <a:ea typeface="Calibri"/>
                          <a:cs typeface="Calibri"/>
                        </a:rPr>
                        <a:t>A, B</a:t>
                      </a:r>
                    </a:p>
                  </a:txBody>
                  <a:tcPr>
                    <a:solidFill>
                      <a:srgbClr val="F0F4F8"/>
                    </a:solidFill>
                  </a:tcPr>
                </a:tc>
                <a:tc>
                  <a:txBody>
                    <a:bodyPr/>
                    <a:lstStyle/>
                    <a:p>
                      <a:r>
                        <a:rPr sz="1800" b="0">
                          <a:solidFill>
                            <a:srgbClr val="1A1A2E"/>
                          </a:solidFill>
                          <a:latin typeface="Calibri"/>
                          <a:ea typeface="Calibri"/>
                          <a:cs typeface="Calibri"/>
                        </a:rPr>
                        <a:t>+4</a:t>
                      </a:r>
                    </a:p>
                  </a:txBody>
                  <a:tcPr>
                    <a:solidFill>
                      <a:srgbClr val="F0F4F8"/>
                    </a:solidFill>
                  </a:tcPr>
                </a:tc>
                <a:extLst>
                  <a:ext uri="{0D108BD9-81ED-4DB2-BD59-A6C34878D82A}">
                    <a16:rowId xmlns:a16="http://schemas.microsoft.com/office/drawing/2014/main" val="10001"/>
                  </a:ext>
                </a:extLst>
              </a:tr>
              <a:tr h="496661">
                <a:tc>
                  <a:txBody>
                    <a:bodyPr/>
                    <a:lstStyle/>
                    <a:p>
                      <a:r>
                        <a:rPr sz="1800" b="0">
                          <a:solidFill>
                            <a:srgbClr val="1A1A2E"/>
                          </a:solidFill>
                          <a:latin typeface="Calibri"/>
                          <a:ea typeface="Calibri"/>
                          <a:cs typeface="Calibri"/>
                        </a:rPr>
                        <a:t>A, C</a:t>
                      </a:r>
                    </a:p>
                  </a:txBody>
                  <a:tcPr>
                    <a:solidFill>
                      <a:srgbClr val="FFFFFF"/>
                    </a:solidFill>
                  </a:tcPr>
                </a:tc>
                <a:tc>
                  <a:txBody>
                    <a:bodyPr/>
                    <a:lstStyle/>
                    <a:p>
                      <a:r>
                        <a:rPr sz="1800" b="0">
                          <a:solidFill>
                            <a:srgbClr val="1A1A2E"/>
                          </a:solidFill>
                          <a:latin typeface="Calibri"/>
                          <a:ea typeface="Calibri"/>
                          <a:cs typeface="Calibri"/>
                        </a:rPr>
                        <a:t>+2</a:t>
                      </a:r>
                    </a:p>
                  </a:txBody>
                  <a:tcPr>
                    <a:solidFill>
                      <a:srgbClr val="FFFFFF"/>
                    </a:solidFill>
                  </a:tcPr>
                </a:tc>
                <a:extLst>
                  <a:ext uri="{0D108BD9-81ED-4DB2-BD59-A6C34878D82A}">
                    <a16:rowId xmlns:a16="http://schemas.microsoft.com/office/drawing/2014/main" val="10002"/>
                  </a:ext>
                </a:extLst>
              </a:tr>
              <a:tr h="496661">
                <a:tc>
                  <a:txBody>
                    <a:bodyPr/>
                    <a:lstStyle/>
                    <a:p>
                      <a:r>
                        <a:rPr sz="1800" b="0">
                          <a:solidFill>
                            <a:srgbClr val="1A1A2E"/>
                          </a:solidFill>
                          <a:latin typeface="Calibri"/>
                          <a:ea typeface="Calibri"/>
                          <a:cs typeface="Calibri"/>
                        </a:rPr>
                        <a:t>A, D</a:t>
                      </a:r>
                    </a:p>
                  </a:txBody>
                  <a:tcPr>
                    <a:solidFill>
                      <a:srgbClr val="F0F4F8"/>
                    </a:solidFill>
                  </a:tcPr>
                </a:tc>
                <a:tc>
                  <a:txBody>
                    <a:bodyPr/>
                    <a:lstStyle/>
                    <a:p>
                      <a:r>
                        <a:rPr sz="1800" b="0">
                          <a:solidFill>
                            <a:srgbClr val="1A1A2E"/>
                          </a:solidFill>
                          <a:latin typeface="Calibri"/>
                          <a:ea typeface="Calibri"/>
                          <a:cs typeface="Calibri"/>
                        </a:rPr>
                        <a:t>0</a:t>
                      </a:r>
                    </a:p>
                  </a:txBody>
                  <a:tcPr>
                    <a:solidFill>
                      <a:srgbClr val="F0F4F8"/>
                    </a:solidFill>
                  </a:tcPr>
                </a:tc>
                <a:extLst>
                  <a:ext uri="{0D108BD9-81ED-4DB2-BD59-A6C34878D82A}">
                    <a16:rowId xmlns:a16="http://schemas.microsoft.com/office/drawing/2014/main" val="10003"/>
                  </a:ext>
                </a:extLst>
              </a:tr>
              <a:tr h="496661">
                <a:tc>
                  <a:txBody>
                    <a:bodyPr/>
                    <a:lstStyle/>
                    <a:p>
                      <a:r>
                        <a:rPr sz="1800" b="0">
                          <a:solidFill>
                            <a:srgbClr val="1A1A2E"/>
                          </a:solidFill>
                          <a:latin typeface="Calibri"/>
                          <a:ea typeface="Calibri"/>
                          <a:cs typeface="Calibri"/>
                        </a:rPr>
                        <a:t>B, C</a:t>
                      </a:r>
                    </a:p>
                  </a:txBody>
                  <a:tcPr>
                    <a:solidFill>
                      <a:srgbClr val="FFFFFF"/>
                    </a:solidFill>
                  </a:tcPr>
                </a:tc>
                <a:tc>
                  <a:txBody>
                    <a:bodyPr/>
                    <a:lstStyle/>
                    <a:p>
                      <a:r>
                        <a:rPr sz="1800" b="0">
                          <a:solidFill>
                            <a:srgbClr val="1A1A2E"/>
                          </a:solidFill>
                          <a:latin typeface="Calibri"/>
                          <a:ea typeface="Calibri"/>
                          <a:cs typeface="Calibri"/>
                        </a:rPr>
                        <a:t>0</a:t>
                      </a:r>
                    </a:p>
                  </a:txBody>
                  <a:tcPr>
                    <a:solidFill>
                      <a:srgbClr val="FFFFFF"/>
                    </a:solidFill>
                  </a:tcPr>
                </a:tc>
                <a:extLst>
                  <a:ext uri="{0D108BD9-81ED-4DB2-BD59-A6C34878D82A}">
                    <a16:rowId xmlns:a16="http://schemas.microsoft.com/office/drawing/2014/main" val="10004"/>
                  </a:ext>
                </a:extLst>
              </a:tr>
              <a:tr h="496661">
                <a:tc>
                  <a:txBody>
                    <a:bodyPr/>
                    <a:lstStyle/>
                    <a:p>
                      <a:r>
                        <a:rPr sz="1800" b="0">
                          <a:solidFill>
                            <a:srgbClr val="1A1A2E"/>
                          </a:solidFill>
                          <a:latin typeface="Calibri"/>
                          <a:ea typeface="Calibri"/>
                          <a:cs typeface="Calibri"/>
                        </a:rPr>
                        <a:t>B, D</a:t>
                      </a:r>
                    </a:p>
                  </a:txBody>
                  <a:tcPr>
                    <a:solidFill>
                      <a:srgbClr val="F0F4F8"/>
                    </a:solidFill>
                  </a:tcPr>
                </a:tc>
                <a:tc>
                  <a:txBody>
                    <a:bodyPr/>
                    <a:lstStyle/>
                    <a:p>
                      <a:r>
                        <a:rPr sz="1800" b="0">
                          <a:solidFill>
                            <a:srgbClr val="1A1A2E"/>
                          </a:solidFill>
                          <a:latin typeface="Calibri"/>
                          <a:ea typeface="Calibri"/>
                          <a:cs typeface="Calibri"/>
                        </a:rPr>
                        <a:t>−2</a:t>
                      </a:r>
                    </a:p>
                  </a:txBody>
                  <a:tcPr>
                    <a:solidFill>
                      <a:srgbClr val="F0F4F8"/>
                    </a:solidFill>
                  </a:tcPr>
                </a:tc>
                <a:extLst>
                  <a:ext uri="{0D108BD9-81ED-4DB2-BD59-A6C34878D82A}">
                    <a16:rowId xmlns:a16="http://schemas.microsoft.com/office/drawing/2014/main" val="10005"/>
                  </a:ext>
                </a:extLst>
              </a:tr>
              <a:tr h="496661">
                <a:tc>
                  <a:txBody>
                    <a:bodyPr/>
                    <a:lstStyle/>
                    <a:p>
                      <a:r>
                        <a:rPr sz="1800" b="0">
                          <a:solidFill>
                            <a:srgbClr val="1A1A2E"/>
                          </a:solidFill>
                          <a:latin typeface="Calibri"/>
                          <a:ea typeface="Calibri"/>
                          <a:cs typeface="Calibri"/>
                        </a:rPr>
                        <a:t>C, D</a:t>
                      </a:r>
                    </a:p>
                  </a:txBody>
                  <a:tcPr>
                    <a:solidFill>
                      <a:srgbClr val="FFFFFF"/>
                    </a:solidFill>
                  </a:tcPr>
                </a:tc>
                <a:tc>
                  <a:txBody>
                    <a:bodyPr/>
                    <a:lstStyle/>
                    <a:p>
                      <a:r>
                        <a:rPr sz="1800" b="0">
                          <a:solidFill>
                            <a:srgbClr val="1A1A2E"/>
                          </a:solidFill>
                          <a:latin typeface="Calibri"/>
                          <a:ea typeface="Calibri"/>
                          <a:cs typeface="Calibri"/>
                        </a:rPr>
                        <a:t>−4</a:t>
                      </a:r>
                    </a:p>
                  </a:txBody>
                  <a:tcPr>
                    <a:solidFill>
                      <a:srgbClr val="FFFFFF"/>
                    </a:solidFill>
                  </a:tcPr>
                </a:tc>
                <a:extLst>
                  <a:ext uri="{0D108BD9-81ED-4DB2-BD59-A6C34878D82A}">
                    <a16:rowId xmlns:a16="http://schemas.microsoft.com/office/drawing/2014/main" val="10006"/>
                  </a:ext>
                </a:extLst>
              </a:tr>
            </a:tbl>
          </a:graphicData>
        </a:graphic>
      </p:graphicFrame>
      <p:sp>
        <p:nvSpPr>
          <p:cNvPr id="7" name="Rectangle 6">
            <a:extLst>
              <a:ext uri="{FF2B5EF4-FFF2-40B4-BE49-F238E27FC236}">
                <a16:creationId xmlns:a16="http://schemas.microsoft.com/office/drawing/2014/main" id="{FE33EA79-35E8-4196-9AFB-2F3CB0671721}"/>
              </a:ext>
            </a:extLst>
          </p:cNvPr>
          <p:cNvSpPr>
            <a:spLocks noGrp="1"/>
          </p:cNvSpPr>
          <p:nvPr/>
        </p:nvSpPr>
        <p:spPr>
          <a:xfrm>
            <a:off x="7334250" y="2266950"/>
            <a:ext cx="4048125" cy="866775"/>
          </a:xfrm>
          <a:prstGeom prst="rect">
            <a:avLst/>
          </a:prstGeom>
          <a:noFill/>
          <a:ln w="0">
            <a:noFill/>
          </a:ln>
        </p:spPr>
        <p:txBody>
          <a:bodyPr>
            <a:noAutofit/>
          </a:bodyPr>
          <a:lstStyle/>
          <a:p>
            <a:pPr>
              <a:defRPr sz="2325" b="1">
                <a:solidFill>
                  <a:srgbClr val="00274D"/>
                </a:solidFill>
                <a:latin typeface="Calibri"/>
                <a:ea typeface="Calibri"/>
                <a:cs typeface="Calibri"/>
              </a:defRPr>
            </a:pPr>
            <a:r>
              <a:rPr sz="2325" b="1">
                <a:solidFill>
                  <a:srgbClr val="00274D"/>
                </a:solidFill>
                <a:latin typeface="Calibri"/>
                <a:ea typeface="Calibri"/>
                <a:cs typeface="Calibri"/>
              </a:rPr>
              <a:t>Suppose A and B</a:t>
            </a:r>
          </a:p>
          <a:p>
            <a:pPr>
              <a:defRPr sz="2325" b="1">
                <a:solidFill>
                  <a:srgbClr val="00274D"/>
                </a:solidFill>
                <a:latin typeface="Calibri"/>
                <a:ea typeface="Calibri"/>
                <a:cs typeface="Calibri"/>
              </a:defRPr>
            </a:pPr>
            <a:r>
              <a:rPr sz="2325" b="1">
                <a:solidFill>
                  <a:srgbClr val="00274D"/>
                </a:solidFill>
                <a:latin typeface="Calibri"/>
                <a:ea typeface="Calibri"/>
                <a:cs typeface="Calibri"/>
              </a:rPr>
              <a:t>received treatment.</a:t>
            </a:r>
          </a:p>
        </p:txBody>
      </p:sp>
      <p:sp>
        <p:nvSpPr>
          <p:cNvPr id="8" name="Rectangle 7">
            <a:extLst>
              <a:ext uri="{FF2B5EF4-FFF2-40B4-BE49-F238E27FC236}">
                <a16:creationId xmlns:a16="http://schemas.microsoft.com/office/drawing/2014/main" id="{4630CB83-02E4-446A-99C1-4867E839E629}"/>
              </a:ext>
            </a:extLst>
          </p:cNvPr>
          <p:cNvSpPr>
            <a:spLocks noGrp="1"/>
          </p:cNvSpPr>
          <p:nvPr/>
        </p:nvSpPr>
        <p:spPr>
          <a:xfrm>
            <a:off x="7334250" y="3352800"/>
            <a:ext cx="4048125" cy="2257425"/>
          </a:xfrm>
          <a:prstGeom prst="rect">
            <a:avLst/>
          </a:prstGeom>
          <a:noFill/>
          <a:ln w="0">
            <a:noFill/>
          </a:ln>
        </p:spPr>
        <p:txBody>
          <a:bodyPr>
            <a:noAutofit/>
          </a:bodyPr>
          <a:lstStyle/>
          <a:p>
            <a:pPr>
              <a:defRPr sz="2100" b="0">
                <a:solidFill>
                  <a:srgbClr val="1A1A2E"/>
                </a:solidFill>
                <a:latin typeface="Calibri"/>
                <a:ea typeface="Calibri"/>
                <a:cs typeface="Calibri"/>
              </a:defRPr>
            </a:pPr>
            <a:r>
              <a:rPr sz="2100" b="0">
                <a:solidFill>
                  <a:srgbClr val="1A1A2E"/>
                </a:solidFill>
                <a:latin typeface="Calibri"/>
                <a:ea typeface="Calibri"/>
                <a:cs typeface="Calibri"/>
              </a:rPr>
              <a:t>Observed difference = 4</a:t>
            </a:r>
          </a:p>
          <a:p>
            <a:endParaRPr sz="2100" b="0">
              <a:solidFill>
                <a:srgbClr val="1A1A2E"/>
              </a:solidFill>
              <a:latin typeface="Calibri"/>
              <a:ea typeface="Calibri"/>
              <a:cs typeface="Calibri"/>
            </a:endParaRPr>
          </a:p>
          <a:p>
            <a:pPr>
              <a:defRPr sz="2100" b="0">
                <a:solidFill>
                  <a:srgbClr val="1A1A2E"/>
                </a:solidFill>
                <a:latin typeface="Calibri"/>
                <a:ea typeface="Calibri"/>
                <a:cs typeface="Calibri"/>
              </a:defRPr>
            </a:pPr>
            <a:r>
              <a:rPr sz="2100" b="0">
                <a:solidFill>
                  <a:srgbClr val="1A1A2E"/>
                </a:solidFill>
                <a:latin typeface="Calibri"/>
                <a:ea typeface="Calibri"/>
                <a:cs typeface="Calibri"/>
              </a:rPr>
              <a:t>Two of six assignments</a:t>
            </a:r>
          </a:p>
          <a:p>
            <a:pPr>
              <a:defRPr sz="2100" b="0">
                <a:solidFill>
                  <a:srgbClr val="1A1A2E"/>
                </a:solidFill>
                <a:latin typeface="Calibri"/>
                <a:ea typeface="Calibri"/>
                <a:cs typeface="Calibri"/>
              </a:defRPr>
            </a:pPr>
            <a:r>
              <a:rPr sz="2100" b="0">
                <a:solidFill>
                  <a:srgbClr val="1A1A2E"/>
                </a:solidFill>
                <a:latin typeface="Calibri"/>
                <a:ea typeface="Calibri"/>
                <a:cs typeface="Calibri"/>
              </a:rPr>
              <a:t>have |difference| ≥ 4.</a:t>
            </a:r>
          </a:p>
          <a:p>
            <a:endParaRPr sz="2100" b="0">
              <a:solidFill>
                <a:srgbClr val="1A1A2E"/>
              </a:solidFill>
              <a:latin typeface="Calibri"/>
              <a:ea typeface="Calibri"/>
              <a:cs typeface="Calibri"/>
            </a:endParaRPr>
          </a:p>
          <a:p>
            <a:pPr>
              <a:defRPr sz="2100" b="0">
                <a:solidFill>
                  <a:srgbClr val="1A1A2E"/>
                </a:solidFill>
                <a:latin typeface="Calibri"/>
                <a:ea typeface="Calibri"/>
                <a:cs typeface="Calibri"/>
              </a:defRPr>
            </a:pPr>
            <a:r>
              <a:rPr sz="2100" b="0">
                <a:solidFill>
                  <a:srgbClr val="1A1A2E"/>
                </a:solidFill>
                <a:latin typeface="Calibri"/>
                <a:ea typeface="Calibri"/>
                <a:cs typeface="Calibri"/>
              </a:rPr>
              <a:t>Two-sided p = 2/6 = 0.33</a:t>
            </a:r>
          </a:p>
        </p:txBody>
      </p:sp>
    </p:spTree>
    <p:extLst>
      <p:ext uri="{BB962C8B-B14F-4D97-AF65-F5344CB8AC3E}">
        <p14:creationId xmlns:p14="http://schemas.microsoft.com/office/powerpoint/2010/main" val="18757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74D"/>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F0A61FC-8B0F-4C48-A6B6-71C08B9C9C92}"/>
              </a:ext>
            </a:extLst>
          </p:cNvPr>
          <p:cNvSpPr>
            <a:spLocks noGrp="1"/>
          </p:cNvSpPr>
          <p:nvPr/>
        </p:nvSpPr>
        <p:spPr>
          <a:xfrm>
            <a:off x="731520" y="2468880"/>
            <a:ext cx="10058400" cy="457200"/>
          </a:xfrm>
          <a:prstGeom prst="rect">
            <a:avLst/>
          </a:prstGeom>
          <a:noFill/>
        </p:spPr>
        <p:txBody>
          <a:bodyPr wrap="square" lIns="0" tIns="0" rIns="0" bIns="0" anchor="t"/>
          <a:lstStyle/>
          <a:p>
            <a:pPr marL="0" indent="0">
              <a:buNone/>
            </a:pPr>
            <a:r>
              <a:rPr sz="1600" b="1" spc="200">
                <a:solidFill>
                  <a:srgbClr val="BFD7EA"/>
                </a:solidFill>
                <a:latin typeface="Calibri"/>
                <a:ea typeface="Calibri"/>
                <a:cs typeface="Calibri"/>
              </a:rPr>
              <a:t>PART 2</a:t>
            </a:r>
            <a:endParaRPr sz="1600"/>
          </a:p>
        </p:txBody>
      </p:sp>
      <p:sp>
        <p:nvSpPr>
          <p:cNvPr id="3" name="Text 1">
            <a:extLst>
              <a:ext uri="{FF2B5EF4-FFF2-40B4-BE49-F238E27FC236}">
                <a16:creationId xmlns:a16="http://schemas.microsoft.com/office/drawing/2014/main" id="{9A41881D-099C-4D4C-A727-57ABDF4CF539}"/>
              </a:ext>
            </a:extLst>
          </p:cNvPr>
          <p:cNvSpPr>
            <a:spLocks noGrp="1"/>
          </p:cNvSpPr>
          <p:nvPr/>
        </p:nvSpPr>
        <p:spPr>
          <a:xfrm>
            <a:off x="731520" y="2926080"/>
            <a:ext cx="10515600" cy="1097280"/>
          </a:xfrm>
          <a:prstGeom prst="rect">
            <a:avLst/>
          </a:prstGeom>
          <a:noFill/>
        </p:spPr>
        <p:txBody>
          <a:bodyPr wrap="square" lIns="0" tIns="0" rIns="0" bIns="0" anchor="t"/>
          <a:lstStyle/>
          <a:p>
            <a:pPr marL="0" indent="0">
              <a:buNone/>
            </a:pPr>
            <a:r>
              <a:rPr sz="3800" b="1">
                <a:solidFill>
                  <a:srgbClr val="FFFFFF"/>
                </a:solidFill>
                <a:latin typeface="Cambria"/>
                <a:ea typeface="Cambria"/>
                <a:cs typeface="Cambria"/>
              </a:rPr>
              <a:t>Treatments, controls, and assignment</a:t>
            </a:r>
            <a:endParaRPr sz="3800"/>
          </a:p>
        </p:txBody>
      </p:sp>
      <p:sp>
        <p:nvSpPr>
          <p:cNvPr id="4" name="Text 2">
            <a:extLst>
              <a:ext uri="{FF2B5EF4-FFF2-40B4-BE49-F238E27FC236}">
                <a16:creationId xmlns:a16="http://schemas.microsoft.com/office/drawing/2014/main" id="{0F2EE845-42DC-455A-8307-717BDD9204EF}"/>
              </a:ext>
            </a:extLst>
          </p:cNvPr>
          <p:cNvSpPr>
            <a:spLocks noGrp="1"/>
          </p:cNvSpPr>
          <p:nvPr/>
        </p:nvSpPr>
        <p:spPr>
          <a:xfrm>
            <a:off x="731520" y="4023360"/>
            <a:ext cx="10058400" cy="731520"/>
          </a:xfrm>
          <a:prstGeom prst="rect">
            <a:avLst/>
          </a:prstGeom>
          <a:noFill/>
        </p:spPr>
        <p:txBody>
          <a:bodyPr wrap="square" lIns="0" tIns="0" rIns="0" bIns="0" anchor="t"/>
          <a:lstStyle/>
          <a:p>
            <a:pPr marL="0" indent="0">
              <a:buNone/>
            </a:pPr>
            <a:r>
              <a:rPr sz="1800" i="1">
                <a:solidFill>
                  <a:srgbClr val="BFD7EA"/>
                </a:solidFill>
                <a:latin typeface="Calibri"/>
                <a:ea typeface="Calibri"/>
                <a:cs typeface="Calibri"/>
              </a:rPr>
              <a:t>Design choices that decide what an experiment can tell you</a:t>
            </a:r>
            <a:endParaRPr sz="1800"/>
          </a:p>
        </p:txBody>
      </p:sp>
    </p:spTree>
    <p:extLst>
      <p:ext uri="{BB962C8B-B14F-4D97-AF65-F5344CB8AC3E}">
        <p14:creationId xmlns:p14="http://schemas.microsoft.com/office/powerpoint/2010/main" val="2448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F1B8E1D-8EF7-49CA-9C2C-B7946B112356}"/>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ANATOMY OF AN EXPERIMENT</a:t>
            </a:r>
            <a:endParaRPr sz="1200"/>
          </a:p>
        </p:txBody>
      </p:sp>
      <p:sp>
        <p:nvSpPr>
          <p:cNvPr id="3" name="Text 1">
            <a:extLst>
              <a:ext uri="{FF2B5EF4-FFF2-40B4-BE49-F238E27FC236}">
                <a16:creationId xmlns:a16="http://schemas.microsoft.com/office/drawing/2014/main" id="{ECD66E9B-D530-4B55-8A29-42D1A4E40376}"/>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Five parts, using Gerber, Green &amp; Larimer (2008)</a:t>
            </a:r>
            <a:endParaRPr sz="3000"/>
          </a:p>
        </p:txBody>
      </p:sp>
      <p:sp>
        <p:nvSpPr>
          <p:cNvPr id="4" name="Text 2">
            <a:extLst>
              <a:ext uri="{FF2B5EF4-FFF2-40B4-BE49-F238E27FC236}">
                <a16:creationId xmlns:a16="http://schemas.microsoft.com/office/drawing/2014/main" id="{9BF26873-4D18-498C-836F-CA5938692606}"/>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14</a:t>
            </a:r>
            <a:endParaRPr sz="1000"/>
          </a:p>
        </p:txBody>
      </p:sp>
      <p:sp>
        <p:nvSpPr>
          <p:cNvPr id="5" name="Shape 3">
            <a:extLst>
              <a:ext uri="{FF2B5EF4-FFF2-40B4-BE49-F238E27FC236}">
                <a16:creationId xmlns:a16="http://schemas.microsoft.com/office/drawing/2014/main" id="{904D45F6-E4F0-45E4-B427-45C1597EB997}"/>
              </a:ext>
            </a:extLst>
          </p:cNvPr>
          <p:cNvSpPr>
            <a:spLocks noGrp="1"/>
          </p:cNvSpPr>
          <p:nvPr/>
        </p:nvSpPr>
        <p:spPr>
          <a:xfrm>
            <a:off x="548640" y="1508760"/>
            <a:ext cx="11064240" cy="685800"/>
          </a:xfrm>
          <a:prstGeom prst="roundRect">
            <a:avLst>
              <a:gd name="adj" fmla="val 13333"/>
            </a:avLst>
          </a:prstGeom>
          <a:solidFill>
            <a:srgbClr val="EEF3F8"/>
          </a:solidFill>
          <a:ln w="12700">
            <a:solidFill>
              <a:srgbClr val="EEF3F8"/>
            </a:solidFill>
            <a:prstDash val="solid"/>
          </a:ln>
        </p:spPr>
        <p:txBody>
          <a:bodyPr/>
          <a:lstStyle/>
          <a:p>
            <a:endParaRPr lang="en-US"/>
          </a:p>
        </p:txBody>
      </p:sp>
      <p:sp>
        <p:nvSpPr>
          <p:cNvPr id="6" name="Text 4">
            <a:extLst>
              <a:ext uri="{FF2B5EF4-FFF2-40B4-BE49-F238E27FC236}">
                <a16:creationId xmlns:a16="http://schemas.microsoft.com/office/drawing/2014/main" id="{E3F5FAED-17CD-4E53-8D47-16688CDD4229}"/>
              </a:ext>
            </a:extLst>
          </p:cNvPr>
          <p:cNvSpPr>
            <a:spLocks noGrp="1"/>
          </p:cNvSpPr>
          <p:nvPr/>
        </p:nvSpPr>
        <p:spPr>
          <a:xfrm>
            <a:off x="822960" y="1508760"/>
            <a:ext cx="2194560" cy="685800"/>
          </a:xfrm>
          <a:prstGeom prst="rect">
            <a:avLst/>
          </a:prstGeom>
          <a:noFill/>
        </p:spPr>
        <p:txBody>
          <a:bodyPr wrap="square" lIns="0" tIns="0" rIns="0" bIns="0" anchor="ctr"/>
          <a:lstStyle/>
          <a:p>
            <a:pPr marL="0" indent="0">
              <a:buNone/>
            </a:pPr>
            <a:r>
              <a:rPr sz="1900" b="1">
                <a:solidFill>
                  <a:srgbClr val="00274D"/>
                </a:solidFill>
                <a:latin typeface="Cambria"/>
                <a:ea typeface="Cambria"/>
                <a:cs typeface="Cambria"/>
              </a:rPr>
              <a:t>Units</a:t>
            </a:r>
            <a:endParaRPr sz="1900"/>
          </a:p>
        </p:txBody>
      </p:sp>
      <p:sp>
        <p:nvSpPr>
          <p:cNvPr id="7" name="Text 5">
            <a:extLst>
              <a:ext uri="{FF2B5EF4-FFF2-40B4-BE49-F238E27FC236}">
                <a16:creationId xmlns:a16="http://schemas.microsoft.com/office/drawing/2014/main" id="{7C22D93D-461D-4F9F-A6E5-8D3DEA9EA2D6}"/>
              </a:ext>
            </a:extLst>
          </p:cNvPr>
          <p:cNvSpPr>
            <a:spLocks noGrp="1"/>
          </p:cNvSpPr>
          <p:nvPr/>
        </p:nvSpPr>
        <p:spPr>
          <a:xfrm>
            <a:off x="3108960" y="1508760"/>
            <a:ext cx="8321040" cy="685800"/>
          </a:xfrm>
          <a:prstGeom prst="rect">
            <a:avLst/>
          </a:prstGeom>
          <a:noFill/>
        </p:spPr>
        <p:txBody>
          <a:bodyPr wrap="square" lIns="0" tIns="0" rIns="0" bIns="0" anchor="ctr"/>
          <a:lstStyle/>
          <a:p>
            <a:pPr marL="0" indent="0">
              <a:buNone/>
            </a:pPr>
            <a:r>
              <a:rPr sz="1700">
                <a:solidFill>
                  <a:srgbClr val="1A1A2E"/>
                </a:solidFill>
                <a:latin typeface="Calibri"/>
                <a:ea typeface="Calibri"/>
                <a:cs typeface="Calibri"/>
              </a:rPr>
              <a:t>~180,000 Michigan households (~340,000 registered voters)</a:t>
            </a:r>
            <a:endParaRPr sz="1700"/>
          </a:p>
        </p:txBody>
      </p:sp>
      <p:sp>
        <p:nvSpPr>
          <p:cNvPr id="8" name="Shape 6">
            <a:extLst>
              <a:ext uri="{FF2B5EF4-FFF2-40B4-BE49-F238E27FC236}">
                <a16:creationId xmlns:a16="http://schemas.microsoft.com/office/drawing/2014/main" id="{6052AAE3-89E0-4560-88D3-1D648BF4F74A}"/>
              </a:ext>
            </a:extLst>
          </p:cNvPr>
          <p:cNvSpPr>
            <a:spLocks noGrp="1"/>
          </p:cNvSpPr>
          <p:nvPr/>
        </p:nvSpPr>
        <p:spPr>
          <a:xfrm>
            <a:off x="548640" y="2331720"/>
            <a:ext cx="11064240" cy="685800"/>
          </a:xfrm>
          <a:prstGeom prst="roundRect">
            <a:avLst>
              <a:gd name="adj" fmla="val 13333"/>
            </a:avLst>
          </a:prstGeom>
          <a:solidFill>
            <a:srgbClr val="EEF3F8"/>
          </a:solidFill>
          <a:ln w="12700">
            <a:solidFill>
              <a:srgbClr val="EEF3F8"/>
            </a:solidFill>
            <a:prstDash val="solid"/>
          </a:ln>
        </p:spPr>
        <p:txBody>
          <a:bodyPr/>
          <a:lstStyle/>
          <a:p>
            <a:endParaRPr lang="en-US"/>
          </a:p>
        </p:txBody>
      </p:sp>
      <p:sp>
        <p:nvSpPr>
          <p:cNvPr id="9" name="Text 7">
            <a:extLst>
              <a:ext uri="{FF2B5EF4-FFF2-40B4-BE49-F238E27FC236}">
                <a16:creationId xmlns:a16="http://schemas.microsoft.com/office/drawing/2014/main" id="{4442347E-A224-4DCB-946C-EA69D2C1FB46}"/>
              </a:ext>
            </a:extLst>
          </p:cNvPr>
          <p:cNvSpPr>
            <a:spLocks noGrp="1"/>
          </p:cNvSpPr>
          <p:nvPr/>
        </p:nvSpPr>
        <p:spPr>
          <a:xfrm>
            <a:off x="822960" y="2331720"/>
            <a:ext cx="2194560" cy="685800"/>
          </a:xfrm>
          <a:prstGeom prst="rect">
            <a:avLst/>
          </a:prstGeom>
          <a:noFill/>
        </p:spPr>
        <p:txBody>
          <a:bodyPr wrap="square" lIns="0" tIns="0" rIns="0" bIns="0" anchor="ctr"/>
          <a:lstStyle/>
          <a:p>
            <a:pPr marL="0" indent="0">
              <a:buNone/>
            </a:pPr>
            <a:r>
              <a:rPr sz="1900" b="1">
                <a:solidFill>
                  <a:srgbClr val="00274D"/>
                </a:solidFill>
                <a:latin typeface="Cambria"/>
                <a:ea typeface="Cambria"/>
                <a:cs typeface="Cambria"/>
              </a:rPr>
              <a:t>Treatments</a:t>
            </a:r>
            <a:endParaRPr sz="1900"/>
          </a:p>
        </p:txBody>
      </p:sp>
      <p:sp>
        <p:nvSpPr>
          <p:cNvPr id="10" name="Text 8">
            <a:extLst>
              <a:ext uri="{FF2B5EF4-FFF2-40B4-BE49-F238E27FC236}">
                <a16:creationId xmlns:a16="http://schemas.microsoft.com/office/drawing/2014/main" id="{14B00622-2023-4BFC-BB6D-78ECA509144C}"/>
              </a:ext>
            </a:extLst>
          </p:cNvPr>
          <p:cNvSpPr>
            <a:spLocks noGrp="1"/>
          </p:cNvSpPr>
          <p:nvPr/>
        </p:nvSpPr>
        <p:spPr>
          <a:xfrm>
            <a:off x="3108960" y="2331720"/>
            <a:ext cx="8321040" cy="685800"/>
          </a:xfrm>
          <a:prstGeom prst="rect">
            <a:avLst/>
          </a:prstGeom>
          <a:noFill/>
        </p:spPr>
        <p:txBody>
          <a:bodyPr wrap="square" lIns="0" tIns="0" rIns="0" bIns="0" anchor="ctr"/>
          <a:lstStyle/>
          <a:p>
            <a:pPr marL="0" indent="0">
              <a:buNone/>
            </a:pPr>
            <a:r>
              <a:rPr sz="1700">
                <a:solidFill>
                  <a:srgbClr val="1A1A2E"/>
                </a:solidFill>
                <a:latin typeface="Calibri"/>
                <a:ea typeface="Calibri"/>
                <a:cs typeface="Calibri"/>
              </a:rPr>
              <a:t>Four postcards: Civic Duty, Hawthorne, Self, Neighbors</a:t>
            </a:r>
            <a:endParaRPr sz="1700"/>
          </a:p>
        </p:txBody>
      </p:sp>
      <p:sp>
        <p:nvSpPr>
          <p:cNvPr id="11" name="Shape 9">
            <a:extLst>
              <a:ext uri="{FF2B5EF4-FFF2-40B4-BE49-F238E27FC236}">
                <a16:creationId xmlns:a16="http://schemas.microsoft.com/office/drawing/2014/main" id="{BFC88044-1161-44BC-ACC2-1AAA9CEBE6EE}"/>
              </a:ext>
            </a:extLst>
          </p:cNvPr>
          <p:cNvSpPr>
            <a:spLocks noGrp="1"/>
          </p:cNvSpPr>
          <p:nvPr/>
        </p:nvSpPr>
        <p:spPr>
          <a:xfrm>
            <a:off x="548640" y="3154680"/>
            <a:ext cx="11064240" cy="685800"/>
          </a:xfrm>
          <a:prstGeom prst="roundRect">
            <a:avLst>
              <a:gd name="adj" fmla="val 13333"/>
            </a:avLst>
          </a:prstGeom>
          <a:solidFill>
            <a:srgbClr val="EEF3F8"/>
          </a:solidFill>
          <a:ln w="12700">
            <a:solidFill>
              <a:srgbClr val="EEF3F8"/>
            </a:solidFill>
            <a:prstDash val="solid"/>
          </a:ln>
        </p:spPr>
        <p:txBody>
          <a:bodyPr/>
          <a:lstStyle/>
          <a:p>
            <a:endParaRPr lang="en-US"/>
          </a:p>
        </p:txBody>
      </p:sp>
      <p:sp>
        <p:nvSpPr>
          <p:cNvPr id="12" name="Text 10">
            <a:extLst>
              <a:ext uri="{FF2B5EF4-FFF2-40B4-BE49-F238E27FC236}">
                <a16:creationId xmlns:a16="http://schemas.microsoft.com/office/drawing/2014/main" id="{0A562FE7-7566-4B1A-8BC9-5FE20F76C941}"/>
              </a:ext>
            </a:extLst>
          </p:cNvPr>
          <p:cNvSpPr>
            <a:spLocks noGrp="1"/>
          </p:cNvSpPr>
          <p:nvPr/>
        </p:nvSpPr>
        <p:spPr>
          <a:xfrm>
            <a:off x="822960" y="3154680"/>
            <a:ext cx="2194560" cy="685800"/>
          </a:xfrm>
          <a:prstGeom prst="rect">
            <a:avLst/>
          </a:prstGeom>
          <a:noFill/>
        </p:spPr>
        <p:txBody>
          <a:bodyPr wrap="square" lIns="0" tIns="0" rIns="0" bIns="0" anchor="ctr"/>
          <a:lstStyle/>
          <a:p>
            <a:pPr marL="0" indent="0">
              <a:buNone/>
            </a:pPr>
            <a:r>
              <a:rPr sz="1900" b="1">
                <a:solidFill>
                  <a:srgbClr val="00274D"/>
                </a:solidFill>
                <a:latin typeface="Cambria"/>
                <a:ea typeface="Cambria"/>
                <a:cs typeface="Cambria"/>
              </a:rPr>
              <a:t>Control</a:t>
            </a:r>
            <a:endParaRPr sz="1900"/>
          </a:p>
        </p:txBody>
      </p:sp>
      <p:sp>
        <p:nvSpPr>
          <p:cNvPr id="13" name="Text 11">
            <a:extLst>
              <a:ext uri="{FF2B5EF4-FFF2-40B4-BE49-F238E27FC236}">
                <a16:creationId xmlns:a16="http://schemas.microsoft.com/office/drawing/2014/main" id="{03E9F991-6CE4-46BF-848B-D555B58CB478}"/>
              </a:ext>
            </a:extLst>
          </p:cNvPr>
          <p:cNvSpPr>
            <a:spLocks noGrp="1"/>
          </p:cNvSpPr>
          <p:nvPr/>
        </p:nvSpPr>
        <p:spPr>
          <a:xfrm>
            <a:off x="3108960" y="3154680"/>
            <a:ext cx="8321040" cy="685800"/>
          </a:xfrm>
          <a:prstGeom prst="rect">
            <a:avLst/>
          </a:prstGeom>
          <a:noFill/>
        </p:spPr>
        <p:txBody>
          <a:bodyPr wrap="square" lIns="0" tIns="0" rIns="0" bIns="0" anchor="ctr"/>
          <a:lstStyle/>
          <a:p>
            <a:pPr marL="0" indent="0">
              <a:buNone/>
            </a:pPr>
            <a:r>
              <a:rPr sz="1700">
                <a:solidFill>
                  <a:srgbClr val="1A1A2E"/>
                </a:solidFill>
                <a:latin typeface="Calibri"/>
                <a:ea typeface="Calibri"/>
                <a:cs typeface="Calibri"/>
              </a:rPr>
              <a:t>No mailing</a:t>
            </a:r>
            <a:endParaRPr sz="1700"/>
          </a:p>
        </p:txBody>
      </p:sp>
      <p:sp>
        <p:nvSpPr>
          <p:cNvPr id="14" name="Shape 12">
            <a:extLst>
              <a:ext uri="{FF2B5EF4-FFF2-40B4-BE49-F238E27FC236}">
                <a16:creationId xmlns:a16="http://schemas.microsoft.com/office/drawing/2014/main" id="{3DBEB715-B460-43B9-935C-BE196446FB87}"/>
              </a:ext>
            </a:extLst>
          </p:cNvPr>
          <p:cNvSpPr>
            <a:spLocks noGrp="1"/>
          </p:cNvSpPr>
          <p:nvPr/>
        </p:nvSpPr>
        <p:spPr>
          <a:xfrm>
            <a:off x="548640" y="3977640"/>
            <a:ext cx="11064240" cy="685800"/>
          </a:xfrm>
          <a:prstGeom prst="roundRect">
            <a:avLst>
              <a:gd name="adj" fmla="val 13333"/>
            </a:avLst>
          </a:prstGeom>
          <a:solidFill>
            <a:srgbClr val="EEF3F8"/>
          </a:solidFill>
          <a:ln w="12700">
            <a:solidFill>
              <a:srgbClr val="EEF3F8"/>
            </a:solidFill>
            <a:prstDash val="solid"/>
          </a:ln>
        </p:spPr>
        <p:txBody>
          <a:bodyPr/>
          <a:lstStyle/>
          <a:p>
            <a:endParaRPr lang="en-US"/>
          </a:p>
        </p:txBody>
      </p:sp>
      <p:sp>
        <p:nvSpPr>
          <p:cNvPr id="15" name="Text 13">
            <a:extLst>
              <a:ext uri="{FF2B5EF4-FFF2-40B4-BE49-F238E27FC236}">
                <a16:creationId xmlns:a16="http://schemas.microsoft.com/office/drawing/2014/main" id="{56B495B0-9BEB-429C-8B7F-0776A361F48E}"/>
              </a:ext>
            </a:extLst>
          </p:cNvPr>
          <p:cNvSpPr>
            <a:spLocks noGrp="1"/>
          </p:cNvSpPr>
          <p:nvPr/>
        </p:nvSpPr>
        <p:spPr>
          <a:xfrm>
            <a:off x="822960" y="3977640"/>
            <a:ext cx="2194560" cy="685800"/>
          </a:xfrm>
          <a:prstGeom prst="rect">
            <a:avLst/>
          </a:prstGeom>
          <a:noFill/>
        </p:spPr>
        <p:txBody>
          <a:bodyPr wrap="square" lIns="0" tIns="0" rIns="0" bIns="0" anchor="ctr"/>
          <a:lstStyle/>
          <a:p>
            <a:pPr marL="0" indent="0">
              <a:buNone/>
            </a:pPr>
            <a:r>
              <a:rPr sz="1900" b="1">
                <a:solidFill>
                  <a:srgbClr val="00274D"/>
                </a:solidFill>
                <a:latin typeface="Cambria"/>
                <a:ea typeface="Cambria"/>
                <a:cs typeface="Cambria"/>
              </a:rPr>
              <a:t>Assignment</a:t>
            </a:r>
            <a:endParaRPr sz="1900"/>
          </a:p>
        </p:txBody>
      </p:sp>
      <p:sp>
        <p:nvSpPr>
          <p:cNvPr id="16" name="Text 14">
            <a:extLst>
              <a:ext uri="{FF2B5EF4-FFF2-40B4-BE49-F238E27FC236}">
                <a16:creationId xmlns:a16="http://schemas.microsoft.com/office/drawing/2014/main" id="{8A2BC8EE-0EC0-4A45-A84B-2E63C1E77DC9}"/>
              </a:ext>
            </a:extLst>
          </p:cNvPr>
          <p:cNvSpPr>
            <a:spLocks noGrp="1"/>
          </p:cNvSpPr>
          <p:nvPr/>
        </p:nvSpPr>
        <p:spPr>
          <a:xfrm>
            <a:off x="3108960" y="3977640"/>
            <a:ext cx="8321040" cy="685800"/>
          </a:xfrm>
          <a:prstGeom prst="rect">
            <a:avLst/>
          </a:prstGeom>
          <a:noFill/>
        </p:spPr>
        <p:txBody>
          <a:bodyPr wrap="square" lIns="0" tIns="0" rIns="0" bIns="0" anchor="ctr"/>
          <a:lstStyle/>
          <a:p>
            <a:pPr marL="0" indent="0">
              <a:buNone/>
            </a:pPr>
            <a:r>
              <a:rPr sz="1700">
                <a:solidFill>
                  <a:srgbClr val="1A1A2E"/>
                </a:solidFill>
                <a:latin typeface="Calibri"/>
                <a:ea typeface="Calibri"/>
                <a:cs typeface="Calibri"/>
              </a:rPr>
              <a:t>Random, at the household level</a:t>
            </a:r>
            <a:endParaRPr sz="1700"/>
          </a:p>
        </p:txBody>
      </p:sp>
      <p:sp>
        <p:nvSpPr>
          <p:cNvPr id="17" name="Shape 15">
            <a:extLst>
              <a:ext uri="{FF2B5EF4-FFF2-40B4-BE49-F238E27FC236}">
                <a16:creationId xmlns:a16="http://schemas.microsoft.com/office/drawing/2014/main" id="{7E2A5B75-7E2A-41AA-9BC7-C6323C7EA1B8}"/>
              </a:ext>
            </a:extLst>
          </p:cNvPr>
          <p:cNvSpPr>
            <a:spLocks noGrp="1"/>
          </p:cNvSpPr>
          <p:nvPr/>
        </p:nvSpPr>
        <p:spPr>
          <a:xfrm>
            <a:off x="548640" y="4800600"/>
            <a:ext cx="11064240" cy="685800"/>
          </a:xfrm>
          <a:prstGeom prst="roundRect">
            <a:avLst>
              <a:gd name="adj" fmla="val 13333"/>
            </a:avLst>
          </a:prstGeom>
          <a:solidFill>
            <a:srgbClr val="EEF3F8"/>
          </a:solidFill>
          <a:ln w="12700">
            <a:solidFill>
              <a:srgbClr val="EEF3F8"/>
            </a:solidFill>
            <a:prstDash val="solid"/>
          </a:ln>
        </p:spPr>
        <p:txBody>
          <a:bodyPr/>
          <a:lstStyle/>
          <a:p>
            <a:endParaRPr lang="en-US"/>
          </a:p>
        </p:txBody>
      </p:sp>
      <p:sp>
        <p:nvSpPr>
          <p:cNvPr id="18" name="Text 16">
            <a:extLst>
              <a:ext uri="{FF2B5EF4-FFF2-40B4-BE49-F238E27FC236}">
                <a16:creationId xmlns:a16="http://schemas.microsoft.com/office/drawing/2014/main" id="{4D1A10C6-17DF-4494-BFA5-588B1590B955}"/>
              </a:ext>
            </a:extLst>
          </p:cNvPr>
          <p:cNvSpPr>
            <a:spLocks noGrp="1"/>
          </p:cNvSpPr>
          <p:nvPr/>
        </p:nvSpPr>
        <p:spPr>
          <a:xfrm>
            <a:off x="822960" y="4800600"/>
            <a:ext cx="2194560" cy="685800"/>
          </a:xfrm>
          <a:prstGeom prst="rect">
            <a:avLst/>
          </a:prstGeom>
          <a:noFill/>
        </p:spPr>
        <p:txBody>
          <a:bodyPr wrap="square" lIns="0" tIns="0" rIns="0" bIns="0" anchor="ctr"/>
          <a:lstStyle/>
          <a:p>
            <a:pPr marL="0" indent="0">
              <a:buNone/>
            </a:pPr>
            <a:r>
              <a:rPr sz="1900" b="1">
                <a:solidFill>
                  <a:srgbClr val="00274D"/>
                </a:solidFill>
                <a:latin typeface="Cambria"/>
                <a:ea typeface="Cambria"/>
                <a:cs typeface="Cambria"/>
              </a:rPr>
              <a:t>Outcome</a:t>
            </a:r>
            <a:endParaRPr sz="1900"/>
          </a:p>
        </p:txBody>
      </p:sp>
      <p:sp>
        <p:nvSpPr>
          <p:cNvPr id="19" name="Text 17">
            <a:extLst>
              <a:ext uri="{FF2B5EF4-FFF2-40B4-BE49-F238E27FC236}">
                <a16:creationId xmlns:a16="http://schemas.microsoft.com/office/drawing/2014/main" id="{604AD84F-BD43-4BAB-8DCD-30BBFC13B83F}"/>
              </a:ext>
            </a:extLst>
          </p:cNvPr>
          <p:cNvSpPr>
            <a:spLocks noGrp="1"/>
          </p:cNvSpPr>
          <p:nvPr/>
        </p:nvSpPr>
        <p:spPr>
          <a:xfrm>
            <a:off x="3108960" y="4800600"/>
            <a:ext cx="8321040" cy="685800"/>
          </a:xfrm>
          <a:prstGeom prst="rect">
            <a:avLst/>
          </a:prstGeom>
          <a:noFill/>
        </p:spPr>
        <p:txBody>
          <a:bodyPr wrap="square" lIns="0" tIns="0" rIns="0" bIns="0" anchor="ctr"/>
          <a:lstStyle/>
          <a:p>
            <a:pPr marL="0" indent="0">
              <a:buNone/>
            </a:pPr>
            <a:r>
              <a:rPr sz="1700">
                <a:solidFill>
                  <a:srgbClr val="1A1A2E"/>
                </a:solidFill>
                <a:latin typeface="Calibri"/>
                <a:ea typeface="Calibri"/>
                <a:cs typeface="Calibri"/>
              </a:rPr>
              <a:t>Voted in the August 2006 primary (public records)</a:t>
            </a:r>
            <a:endParaRPr sz="1700"/>
          </a:p>
        </p:txBody>
      </p:sp>
      <p:sp>
        <p:nvSpPr>
          <p:cNvPr id="20" name="Text 18">
            <a:extLst>
              <a:ext uri="{FF2B5EF4-FFF2-40B4-BE49-F238E27FC236}">
                <a16:creationId xmlns:a16="http://schemas.microsoft.com/office/drawing/2014/main" id="{03F01601-8722-4E22-A607-AF6A2D18473D}"/>
              </a:ext>
            </a:extLst>
          </p:cNvPr>
          <p:cNvSpPr>
            <a:spLocks noGrp="1"/>
          </p:cNvSpPr>
          <p:nvPr/>
        </p:nvSpPr>
        <p:spPr>
          <a:xfrm>
            <a:off x="548640" y="5760720"/>
            <a:ext cx="11064240" cy="457200"/>
          </a:xfrm>
          <a:prstGeom prst="rect">
            <a:avLst/>
          </a:prstGeom>
          <a:noFill/>
        </p:spPr>
        <p:txBody>
          <a:bodyPr wrap="square" lIns="0" tIns="0" rIns="0" bIns="0" anchor="t"/>
          <a:lstStyle/>
          <a:p>
            <a:pPr marL="0" indent="0">
              <a:buNone/>
            </a:pPr>
            <a:r>
              <a:rPr sz="1400" i="1">
                <a:solidFill>
                  <a:srgbClr val="5B6178"/>
                </a:solidFill>
                <a:latin typeface="Calibri"/>
                <a:ea typeface="Calibri"/>
                <a:cs typeface="Calibri"/>
              </a:rPr>
              <a:t>Our lab uses a public version of these data (Imai 2017) with 305,866 voters, the control group, and three of the four treatments.</a:t>
            </a:r>
            <a:endParaRPr sz="1400"/>
          </a:p>
        </p:txBody>
      </p:sp>
    </p:spTree>
    <p:extLst>
      <p:ext uri="{BB962C8B-B14F-4D97-AF65-F5344CB8AC3E}">
        <p14:creationId xmlns:p14="http://schemas.microsoft.com/office/powerpoint/2010/main" val="1441335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869843B-B71C-4F91-B61E-58D8F18D5E85}"/>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WHAT IS A CONTROL GROUP FOR?</a:t>
            </a:r>
            <a:endParaRPr sz="1200"/>
          </a:p>
        </p:txBody>
      </p:sp>
      <p:sp>
        <p:nvSpPr>
          <p:cNvPr id="3" name="Text 1">
            <a:extLst>
              <a:ext uri="{FF2B5EF4-FFF2-40B4-BE49-F238E27FC236}">
                <a16:creationId xmlns:a16="http://schemas.microsoft.com/office/drawing/2014/main" id="{7774E616-C72E-45E0-91CD-F8401D8A6479}"/>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The control condition defines the causal comparison</a:t>
            </a:r>
            <a:endParaRPr sz="3000"/>
          </a:p>
        </p:txBody>
      </p:sp>
      <p:sp>
        <p:nvSpPr>
          <p:cNvPr id="4" name="Text 2">
            <a:extLst>
              <a:ext uri="{FF2B5EF4-FFF2-40B4-BE49-F238E27FC236}">
                <a16:creationId xmlns:a16="http://schemas.microsoft.com/office/drawing/2014/main" id="{A02EE4F4-0D66-4A05-9B56-1C24A75DAC61}"/>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15</a:t>
            </a:r>
            <a:endParaRPr sz="1000"/>
          </a:p>
        </p:txBody>
      </p:sp>
      <p:sp>
        <p:nvSpPr>
          <p:cNvPr id="5" name="Shape 3">
            <a:extLst>
              <a:ext uri="{FF2B5EF4-FFF2-40B4-BE49-F238E27FC236}">
                <a16:creationId xmlns:a16="http://schemas.microsoft.com/office/drawing/2014/main" id="{C3E89B99-DD2F-4145-ABA8-B21295CF62D4}"/>
              </a:ext>
            </a:extLst>
          </p:cNvPr>
          <p:cNvSpPr>
            <a:spLocks noGrp="1"/>
          </p:cNvSpPr>
          <p:nvPr/>
        </p:nvSpPr>
        <p:spPr>
          <a:xfrm>
            <a:off x="548640" y="1554480"/>
            <a:ext cx="3474720" cy="2468880"/>
          </a:xfrm>
          <a:prstGeom prst="roundRect">
            <a:avLst>
              <a:gd name="adj" fmla="val 3704"/>
            </a:avLst>
          </a:prstGeom>
          <a:solidFill>
            <a:srgbClr val="EEF3F8"/>
          </a:solidFill>
          <a:ln w="12700">
            <a:solidFill>
              <a:srgbClr val="EEF3F8"/>
            </a:solidFill>
            <a:prstDash val="solid"/>
          </a:ln>
        </p:spPr>
        <p:txBody>
          <a:bodyPr/>
          <a:lstStyle/>
          <a:p>
            <a:endParaRPr lang="en-US"/>
          </a:p>
        </p:txBody>
      </p:sp>
      <p:sp>
        <p:nvSpPr>
          <p:cNvPr id="6" name="Text 4">
            <a:extLst>
              <a:ext uri="{FF2B5EF4-FFF2-40B4-BE49-F238E27FC236}">
                <a16:creationId xmlns:a16="http://schemas.microsoft.com/office/drawing/2014/main" id="{54D9BBC7-0399-449D-A4CC-34387733B002}"/>
              </a:ext>
            </a:extLst>
          </p:cNvPr>
          <p:cNvSpPr>
            <a:spLocks noGrp="1"/>
          </p:cNvSpPr>
          <p:nvPr/>
        </p:nvSpPr>
        <p:spPr>
          <a:xfrm>
            <a:off x="822960" y="1737360"/>
            <a:ext cx="2926080" cy="457200"/>
          </a:xfrm>
          <a:prstGeom prst="rect">
            <a:avLst/>
          </a:prstGeom>
          <a:noFill/>
        </p:spPr>
        <p:txBody>
          <a:bodyPr wrap="square" lIns="0" tIns="0" rIns="0" bIns="0" anchor="t"/>
          <a:lstStyle/>
          <a:p>
            <a:pPr marL="0" indent="0">
              <a:buNone/>
            </a:pPr>
            <a:r>
              <a:rPr sz="2000" b="1">
                <a:solidFill>
                  <a:srgbClr val="00274D"/>
                </a:solidFill>
                <a:latin typeface="Cambria"/>
                <a:ea typeface="Cambria"/>
                <a:cs typeface="Cambria"/>
              </a:rPr>
              <a:t>Pure control</a:t>
            </a:r>
            <a:endParaRPr sz="2000"/>
          </a:p>
        </p:txBody>
      </p:sp>
      <p:sp>
        <p:nvSpPr>
          <p:cNvPr id="7" name="Text 5">
            <a:extLst>
              <a:ext uri="{FF2B5EF4-FFF2-40B4-BE49-F238E27FC236}">
                <a16:creationId xmlns:a16="http://schemas.microsoft.com/office/drawing/2014/main" id="{333F4926-A68F-41F3-9491-3153A46BB825}"/>
              </a:ext>
            </a:extLst>
          </p:cNvPr>
          <p:cNvSpPr>
            <a:spLocks noGrp="1"/>
          </p:cNvSpPr>
          <p:nvPr/>
        </p:nvSpPr>
        <p:spPr>
          <a:xfrm>
            <a:off x="822960" y="2286000"/>
            <a:ext cx="2926080" cy="164592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Receives nothing. Answers: what is the effect of the program versus no program?</a:t>
            </a:r>
            <a:endParaRPr sz="1600"/>
          </a:p>
        </p:txBody>
      </p:sp>
      <p:sp>
        <p:nvSpPr>
          <p:cNvPr id="8" name="Shape 6">
            <a:extLst>
              <a:ext uri="{FF2B5EF4-FFF2-40B4-BE49-F238E27FC236}">
                <a16:creationId xmlns:a16="http://schemas.microsoft.com/office/drawing/2014/main" id="{EB429095-9795-41A8-A02B-49C678E9E9E0}"/>
              </a:ext>
            </a:extLst>
          </p:cNvPr>
          <p:cNvSpPr>
            <a:spLocks noGrp="1"/>
          </p:cNvSpPr>
          <p:nvPr/>
        </p:nvSpPr>
        <p:spPr>
          <a:xfrm>
            <a:off x="4297680" y="1554480"/>
            <a:ext cx="3474720" cy="2468880"/>
          </a:xfrm>
          <a:prstGeom prst="roundRect">
            <a:avLst>
              <a:gd name="adj" fmla="val 3704"/>
            </a:avLst>
          </a:prstGeom>
          <a:solidFill>
            <a:srgbClr val="EEF3F8"/>
          </a:solidFill>
          <a:ln w="12700">
            <a:solidFill>
              <a:srgbClr val="EEF3F8"/>
            </a:solidFill>
            <a:prstDash val="solid"/>
          </a:ln>
        </p:spPr>
        <p:txBody>
          <a:bodyPr/>
          <a:lstStyle/>
          <a:p>
            <a:endParaRPr lang="en-US"/>
          </a:p>
        </p:txBody>
      </p:sp>
      <p:sp>
        <p:nvSpPr>
          <p:cNvPr id="9" name="Text 7">
            <a:extLst>
              <a:ext uri="{FF2B5EF4-FFF2-40B4-BE49-F238E27FC236}">
                <a16:creationId xmlns:a16="http://schemas.microsoft.com/office/drawing/2014/main" id="{E981010F-636F-4EE3-B637-E034684AD3CC}"/>
              </a:ext>
            </a:extLst>
          </p:cNvPr>
          <p:cNvSpPr>
            <a:spLocks noGrp="1"/>
          </p:cNvSpPr>
          <p:nvPr/>
        </p:nvSpPr>
        <p:spPr>
          <a:xfrm>
            <a:off x="4572000" y="1737360"/>
            <a:ext cx="2926080" cy="457200"/>
          </a:xfrm>
          <a:prstGeom prst="rect">
            <a:avLst/>
          </a:prstGeom>
          <a:noFill/>
        </p:spPr>
        <p:txBody>
          <a:bodyPr wrap="square" lIns="0" tIns="0" rIns="0" bIns="0" anchor="t"/>
          <a:lstStyle/>
          <a:p>
            <a:pPr marL="0" indent="0">
              <a:buNone/>
            </a:pPr>
            <a:r>
              <a:rPr sz="2000" b="1">
                <a:solidFill>
                  <a:srgbClr val="1B4F8C"/>
                </a:solidFill>
                <a:latin typeface="Cambria"/>
                <a:ea typeface="Cambria"/>
                <a:cs typeface="Cambria"/>
              </a:rPr>
              <a:t>Placebo control</a:t>
            </a:r>
            <a:endParaRPr sz="2000"/>
          </a:p>
        </p:txBody>
      </p:sp>
      <p:sp>
        <p:nvSpPr>
          <p:cNvPr id="10" name="Text 8">
            <a:extLst>
              <a:ext uri="{FF2B5EF4-FFF2-40B4-BE49-F238E27FC236}">
                <a16:creationId xmlns:a16="http://schemas.microsoft.com/office/drawing/2014/main" id="{1946E230-C027-473A-8140-71EA7B492496}"/>
              </a:ext>
            </a:extLst>
          </p:cNvPr>
          <p:cNvSpPr>
            <a:spLocks noGrp="1"/>
          </p:cNvSpPr>
          <p:nvPr/>
        </p:nvSpPr>
        <p:spPr>
          <a:xfrm>
            <a:off x="4572000" y="2286000"/>
            <a:ext cx="2926080" cy="164592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Receives something inert that looks like treatment. Separates the active ingredient from being contacted at all.</a:t>
            </a:r>
            <a:endParaRPr sz="1600"/>
          </a:p>
        </p:txBody>
      </p:sp>
      <p:sp>
        <p:nvSpPr>
          <p:cNvPr id="11" name="Shape 9">
            <a:extLst>
              <a:ext uri="{FF2B5EF4-FFF2-40B4-BE49-F238E27FC236}">
                <a16:creationId xmlns:a16="http://schemas.microsoft.com/office/drawing/2014/main" id="{2A12556C-72A5-4FC8-9062-3EA148BA14E4}"/>
              </a:ext>
            </a:extLst>
          </p:cNvPr>
          <p:cNvSpPr>
            <a:spLocks noGrp="1"/>
          </p:cNvSpPr>
          <p:nvPr/>
        </p:nvSpPr>
        <p:spPr>
          <a:xfrm>
            <a:off x="8046720" y="1554480"/>
            <a:ext cx="3474720" cy="2468880"/>
          </a:xfrm>
          <a:prstGeom prst="roundRect">
            <a:avLst>
              <a:gd name="adj" fmla="val 3704"/>
            </a:avLst>
          </a:prstGeom>
          <a:solidFill>
            <a:srgbClr val="EEF3F8"/>
          </a:solidFill>
          <a:ln w="12700">
            <a:solidFill>
              <a:srgbClr val="EEF3F8"/>
            </a:solidFill>
            <a:prstDash val="solid"/>
          </a:ln>
        </p:spPr>
        <p:txBody>
          <a:bodyPr/>
          <a:lstStyle/>
          <a:p>
            <a:endParaRPr lang="en-US"/>
          </a:p>
        </p:txBody>
      </p:sp>
      <p:sp>
        <p:nvSpPr>
          <p:cNvPr id="12" name="Text 10">
            <a:extLst>
              <a:ext uri="{FF2B5EF4-FFF2-40B4-BE49-F238E27FC236}">
                <a16:creationId xmlns:a16="http://schemas.microsoft.com/office/drawing/2014/main" id="{A41BF9C5-D95D-4404-8FD2-F572D52EADFC}"/>
              </a:ext>
            </a:extLst>
          </p:cNvPr>
          <p:cNvSpPr>
            <a:spLocks noGrp="1"/>
          </p:cNvSpPr>
          <p:nvPr/>
        </p:nvSpPr>
        <p:spPr>
          <a:xfrm>
            <a:off x="8321040" y="1737360"/>
            <a:ext cx="2926080" cy="457200"/>
          </a:xfrm>
          <a:prstGeom prst="rect">
            <a:avLst/>
          </a:prstGeom>
          <a:noFill/>
        </p:spPr>
        <p:txBody>
          <a:bodyPr wrap="square" lIns="0" tIns="0" rIns="0" bIns="0" anchor="t"/>
          <a:lstStyle/>
          <a:p>
            <a:pPr marL="0" indent="0">
              <a:buNone/>
            </a:pPr>
            <a:r>
              <a:rPr sz="2000" b="1">
                <a:solidFill>
                  <a:srgbClr val="1E7A46"/>
                </a:solidFill>
                <a:latin typeface="Cambria"/>
                <a:ea typeface="Cambria"/>
                <a:cs typeface="Cambria"/>
              </a:rPr>
              <a:t>Active comparison</a:t>
            </a:r>
            <a:endParaRPr sz="2000"/>
          </a:p>
        </p:txBody>
      </p:sp>
      <p:sp>
        <p:nvSpPr>
          <p:cNvPr id="13" name="Text 11">
            <a:extLst>
              <a:ext uri="{FF2B5EF4-FFF2-40B4-BE49-F238E27FC236}">
                <a16:creationId xmlns:a16="http://schemas.microsoft.com/office/drawing/2014/main" id="{CE61C259-ABBC-4242-A923-689CC79C2C41}"/>
              </a:ext>
            </a:extLst>
          </p:cNvPr>
          <p:cNvSpPr>
            <a:spLocks noGrp="1"/>
          </p:cNvSpPr>
          <p:nvPr/>
        </p:nvSpPr>
        <p:spPr>
          <a:xfrm>
            <a:off x="8321040" y="2286000"/>
            <a:ext cx="2926080" cy="164592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Receives the current standard. Answers: is the new version better than what we already do?</a:t>
            </a:r>
            <a:endParaRPr sz="1600"/>
          </a:p>
        </p:txBody>
      </p:sp>
      <p:sp>
        <p:nvSpPr>
          <p:cNvPr id="14" name="Shape 12">
            <a:extLst>
              <a:ext uri="{FF2B5EF4-FFF2-40B4-BE49-F238E27FC236}">
                <a16:creationId xmlns:a16="http://schemas.microsoft.com/office/drawing/2014/main" id="{F4DD6D4D-B307-4C5B-9EF7-F08666FCC871}"/>
              </a:ext>
            </a:extLst>
          </p:cNvPr>
          <p:cNvSpPr>
            <a:spLocks noGrp="1"/>
          </p:cNvSpPr>
          <p:nvPr/>
        </p:nvSpPr>
        <p:spPr>
          <a:xfrm>
            <a:off x="548640" y="4251960"/>
            <a:ext cx="11064240" cy="1234440"/>
          </a:xfrm>
          <a:prstGeom prst="roundRect">
            <a:avLst>
              <a:gd name="adj" fmla="val 7407"/>
            </a:avLst>
          </a:prstGeom>
          <a:solidFill>
            <a:srgbClr val="FBEAE7"/>
          </a:solidFill>
          <a:ln w="12700">
            <a:solidFill>
              <a:srgbClr val="FBEAE7"/>
            </a:solidFill>
            <a:prstDash val="solid"/>
          </a:ln>
        </p:spPr>
        <p:txBody>
          <a:bodyPr/>
          <a:lstStyle/>
          <a:p>
            <a:endParaRPr lang="en-US"/>
          </a:p>
        </p:txBody>
      </p:sp>
      <p:sp>
        <p:nvSpPr>
          <p:cNvPr id="15" name="Text 13">
            <a:extLst>
              <a:ext uri="{FF2B5EF4-FFF2-40B4-BE49-F238E27FC236}">
                <a16:creationId xmlns:a16="http://schemas.microsoft.com/office/drawing/2014/main" id="{62E85B41-3467-4593-9C6C-AF172EC0320F}"/>
              </a:ext>
            </a:extLst>
          </p:cNvPr>
          <p:cNvSpPr>
            <a:spLocks noGrp="1"/>
          </p:cNvSpPr>
          <p:nvPr/>
        </p:nvSpPr>
        <p:spPr>
          <a:xfrm>
            <a:off x="822960" y="4251960"/>
            <a:ext cx="10515600" cy="1234440"/>
          </a:xfrm>
          <a:prstGeom prst="rect">
            <a:avLst/>
          </a:prstGeom>
          <a:noFill/>
        </p:spPr>
        <p:txBody>
          <a:bodyPr wrap="square" lIns="0" tIns="0" rIns="0" bIns="0" anchor="ctr"/>
          <a:lstStyle/>
          <a:p>
            <a:pPr marL="0" indent="0">
              <a:buNone/>
            </a:pPr>
            <a:r>
              <a:rPr sz="1700" b="1">
                <a:solidFill>
                  <a:srgbClr val="A13A2F"/>
                </a:solidFill>
                <a:latin typeface="Calibri"/>
                <a:ea typeface="Calibri"/>
                <a:cs typeface="Calibri"/>
              </a:rPr>
              <a:t>Choosing the control group chooses the question. </a:t>
            </a:r>
            <a:r>
              <a:rPr sz="1700">
                <a:solidFill>
                  <a:srgbClr val="1A1A2E"/>
                </a:solidFill>
                <a:latin typeface="Calibri"/>
                <a:ea typeface="Calibri"/>
                <a:cs typeface="Calibri"/>
              </a:rPr>
              <a:t>“Does the program work?” depends entirely on “compared to what?” A strong effect against nothing can be zero against the existing service.</a:t>
            </a:r>
            <a:endParaRPr sz="1700"/>
          </a:p>
        </p:txBody>
      </p:sp>
    </p:spTree>
    <p:extLst>
      <p:ext uri="{BB962C8B-B14F-4D97-AF65-F5344CB8AC3E}">
        <p14:creationId xmlns:p14="http://schemas.microsoft.com/office/powerpoint/2010/main" val="1908336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DF54920-38C0-4DD4-B55B-B43E3CFFCD17}"/>
              </a:ext>
            </a:extLst>
          </p:cNvPr>
          <p:cNvSpPr>
            <a:spLocks noGrp="1"/>
          </p:cNvSpPr>
          <p:nvPr/>
        </p:nvSpPr>
        <p:spPr>
          <a:xfrm>
            <a:off x="548640" y="320040"/>
            <a:ext cx="9525000" cy="320040"/>
          </a:xfrm>
          <a:prstGeom prst="rect">
            <a:avLst/>
          </a:prstGeom>
          <a:noFill/>
          <a:ln w="0">
            <a:noFill/>
          </a:ln>
        </p:spPr>
        <p:txBody>
          <a:bodyPr>
            <a:noAutofit/>
          </a:bodyPr>
          <a:lstStyle/>
          <a:p>
            <a:pPr>
              <a:defRPr sz="1200" b="1">
                <a:solidFill>
                  <a:srgbClr val="1B4F8C"/>
                </a:solidFill>
                <a:latin typeface="Calibri"/>
                <a:ea typeface="Calibri"/>
                <a:cs typeface="Calibri"/>
              </a:defRPr>
            </a:pPr>
            <a:r>
              <a:rPr sz="1200" b="1">
                <a:solidFill>
                  <a:srgbClr val="1B4F8C"/>
                </a:solidFill>
                <a:latin typeface="Calibri"/>
                <a:ea typeface="Calibri"/>
                <a:cs typeface="Calibri"/>
              </a:rPr>
              <a:t>ROSENBAUM</a:t>
            </a:r>
          </a:p>
        </p:txBody>
      </p:sp>
      <p:sp>
        <p:nvSpPr>
          <p:cNvPr id="2" name="Rectangle 1">
            <a:extLst>
              <a:ext uri="{FF2B5EF4-FFF2-40B4-BE49-F238E27FC236}">
                <a16:creationId xmlns:a16="http://schemas.microsoft.com/office/drawing/2014/main" id="{AA34E627-6CF3-4358-B58A-4F5380850D88}"/>
              </a:ext>
            </a:extLst>
          </p:cNvPr>
          <p:cNvSpPr>
            <a:spLocks noGrp="1"/>
          </p:cNvSpPr>
          <p:nvPr/>
        </p:nvSpPr>
        <p:spPr>
          <a:xfrm>
            <a:off x="548640" y="685800"/>
            <a:ext cx="11058525" cy="723900"/>
          </a:xfrm>
          <a:prstGeom prst="rect">
            <a:avLst/>
          </a:prstGeom>
          <a:noFill/>
          <a:ln w="0">
            <a:noFill/>
          </a:ln>
        </p:spPr>
        <p:txBody>
          <a:bodyPr>
            <a:noAutofit/>
          </a:bodyPr>
          <a:lstStyle/>
          <a:p>
            <a:pPr>
              <a:defRPr sz="3000" b="1">
                <a:solidFill>
                  <a:srgbClr val="00274D"/>
                </a:solidFill>
                <a:latin typeface="Cambria"/>
                <a:ea typeface="Cambria"/>
                <a:cs typeface="Cambria"/>
              </a:defRPr>
            </a:pPr>
            <a:r>
              <a:rPr sz="3000" b="1">
                <a:solidFill>
                  <a:srgbClr val="00274D"/>
                </a:solidFill>
                <a:latin typeface="Cambria"/>
                <a:ea typeface="Cambria"/>
                <a:cs typeface="Cambria"/>
              </a:rPr>
              <a:t>Equipoise and ethical experimentation</a:t>
            </a:r>
          </a:p>
        </p:txBody>
      </p:sp>
      <p:sp>
        <p:nvSpPr>
          <p:cNvPr id="3" name="Rectangle 2">
            <a:extLst>
              <a:ext uri="{FF2B5EF4-FFF2-40B4-BE49-F238E27FC236}">
                <a16:creationId xmlns:a16="http://schemas.microsoft.com/office/drawing/2014/main" id="{E519BB52-8DC0-4863-858F-E79A494255E7}"/>
              </a:ext>
            </a:extLst>
          </p:cNvPr>
          <p:cNvSpPr>
            <a:spLocks noGrp="1"/>
          </p:cNvSpPr>
          <p:nvPr/>
        </p:nvSpPr>
        <p:spPr>
          <a:xfrm>
            <a:off x="548640" y="6038850"/>
            <a:ext cx="11058525" cy="285750"/>
          </a:xfrm>
          <a:prstGeom prst="rect">
            <a:avLst/>
          </a:prstGeom>
          <a:noFill/>
          <a:ln w="0">
            <a:noFill/>
          </a:ln>
        </p:spPr>
        <p:txBody>
          <a:bodyPr>
            <a:noAutofit/>
          </a:bodyPr>
          <a:lstStyle/>
          <a:p>
            <a:pPr>
              <a:defRPr sz="1275" b="0">
                <a:solidFill>
                  <a:srgbClr val="5B6178"/>
                </a:solidFill>
                <a:latin typeface="Calibri"/>
                <a:ea typeface="Calibri"/>
                <a:cs typeface="Calibri"/>
              </a:defRPr>
            </a:pPr>
            <a:r>
              <a:rPr sz="1275" b="0">
                <a:solidFill>
                  <a:srgbClr val="5B6178"/>
                </a:solidFill>
                <a:latin typeface="Calibri"/>
                <a:ea typeface="Calibri"/>
                <a:cs typeface="Calibri"/>
              </a:rPr>
              <a:t>Rosenbaum (2023), ch. 2, pp. 21–25</a:t>
            </a:r>
          </a:p>
        </p:txBody>
      </p:sp>
      <p:sp>
        <p:nvSpPr>
          <p:cNvPr id="4" name="Rectangle 3">
            <a:extLst>
              <a:ext uri="{FF2B5EF4-FFF2-40B4-BE49-F238E27FC236}">
                <a16:creationId xmlns:a16="http://schemas.microsoft.com/office/drawing/2014/main" id="{6F52F1BB-AC60-48E4-8AE8-E130CAA38AFE}"/>
              </a:ext>
            </a:extLst>
          </p:cNvPr>
          <p:cNvSpPr>
            <a:spLocks noGrp="1"/>
          </p:cNvSpPr>
          <p:nvPr/>
        </p:nvSpPr>
        <p:spPr>
          <a:xfrm>
            <a:off x="548640" y="6400800"/>
            <a:ext cx="6667500" cy="276225"/>
          </a:xfrm>
          <a:prstGeom prst="rect">
            <a:avLst/>
          </a:prstGeom>
          <a:noFill/>
          <a:ln w="0">
            <a:noFill/>
          </a:ln>
        </p:spPr>
        <p:txBody>
          <a:bodyPr>
            <a:noAutofit/>
          </a:bodyPr>
          <a:lstStyle/>
          <a:p>
            <a:pPr>
              <a:defRPr sz="1000" b="0">
                <a:solidFill>
                  <a:srgbClr val="5B6178"/>
                </a:solidFill>
                <a:latin typeface="Calibri"/>
                <a:ea typeface="Calibri"/>
                <a:cs typeface="Calibri"/>
              </a:defRPr>
            </a:pPr>
            <a:r>
              <a:rPr sz="1000" b="0">
                <a:solidFill>
                  <a:srgbClr val="5B6178"/>
                </a:solidFill>
                <a:latin typeface="Calibri"/>
                <a:ea typeface="Calibri"/>
                <a:cs typeface="Calibri"/>
              </a:rPr>
              <a:t>Week 4 · Randomized Controlled Trials  |  16</a:t>
            </a:r>
          </a:p>
        </p:txBody>
      </p:sp>
      <p:sp>
        <p:nvSpPr>
          <p:cNvPr id="5" name="Rectangle 4">
            <a:extLst>
              <a:ext uri="{FF2B5EF4-FFF2-40B4-BE49-F238E27FC236}">
                <a16:creationId xmlns:a16="http://schemas.microsoft.com/office/drawing/2014/main" id="{81095F6B-3819-443A-B9C1-6C1DC3539E00}"/>
              </a:ext>
            </a:extLst>
          </p:cNvPr>
          <p:cNvSpPr>
            <a:spLocks noGrp="1"/>
          </p:cNvSpPr>
          <p:nvPr/>
        </p:nvSpPr>
        <p:spPr>
          <a:xfrm>
            <a:off x="571500" y="1704975"/>
            <a:ext cx="3333750" cy="476250"/>
          </a:xfrm>
          <a:prstGeom prst="rect">
            <a:avLst/>
          </a:prstGeom>
          <a:noFill/>
          <a:ln w="0">
            <a:noFill/>
          </a:ln>
        </p:spPr>
        <p:txBody>
          <a:bodyPr>
            <a:noAutofit/>
          </a:bodyPr>
          <a:lstStyle/>
          <a:p>
            <a:pPr>
              <a:defRPr sz="2475" b="1">
                <a:solidFill>
                  <a:srgbClr val="00274D"/>
                </a:solidFill>
                <a:latin typeface="Calibri"/>
                <a:ea typeface="Calibri"/>
                <a:cs typeface="Calibri"/>
              </a:defRPr>
            </a:pPr>
            <a:r>
              <a:rPr sz="2475" b="1">
                <a:solidFill>
                  <a:srgbClr val="00274D"/>
                </a:solidFill>
                <a:latin typeface="Calibri"/>
                <a:ea typeface="Calibri"/>
                <a:cs typeface="Calibri"/>
              </a:rPr>
              <a:t>Equipoise</a:t>
            </a:r>
          </a:p>
        </p:txBody>
      </p:sp>
      <p:sp>
        <p:nvSpPr>
          <p:cNvPr id="6" name="Rectangle 5">
            <a:extLst>
              <a:ext uri="{FF2B5EF4-FFF2-40B4-BE49-F238E27FC236}">
                <a16:creationId xmlns:a16="http://schemas.microsoft.com/office/drawing/2014/main" id="{4C245817-99A8-40D3-B4E6-4E4FDEF413DC}"/>
              </a:ext>
            </a:extLst>
          </p:cNvPr>
          <p:cNvSpPr>
            <a:spLocks noGrp="1"/>
          </p:cNvSpPr>
          <p:nvPr/>
        </p:nvSpPr>
        <p:spPr>
          <a:xfrm>
            <a:off x="571500" y="2276475"/>
            <a:ext cx="10953750" cy="819150"/>
          </a:xfrm>
          <a:prstGeom prst="rect">
            <a:avLst/>
          </a:prstGeom>
          <a:noFill/>
          <a:ln w="0">
            <a:noFill/>
          </a:ln>
        </p:spPr>
        <p:txBody>
          <a:bodyPr>
            <a:noAutofit/>
          </a:bodyPr>
          <a:lstStyle/>
          <a:p>
            <a:pPr>
              <a:defRPr sz="2175" b="0">
                <a:solidFill>
                  <a:srgbClr val="1A1A2E"/>
                </a:solidFill>
                <a:latin typeface="Calibri"/>
                <a:ea typeface="Calibri"/>
                <a:cs typeface="Calibri"/>
              </a:defRPr>
            </a:pPr>
            <a:r>
              <a:rPr sz="2175" b="0">
                <a:solidFill>
                  <a:srgbClr val="1A1A2E"/>
                </a:solidFill>
                <a:latin typeface="Calibri"/>
                <a:ea typeface="Calibri"/>
                <a:cs typeface="Calibri"/>
              </a:rPr>
              <a:t>Informed experts have genuine uncertainty or disagreement</a:t>
            </a:r>
          </a:p>
          <a:p>
            <a:pPr>
              <a:defRPr sz="2175" b="0">
                <a:solidFill>
                  <a:srgbClr val="1A1A2E"/>
                </a:solidFill>
                <a:latin typeface="Calibri"/>
                <a:ea typeface="Calibri"/>
                <a:cs typeface="Calibri"/>
              </a:defRPr>
            </a:pPr>
            <a:r>
              <a:rPr sz="2175" b="0">
                <a:solidFill>
                  <a:srgbClr val="1A1A2E"/>
                </a:solidFill>
                <a:latin typeface="Calibri"/>
                <a:ea typeface="Calibri"/>
                <a:cs typeface="Calibri"/>
              </a:rPr>
              <a:t>about which intervention better serves participants.</a:t>
            </a:r>
          </a:p>
        </p:txBody>
      </p:sp>
      <p:sp>
        <p:nvSpPr>
          <p:cNvPr id="7" name="Rectangle 6">
            <a:extLst>
              <a:ext uri="{FF2B5EF4-FFF2-40B4-BE49-F238E27FC236}">
                <a16:creationId xmlns:a16="http://schemas.microsoft.com/office/drawing/2014/main" id="{3CF612F6-7DC5-48D3-BFA9-F51384C9B510}"/>
              </a:ext>
            </a:extLst>
          </p:cNvPr>
          <p:cNvSpPr>
            <a:spLocks noGrp="1"/>
          </p:cNvSpPr>
          <p:nvPr/>
        </p:nvSpPr>
        <p:spPr>
          <a:xfrm>
            <a:off x="571500" y="3543300"/>
            <a:ext cx="10953750" cy="809625"/>
          </a:xfrm>
          <a:prstGeom prst="rect">
            <a:avLst/>
          </a:prstGeom>
          <a:noFill/>
          <a:ln w="0">
            <a:noFill/>
          </a:ln>
        </p:spPr>
        <p:txBody>
          <a:bodyPr>
            <a:noAutofit/>
          </a:bodyPr>
          <a:lstStyle/>
          <a:p>
            <a:pPr>
              <a:defRPr sz="2175" b="0">
                <a:solidFill>
                  <a:srgbClr val="1A1A2E"/>
                </a:solidFill>
                <a:latin typeface="Calibri"/>
                <a:ea typeface="Calibri"/>
                <a:cs typeface="Calibri"/>
              </a:defRPr>
            </a:pPr>
            <a:r>
              <a:rPr sz="2175" b="0">
                <a:solidFill>
                  <a:srgbClr val="1A1A2E"/>
                </a:solidFill>
                <a:latin typeface="Calibri"/>
                <a:ea typeface="Calibri"/>
                <a:cs typeface="Calibri"/>
              </a:rPr>
              <a:t>PALM used active treatments, informed consent, ethics review,</a:t>
            </a:r>
          </a:p>
          <a:p>
            <a:pPr>
              <a:defRPr sz="2175" b="0">
                <a:solidFill>
                  <a:srgbClr val="1A1A2E"/>
                </a:solidFill>
                <a:latin typeface="Calibri"/>
                <a:ea typeface="Calibri"/>
                <a:cs typeface="Calibri"/>
              </a:defRPr>
            </a:pPr>
            <a:r>
              <a:rPr sz="2175" b="0">
                <a:solidFill>
                  <a:srgbClr val="1A1A2E"/>
                </a:solidFill>
                <a:latin typeface="Calibri"/>
                <a:ea typeface="Calibri"/>
                <a:cs typeface="Calibri"/>
              </a:rPr>
              <a:t>and an independent data and safety monitoring board.</a:t>
            </a:r>
          </a:p>
        </p:txBody>
      </p:sp>
      <p:sp>
        <p:nvSpPr>
          <p:cNvPr id="8" name="Rectangle 7">
            <a:extLst>
              <a:ext uri="{FF2B5EF4-FFF2-40B4-BE49-F238E27FC236}">
                <a16:creationId xmlns:a16="http://schemas.microsoft.com/office/drawing/2014/main" id="{5CA3A4EA-B4BE-4F61-9D33-F833F7EE960B}"/>
              </a:ext>
            </a:extLst>
          </p:cNvPr>
          <p:cNvSpPr>
            <a:spLocks noGrp="1"/>
          </p:cNvSpPr>
          <p:nvPr/>
        </p:nvSpPr>
        <p:spPr>
          <a:xfrm>
            <a:off x="571500" y="4543425"/>
            <a:ext cx="11049000" cy="523875"/>
          </a:xfrm>
          <a:prstGeom prst="rect">
            <a:avLst/>
          </a:prstGeom>
          <a:noFill/>
          <a:ln w="0">
            <a:noFill/>
          </a:ln>
        </p:spPr>
        <p:txBody>
          <a:bodyPr>
            <a:noAutofit/>
          </a:bodyPr>
          <a:lstStyle/>
          <a:p>
            <a:pPr>
              <a:defRPr sz="2100" b="0">
                <a:solidFill>
                  <a:srgbClr val="1A1A2E"/>
                </a:solidFill>
                <a:latin typeface="Calibri"/>
                <a:ea typeface="Calibri"/>
                <a:cs typeface="Calibri"/>
              </a:defRPr>
            </a:pPr>
            <a:r>
              <a:rPr sz="2100" b="0">
                <a:solidFill>
                  <a:srgbClr val="1A1A2E"/>
                </a:solidFill>
                <a:latin typeface="Calibri"/>
                <a:ea typeface="Calibri"/>
                <a:cs typeface="Calibri"/>
              </a:rPr>
              <a:t>A planned interim review led to stopping inferior treatment arms.</a:t>
            </a:r>
          </a:p>
        </p:txBody>
      </p:sp>
      <p:sp>
        <p:nvSpPr>
          <p:cNvPr id="9" name="Rectangle 8">
            <a:extLst>
              <a:ext uri="{FF2B5EF4-FFF2-40B4-BE49-F238E27FC236}">
                <a16:creationId xmlns:a16="http://schemas.microsoft.com/office/drawing/2014/main" id="{CBBADBEE-3298-46F2-A8D8-96C31453009C}"/>
              </a:ext>
            </a:extLst>
          </p:cNvPr>
          <p:cNvSpPr>
            <a:spLocks noGrp="1"/>
          </p:cNvSpPr>
          <p:nvPr/>
        </p:nvSpPr>
        <p:spPr>
          <a:xfrm>
            <a:off x="571500" y="5410200"/>
            <a:ext cx="11049000" cy="523875"/>
          </a:xfrm>
          <a:prstGeom prst="rect">
            <a:avLst/>
          </a:prstGeom>
          <a:noFill/>
          <a:ln w="0">
            <a:noFill/>
          </a:ln>
        </p:spPr>
        <p:txBody>
          <a:bodyPr>
            <a:noAutofit/>
          </a:bodyPr>
          <a:lstStyle/>
          <a:p>
            <a:pPr>
              <a:defRPr sz="2100" b="1">
                <a:solidFill>
                  <a:srgbClr val="1B4F8C"/>
                </a:solidFill>
                <a:latin typeface="Calibri"/>
                <a:ea typeface="Calibri"/>
                <a:cs typeface="Calibri"/>
              </a:defRPr>
            </a:pPr>
            <a:r>
              <a:rPr sz="2100" b="1">
                <a:solidFill>
                  <a:srgbClr val="1B4F8C"/>
                </a:solidFill>
                <a:latin typeface="Calibri"/>
                <a:ea typeface="Calibri"/>
                <a:cs typeface="Calibri"/>
              </a:rPr>
              <a:t>Discussion: When is allocating a scarce program by lottery fair?</a:t>
            </a:r>
          </a:p>
        </p:txBody>
      </p:sp>
    </p:spTree>
    <p:extLst>
      <p:ext uri="{BB962C8B-B14F-4D97-AF65-F5344CB8AC3E}">
        <p14:creationId xmlns:p14="http://schemas.microsoft.com/office/powerpoint/2010/main" val="1751679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62E2A67-7B7E-44D8-8C84-1E54EF131815}"/>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MULTI-ARM DESIGNS</a:t>
            </a:r>
            <a:endParaRPr sz="1200"/>
          </a:p>
        </p:txBody>
      </p:sp>
      <p:sp>
        <p:nvSpPr>
          <p:cNvPr id="3" name="Text 1">
            <a:extLst>
              <a:ext uri="{FF2B5EF4-FFF2-40B4-BE49-F238E27FC236}">
                <a16:creationId xmlns:a16="http://schemas.microsoft.com/office/drawing/2014/main" id="{47CDA6F0-B321-4BD0-9CDD-C8EDC7B658C7}"/>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Each contrast answers a different causal question</a:t>
            </a:r>
            <a:endParaRPr sz="3000"/>
          </a:p>
        </p:txBody>
      </p:sp>
      <p:sp>
        <p:nvSpPr>
          <p:cNvPr id="4" name="Text 2">
            <a:extLst>
              <a:ext uri="{FF2B5EF4-FFF2-40B4-BE49-F238E27FC236}">
                <a16:creationId xmlns:a16="http://schemas.microsoft.com/office/drawing/2014/main" id="{0DDBA0A8-C330-47E5-98B6-0C4C55AC5F82}"/>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17</a:t>
            </a:r>
            <a:endParaRPr sz="1000"/>
          </a:p>
        </p:txBody>
      </p:sp>
      <p:graphicFrame>
        <p:nvGraphicFramePr>
          <p:cNvPr id="22" name="Chart 0"/>
          <p:cNvGraphicFramePr/>
          <p:nvPr/>
        </p:nvGraphicFramePr>
        <p:xfrm>
          <a:off x="548640" y="1417320"/>
          <a:ext cx="60350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a:extLst>
              <a:ext uri="{FF2B5EF4-FFF2-40B4-BE49-F238E27FC236}">
                <a16:creationId xmlns:a16="http://schemas.microsoft.com/office/drawing/2014/main" id="{4E782AF7-AF14-4EDF-9350-CC5A228AAA90}"/>
              </a:ext>
            </a:extLst>
          </p:cNvPr>
          <p:cNvSpPr>
            <a:spLocks noGrp="1"/>
          </p:cNvSpPr>
          <p:nvPr/>
        </p:nvSpPr>
        <p:spPr>
          <a:xfrm>
            <a:off x="6949440" y="1463040"/>
            <a:ext cx="4663440" cy="1188720"/>
          </a:xfrm>
          <a:prstGeom prst="roundRect">
            <a:avLst>
              <a:gd name="adj" fmla="val 7692"/>
            </a:avLst>
          </a:prstGeom>
          <a:solidFill>
            <a:srgbClr val="EEF3F8"/>
          </a:solidFill>
          <a:ln w="12700">
            <a:solidFill>
              <a:srgbClr val="EEF3F8"/>
            </a:solidFill>
            <a:prstDash val="solid"/>
          </a:ln>
        </p:spPr>
        <p:txBody>
          <a:bodyPr/>
          <a:lstStyle/>
          <a:p>
            <a:endParaRPr lang="en-US"/>
          </a:p>
        </p:txBody>
      </p:sp>
      <p:sp>
        <p:nvSpPr>
          <p:cNvPr id="7" name="Text 4">
            <a:extLst>
              <a:ext uri="{FF2B5EF4-FFF2-40B4-BE49-F238E27FC236}">
                <a16:creationId xmlns:a16="http://schemas.microsoft.com/office/drawing/2014/main" id="{3355CCB9-C0A1-430A-A8F7-89754EAF2C76}"/>
              </a:ext>
            </a:extLst>
          </p:cNvPr>
          <p:cNvSpPr>
            <a:spLocks noGrp="1"/>
          </p:cNvSpPr>
          <p:nvPr/>
        </p:nvSpPr>
        <p:spPr>
          <a:xfrm>
            <a:off x="7178040" y="1554480"/>
            <a:ext cx="2926080" cy="411480"/>
          </a:xfrm>
          <a:prstGeom prst="rect">
            <a:avLst/>
          </a:prstGeom>
          <a:noFill/>
        </p:spPr>
        <p:txBody>
          <a:bodyPr wrap="square" lIns="0" tIns="0" rIns="0" bIns="0" anchor="t"/>
          <a:lstStyle/>
          <a:p>
            <a:pPr marL="0" indent="0">
              <a:buNone/>
            </a:pPr>
            <a:r>
              <a:rPr sz="1700" b="1">
                <a:solidFill>
                  <a:srgbClr val="00274D"/>
                </a:solidFill>
                <a:latin typeface="Calibri"/>
                <a:ea typeface="Calibri"/>
                <a:cs typeface="Calibri"/>
              </a:rPr>
              <a:t>Civic Duty</a:t>
            </a:r>
            <a:endParaRPr sz="1700"/>
          </a:p>
        </p:txBody>
      </p:sp>
      <p:sp>
        <p:nvSpPr>
          <p:cNvPr id="8" name="Text 5">
            <a:extLst>
              <a:ext uri="{FF2B5EF4-FFF2-40B4-BE49-F238E27FC236}">
                <a16:creationId xmlns:a16="http://schemas.microsoft.com/office/drawing/2014/main" id="{03F6EAB9-DE56-408C-BDDE-B081F2062CC5}"/>
              </a:ext>
            </a:extLst>
          </p:cNvPr>
          <p:cNvSpPr>
            <a:spLocks noGrp="1"/>
          </p:cNvSpPr>
          <p:nvPr/>
        </p:nvSpPr>
        <p:spPr>
          <a:xfrm>
            <a:off x="7178040" y="1965960"/>
            <a:ext cx="3017520" cy="594360"/>
          </a:xfrm>
          <a:prstGeom prst="rect">
            <a:avLst/>
          </a:prstGeom>
          <a:noFill/>
        </p:spPr>
        <p:txBody>
          <a:bodyPr wrap="square" lIns="0" tIns="0" rIns="0" bIns="0" anchor="t"/>
          <a:lstStyle/>
          <a:p>
            <a:pPr marL="0" indent="0">
              <a:buNone/>
            </a:pPr>
            <a:r>
              <a:rPr sz="1400">
                <a:solidFill>
                  <a:srgbClr val="5B6178"/>
                </a:solidFill>
                <a:latin typeface="Calibri"/>
                <a:ea typeface="Calibri"/>
                <a:cs typeface="Calibri"/>
              </a:rPr>
              <a:t>“Please vote.”</a:t>
            </a:r>
            <a:endParaRPr sz="1400"/>
          </a:p>
        </p:txBody>
      </p:sp>
      <p:sp>
        <p:nvSpPr>
          <p:cNvPr id="9" name="Text 6">
            <a:extLst>
              <a:ext uri="{FF2B5EF4-FFF2-40B4-BE49-F238E27FC236}">
                <a16:creationId xmlns:a16="http://schemas.microsoft.com/office/drawing/2014/main" id="{52A4F366-8B0F-41F1-AB28-743E1F532E0F}"/>
              </a:ext>
            </a:extLst>
          </p:cNvPr>
          <p:cNvSpPr>
            <a:spLocks noGrp="1"/>
          </p:cNvSpPr>
          <p:nvPr/>
        </p:nvSpPr>
        <p:spPr>
          <a:xfrm>
            <a:off x="10058400" y="1463040"/>
            <a:ext cx="1371600" cy="1188720"/>
          </a:xfrm>
          <a:prstGeom prst="rect">
            <a:avLst/>
          </a:prstGeom>
          <a:noFill/>
        </p:spPr>
        <p:txBody>
          <a:bodyPr wrap="square" lIns="0" tIns="0" rIns="0" bIns="0" anchor="ctr"/>
          <a:lstStyle/>
          <a:p>
            <a:pPr marL="0" indent="0" algn="r">
              <a:buNone/>
            </a:pPr>
            <a:r>
              <a:rPr sz="2200" b="1">
                <a:solidFill>
                  <a:srgbClr val="1E7A46"/>
                </a:solidFill>
                <a:latin typeface="Cambria"/>
                <a:ea typeface="Cambria"/>
                <a:cs typeface="Cambria"/>
              </a:rPr>
              <a:t>+1.8 pts</a:t>
            </a:r>
            <a:endParaRPr sz="2200"/>
          </a:p>
        </p:txBody>
      </p:sp>
      <p:sp>
        <p:nvSpPr>
          <p:cNvPr id="10" name="Shape 7">
            <a:extLst>
              <a:ext uri="{FF2B5EF4-FFF2-40B4-BE49-F238E27FC236}">
                <a16:creationId xmlns:a16="http://schemas.microsoft.com/office/drawing/2014/main" id="{0A00FBE7-B572-4BB8-97A6-EEE4E66F31A2}"/>
              </a:ext>
            </a:extLst>
          </p:cNvPr>
          <p:cNvSpPr>
            <a:spLocks noGrp="1"/>
          </p:cNvSpPr>
          <p:nvPr/>
        </p:nvSpPr>
        <p:spPr>
          <a:xfrm>
            <a:off x="6949440" y="2834640"/>
            <a:ext cx="4663440" cy="1188720"/>
          </a:xfrm>
          <a:prstGeom prst="roundRect">
            <a:avLst>
              <a:gd name="adj" fmla="val 7692"/>
            </a:avLst>
          </a:prstGeom>
          <a:solidFill>
            <a:srgbClr val="EEF3F8"/>
          </a:solidFill>
          <a:ln w="12700">
            <a:solidFill>
              <a:srgbClr val="EEF3F8"/>
            </a:solidFill>
            <a:prstDash val="solid"/>
          </a:ln>
        </p:spPr>
        <p:txBody>
          <a:bodyPr/>
          <a:lstStyle/>
          <a:p>
            <a:endParaRPr lang="en-US"/>
          </a:p>
        </p:txBody>
      </p:sp>
      <p:sp>
        <p:nvSpPr>
          <p:cNvPr id="11" name="Text 8">
            <a:extLst>
              <a:ext uri="{FF2B5EF4-FFF2-40B4-BE49-F238E27FC236}">
                <a16:creationId xmlns:a16="http://schemas.microsoft.com/office/drawing/2014/main" id="{D996C194-176E-4CBD-92E2-F8477BDC3677}"/>
              </a:ext>
            </a:extLst>
          </p:cNvPr>
          <p:cNvSpPr>
            <a:spLocks noGrp="1"/>
          </p:cNvSpPr>
          <p:nvPr/>
        </p:nvSpPr>
        <p:spPr>
          <a:xfrm>
            <a:off x="7178040" y="2926080"/>
            <a:ext cx="2926080" cy="411480"/>
          </a:xfrm>
          <a:prstGeom prst="rect">
            <a:avLst/>
          </a:prstGeom>
          <a:noFill/>
        </p:spPr>
        <p:txBody>
          <a:bodyPr wrap="square" lIns="0" tIns="0" rIns="0" bIns="0" anchor="t"/>
          <a:lstStyle/>
          <a:p>
            <a:pPr marL="0" indent="0">
              <a:buNone/>
            </a:pPr>
            <a:r>
              <a:rPr sz="1700" b="1">
                <a:solidFill>
                  <a:srgbClr val="00274D"/>
                </a:solidFill>
                <a:latin typeface="Calibri"/>
                <a:ea typeface="Calibri"/>
                <a:cs typeface="Calibri"/>
              </a:rPr>
              <a:t>Hawthorne</a:t>
            </a:r>
            <a:endParaRPr sz="1700"/>
          </a:p>
        </p:txBody>
      </p:sp>
      <p:sp>
        <p:nvSpPr>
          <p:cNvPr id="12" name="Text 9">
            <a:extLst>
              <a:ext uri="{FF2B5EF4-FFF2-40B4-BE49-F238E27FC236}">
                <a16:creationId xmlns:a16="http://schemas.microsoft.com/office/drawing/2014/main" id="{CC298798-0C49-47F6-91C0-FFA75C2BFEC1}"/>
              </a:ext>
            </a:extLst>
          </p:cNvPr>
          <p:cNvSpPr>
            <a:spLocks noGrp="1"/>
          </p:cNvSpPr>
          <p:nvPr/>
        </p:nvSpPr>
        <p:spPr>
          <a:xfrm>
            <a:off x="7178040" y="3337560"/>
            <a:ext cx="3017520" cy="594360"/>
          </a:xfrm>
          <a:prstGeom prst="rect">
            <a:avLst/>
          </a:prstGeom>
          <a:noFill/>
        </p:spPr>
        <p:txBody>
          <a:bodyPr wrap="square" lIns="0" tIns="0" rIns="0" bIns="0" anchor="t"/>
          <a:lstStyle/>
          <a:p>
            <a:pPr marL="0" indent="0">
              <a:buNone/>
            </a:pPr>
            <a:r>
              <a:rPr sz="1400">
                <a:solidFill>
                  <a:srgbClr val="5B6178"/>
                </a:solidFill>
                <a:latin typeface="Calibri"/>
                <a:ea typeface="Calibri"/>
                <a:cs typeface="Calibri"/>
              </a:rPr>
              <a:t>+ “You are being studied.”</a:t>
            </a:r>
            <a:endParaRPr sz="1400"/>
          </a:p>
        </p:txBody>
      </p:sp>
      <p:sp>
        <p:nvSpPr>
          <p:cNvPr id="13" name="Text 10">
            <a:extLst>
              <a:ext uri="{FF2B5EF4-FFF2-40B4-BE49-F238E27FC236}">
                <a16:creationId xmlns:a16="http://schemas.microsoft.com/office/drawing/2014/main" id="{D173A497-D984-4C3B-A19D-81CC22966575}"/>
              </a:ext>
            </a:extLst>
          </p:cNvPr>
          <p:cNvSpPr>
            <a:spLocks noGrp="1"/>
          </p:cNvSpPr>
          <p:nvPr/>
        </p:nvSpPr>
        <p:spPr>
          <a:xfrm>
            <a:off x="10058400" y="2834640"/>
            <a:ext cx="1371600" cy="1188720"/>
          </a:xfrm>
          <a:prstGeom prst="rect">
            <a:avLst/>
          </a:prstGeom>
          <a:noFill/>
        </p:spPr>
        <p:txBody>
          <a:bodyPr wrap="square" lIns="0" tIns="0" rIns="0" bIns="0" anchor="ctr"/>
          <a:lstStyle/>
          <a:p>
            <a:pPr marL="0" indent="0" algn="r">
              <a:buNone/>
            </a:pPr>
            <a:r>
              <a:rPr sz="2200" b="1">
                <a:solidFill>
                  <a:srgbClr val="1E7A46"/>
                </a:solidFill>
                <a:latin typeface="Cambria"/>
                <a:ea typeface="Cambria"/>
                <a:cs typeface="Cambria"/>
              </a:rPr>
              <a:t>+2.6 pts</a:t>
            </a:r>
            <a:endParaRPr sz="2200"/>
          </a:p>
        </p:txBody>
      </p:sp>
      <p:sp>
        <p:nvSpPr>
          <p:cNvPr id="14" name="Shape 11">
            <a:extLst>
              <a:ext uri="{FF2B5EF4-FFF2-40B4-BE49-F238E27FC236}">
                <a16:creationId xmlns:a16="http://schemas.microsoft.com/office/drawing/2014/main" id="{50041F68-0023-408D-8E8C-C222101BB59A}"/>
              </a:ext>
            </a:extLst>
          </p:cNvPr>
          <p:cNvSpPr>
            <a:spLocks noGrp="1"/>
          </p:cNvSpPr>
          <p:nvPr/>
        </p:nvSpPr>
        <p:spPr>
          <a:xfrm>
            <a:off x="6949440" y="4206240"/>
            <a:ext cx="4663440" cy="1188720"/>
          </a:xfrm>
          <a:prstGeom prst="roundRect">
            <a:avLst>
              <a:gd name="adj" fmla="val 7692"/>
            </a:avLst>
          </a:prstGeom>
          <a:solidFill>
            <a:srgbClr val="EEF3F8"/>
          </a:solidFill>
          <a:ln w="12700">
            <a:solidFill>
              <a:srgbClr val="EEF3F8"/>
            </a:solidFill>
            <a:prstDash val="solid"/>
          </a:ln>
        </p:spPr>
        <p:txBody>
          <a:bodyPr/>
          <a:lstStyle/>
          <a:p>
            <a:endParaRPr lang="en-US"/>
          </a:p>
        </p:txBody>
      </p:sp>
      <p:sp>
        <p:nvSpPr>
          <p:cNvPr id="15" name="Text 12">
            <a:extLst>
              <a:ext uri="{FF2B5EF4-FFF2-40B4-BE49-F238E27FC236}">
                <a16:creationId xmlns:a16="http://schemas.microsoft.com/office/drawing/2014/main" id="{2BD74A43-4FE8-4746-A1DF-103B8242C210}"/>
              </a:ext>
            </a:extLst>
          </p:cNvPr>
          <p:cNvSpPr>
            <a:spLocks noGrp="1"/>
          </p:cNvSpPr>
          <p:nvPr/>
        </p:nvSpPr>
        <p:spPr>
          <a:xfrm>
            <a:off x="7178040" y="4297680"/>
            <a:ext cx="2926080" cy="411480"/>
          </a:xfrm>
          <a:prstGeom prst="rect">
            <a:avLst/>
          </a:prstGeom>
          <a:noFill/>
        </p:spPr>
        <p:txBody>
          <a:bodyPr wrap="square" lIns="0" tIns="0" rIns="0" bIns="0" anchor="t"/>
          <a:lstStyle/>
          <a:p>
            <a:pPr marL="0" indent="0">
              <a:buNone/>
            </a:pPr>
            <a:r>
              <a:rPr sz="1700" b="1">
                <a:solidFill>
                  <a:srgbClr val="00274D"/>
                </a:solidFill>
                <a:latin typeface="Calibri"/>
                <a:ea typeface="Calibri"/>
                <a:cs typeface="Calibri"/>
              </a:rPr>
              <a:t>Neighbors</a:t>
            </a:r>
            <a:endParaRPr sz="1700"/>
          </a:p>
        </p:txBody>
      </p:sp>
      <p:sp>
        <p:nvSpPr>
          <p:cNvPr id="16" name="Text 13">
            <a:extLst>
              <a:ext uri="{FF2B5EF4-FFF2-40B4-BE49-F238E27FC236}">
                <a16:creationId xmlns:a16="http://schemas.microsoft.com/office/drawing/2014/main" id="{F133E4CE-301E-40D8-9DA2-A2BC87F81C19}"/>
              </a:ext>
            </a:extLst>
          </p:cNvPr>
          <p:cNvSpPr>
            <a:spLocks noGrp="1"/>
          </p:cNvSpPr>
          <p:nvPr/>
        </p:nvSpPr>
        <p:spPr>
          <a:xfrm>
            <a:off x="7178040" y="4709160"/>
            <a:ext cx="3017520" cy="594360"/>
          </a:xfrm>
          <a:prstGeom prst="rect">
            <a:avLst/>
          </a:prstGeom>
          <a:noFill/>
        </p:spPr>
        <p:txBody>
          <a:bodyPr wrap="square" lIns="0" tIns="0" rIns="0" bIns="0" anchor="t"/>
          <a:lstStyle/>
          <a:p>
            <a:pPr marL="0" indent="0">
              <a:buNone/>
            </a:pPr>
            <a:r>
              <a:rPr sz="1400">
                <a:solidFill>
                  <a:srgbClr val="5B6178"/>
                </a:solidFill>
                <a:latin typeface="Calibri"/>
                <a:ea typeface="Calibri"/>
                <a:cs typeface="Calibri"/>
              </a:rPr>
              <a:t>+ your and your neighbors’ voting records</a:t>
            </a:r>
            <a:endParaRPr sz="1400"/>
          </a:p>
        </p:txBody>
      </p:sp>
      <p:sp>
        <p:nvSpPr>
          <p:cNvPr id="17" name="Text 14">
            <a:extLst>
              <a:ext uri="{FF2B5EF4-FFF2-40B4-BE49-F238E27FC236}">
                <a16:creationId xmlns:a16="http://schemas.microsoft.com/office/drawing/2014/main" id="{CDFD9E17-01BE-4562-B9DD-11523C55CD09}"/>
              </a:ext>
            </a:extLst>
          </p:cNvPr>
          <p:cNvSpPr>
            <a:spLocks noGrp="1"/>
          </p:cNvSpPr>
          <p:nvPr/>
        </p:nvSpPr>
        <p:spPr>
          <a:xfrm>
            <a:off x="10058400" y="4206240"/>
            <a:ext cx="1371600" cy="1188720"/>
          </a:xfrm>
          <a:prstGeom prst="rect">
            <a:avLst/>
          </a:prstGeom>
          <a:noFill/>
        </p:spPr>
        <p:txBody>
          <a:bodyPr wrap="square" lIns="0" tIns="0" rIns="0" bIns="0" anchor="ctr"/>
          <a:lstStyle/>
          <a:p>
            <a:pPr marL="0" indent="0" algn="r">
              <a:buNone/>
            </a:pPr>
            <a:r>
              <a:rPr sz="2200" b="1">
                <a:solidFill>
                  <a:srgbClr val="1E7A46"/>
                </a:solidFill>
                <a:latin typeface="Cambria"/>
                <a:ea typeface="Cambria"/>
                <a:cs typeface="Cambria"/>
              </a:rPr>
              <a:t>+8.1 pts</a:t>
            </a:r>
            <a:endParaRPr sz="2200"/>
          </a:p>
        </p:txBody>
      </p:sp>
    </p:spTree>
    <p:extLst>
      <p:ext uri="{BB962C8B-B14F-4D97-AF65-F5344CB8AC3E}">
        <p14:creationId xmlns:p14="http://schemas.microsoft.com/office/powerpoint/2010/main" val="2030879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77FD80C-8B3A-4941-B9EE-5417977F5188}"/>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ASSIGNMENT MECHANISMS</a:t>
            </a:r>
            <a:endParaRPr sz="1200"/>
          </a:p>
        </p:txBody>
      </p:sp>
      <p:sp>
        <p:nvSpPr>
          <p:cNvPr id="3" name="Text 1">
            <a:extLst>
              <a:ext uri="{FF2B5EF4-FFF2-40B4-BE49-F238E27FC236}">
                <a16:creationId xmlns:a16="http://schemas.microsoft.com/office/drawing/2014/main" id="{9D160830-863D-4207-B9C3-310E54F97FD4}"/>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How you randomize matters</a:t>
            </a:r>
            <a:endParaRPr sz="3000"/>
          </a:p>
        </p:txBody>
      </p:sp>
      <p:sp>
        <p:nvSpPr>
          <p:cNvPr id="4" name="Text 2">
            <a:extLst>
              <a:ext uri="{FF2B5EF4-FFF2-40B4-BE49-F238E27FC236}">
                <a16:creationId xmlns:a16="http://schemas.microsoft.com/office/drawing/2014/main" id="{5DEB9F31-3B10-4CC9-800C-1227F7A0CDCB}"/>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18</a:t>
            </a:r>
            <a:endParaRPr sz="1000"/>
          </a:p>
        </p:txBody>
      </p:sp>
      <p:sp>
        <p:nvSpPr>
          <p:cNvPr id="5" name="Shape 3">
            <a:extLst>
              <a:ext uri="{FF2B5EF4-FFF2-40B4-BE49-F238E27FC236}">
                <a16:creationId xmlns:a16="http://schemas.microsoft.com/office/drawing/2014/main" id="{1FE83FF0-7A90-45AA-8DCF-60716CCA46EF}"/>
              </a:ext>
            </a:extLst>
          </p:cNvPr>
          <p:cNvSpPr>
            <a:spLocks noGrp="1"/>
          </p:cNvSpPr>
          <p:nvPr/>
        </p:nvSpPr>
        <p:spPr>
          <a:xfrm>
            <a:off x="548640" y="1463040"/>
            <a:ext cx="5440680" cy="1874520"/>
          </a:xfrm>
          <a:prstGeom prst="roundRect">
            <a:avLst>
              <a:gd name="adj" fmla="val 4878"/>
            </a:avLst>
          </a:prstGeom>
          <a:solidFill>
            <a:srgbClr val="EEF3F8"/>
          </a:solidFill>
          <a:ln w="12700">
            <a:solidFill>
              <a:srgbClr val="EEF3F8"/>
            </a:solidFill>
            <a:prstDash val="solid"/>
          </a:ln>
        </p:spPr>
        <p:txBody>
          <a:bodyPr/>
          <a:lstStyle/>
          <a:p>
            <a:endParaRPr lang="en-US"/>
          </a:p>
        </p:txBody>
      </p:sp>
      <p:sp>
        <p:nvSpPr>
          <p:cNvPr id="6" name="Shape 4">
            <a:extLst>
              <a:ext uri="{FF2B5EF4-FFF2-40B4-BE49-F238E27FC236}">
                <a16:creationId xmlns:a16="http://schemas.microsoft.com/office/drawing/2014/main" id="{D8634BE6-DDC2-40A4-9F42-15A7A058234D}"/>
              </a:ext>
            </a:extLst>
          </p:cNvPr>
          <p:cNvSpPr>
            <a:spLocks noGrp="1"/>
          </p:cNvSpPr>
          <p:nvPr/>
        </p:nvSpPr>
        <p:spPr>
          <a:xfrm>
            <a:off x="822960" y="1737360"/>
            <a:ext cx="502920" cy="502920"/>
          </a:xfrm>
          <a:prstGeom prst="ellipse">
            <a:avLst/>
          </a:prstGeom>
          <a:solidFill>
            <a:srgbClr val="00274D"/>
          </a:solidFill>
          <a:ln w="12700">
            <a:solidFill>
              <a:srgbClr val="00274D"/>
            </a:solidFill>
            <a:prstDash val="solid"/>
          </a:ln>
        </p:spPr>
        <p:txBody>
          <a:bodyPr/>
          <a:lstStyle/>
          <a:p>
            <a:endParaRPr lang="en-US"/>
          </a:p>
        </p:txBody>
      </p:sp>
      <p:sp>
        <p:nvSpPr>
          <p:cNvPr id="7" name="Text 5">
            <a:extLst>
              <a:ext uri="{FF2B5EF4-FFF2-40B4-BE49-F238E27FC236}">
                <a16:creationId xmlns:a16="http://schemas.microsoft.com/office/drawing/2014/main" id="{45CB23E0-B55C-44CF-8083-A1AFFD25D320}"/>
              </a:ext>
            </a:extLst>
          </p:cNvPr>
          <p:cNvSpPr>
            <a:spLocks noGrp="1"/>
          </p:cNvSpPr>
          <p:nvPr/>
        </p:nvSpPr>
        <p:spPr>
          <a:xfrm>
            <a:off x="822960" y="17373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1</a:t>
            </a:r>
            <a:endParaRPr sz="1500"/>
          </a:p>
        </p:txBody>
      </p:sp>
      <p:sp>
        <p:nvSpPr>
          <p:cNvPr id="8" name="Text 6">
            <a:extLst>
              <a:ext uri="{FF2B5EF4-FFF2-40B4-BE49-F238E27FC236}">
                <a16:creationId xmlns:a16="http://schemas.microsoft.com/office/drawing/2014/main" id="{2669F454-F4B8-42C9-9569-FFB614DA6B5F}"/>
              </a:ext>
            </a:extLst>
          </p:cNvPr>
          <p:cNvSpPr>
            <a:spLocks noGrp="1"/>
          </p:cNvSpPr>
          <p:nvPr/>
        </p:nvSpPr>
        <p:spPr>
          <a:xfrm>
            <a:off x="1508760" y="171907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Simple</a:t>
            </a:r>
            <a:endParaRPr sz="2000"/>
          </a:p>
        </p:txBody>
      </p:sp>
      <p:sp>
        <p:nvSpPr>
          <p:cNvPr id="9" name="Text 7">
            <a:extLst>
              <a:ext uri="{FF2B5EF4-FFF2-40B4-BE49-F238E27FC236}">
                <a16:creationId xmlns:a16="http://schemas.microsoft.com/office/drawing/2014/main" id="{518061E8-892B-46D4-94D7-D52B36466DA8}"/>
              </a:ext>
            </a:extLst>
          </p:cNvPr>
          <p:cNvSpPr>
            <a:spLocks noGrp="1"/>
          </p:cNvSpPr>
          <p:nvPr/>
        </p:nvSpPr>
        <p:spPr>
          <a:xfrm>
            <a:off x="1508760" y="2286000"/>
            <a:ext cx="4206240" cy="50292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Each unit flips its own coin. Group sizes vary by chance.</a:t>
            </a:r>
            <a:endParaRPr sz="1500"/>
          </a:p>
        </p:txBody>
      </p:sp>
      <p:sp>
        <p:nvSpPr>
          <p:cNvPr id="10" name="Text 8">
            <a:extLst>
              <a:ext uri="{FF2B5EF4-FFF2-40B4-BE49-F238E27FC236}">
                <a16:creationId xmlns:a16="http://schemas.microsoft.com/office/drawing/2014/main" id="{81D3089E-23CD-4E83-930D-DA1E5076B2C9}"/>
              </a:ext>
            </a:extLst>
          </p:cNvPr>
          <p:cNvSpPr>
            <a:spLocks noGrp="1"/>
          </p:cNvSpPr>
          <p:nvPr/>
        </p:nvSpPr>
        <p:spPr>
          <a:xfrm>
            <a:off x="1508760" y="2788920"/>
            <a:ext cx="4206240" cy="457200"/>
          </a:xfrm>
          <a:prstGeom prst="rect">
            <a:avLst/>
          </a:prstGeom>
          <a:noFill/>
        </p:spPr>
        <p:txBody>
          <a:bodyPr wrap="square" lIns="0" tIns="0" rIns="0" bIns="0" anchor="t"/>
          <a:lstStyle/>
          <a:p>
            <a:pPr marL="0" indent="0">
              <a:buNone/>
            </a:pPr>
            <a:r>
              <a:rPr sz="1400" b="1">
                <a:solidFill>
                  <a:srgbClr val="5B6178"/>
                </a:solidFill>
                <a:latin typeface="Calibri"/>
                <a:ea typeface="Calibri"/>
                <a:cs typeface="Calibri"/>
              </a:rPr>
              <a:t>Use when: </a:t>
            </a:r>
            <a:r>
              <a:rPr sz="1400">
                <a:solidFill>
                  <a:srgbClr val="5B6178"/>
                </a:solidFill>
                <a:latin typeface="Calibri"/>
                <a:ea typeface="Calibri"/>
                <a:cs typeface="Calibri"/>
              </a:rPr>
              <a:t>Large samples; easy to implement</a:t>
            </a:r>
            <a:endParaRPr sz="1400"/>
          </a:p>
        </p:txBody>
      </p:sp>
      <p:sp>
        <p:nvSpPr>
          <p:cNvPr id="11" name="Shape 9">
            <a:extLst>
              <a:ext uri="{FF2B5EF4-FFF2-40B4-BE49-F238E27FC236}">
                <a16:creationId xmlns:a16="http://schemas.microsoft.com/office/drawing/2014/main" id="{522D6EEE-0766-4538-9BB9-197BD906012E}"/>
              </a:ext>
            </a:extLst>
          </p:cNvPr>
          <p:cNvSpPr>
            <a:spLocks noGrp="1"/>
          </p:cNvSpPr>
          <p:nvPr/>
        </p:nvSpPr>
        <p:spPr>
          <a:xfrm>
            <a:off x="6172200" y="1463040"/>
            <a:ext cx="5440680" cy="1874520"/>
          </a:xfrm>
          <a:prstGeom prst="roundRect">
            <a:avLst>
              <a:gd name="adj" fmla="val 4878"/>
            </a:avLst>
          </a:prstGeom>
          <a:solidFill>
            <a:srgbClr val="EEF3F8"/>
          </a:solidFill>
          <a:ln w="12700">
            <a:solidFill>
              <a:srgbClr val="EEF3F8"/>
            </a:solidFill>
            <a:prstDash val="solid"/>
          </a:ln>
        </p:spPr>
        <p:txBody>
          <a:bodyPr/>
          <a:lstStyle/>
          <a:p>
            <a:endParaRPr lang="en-US"/>
          </a:p>
        </p:txBody>
      </p:sp>
      <p:sp>
        <p:nvSpPr>
          <p:cNvPr id="12" name="Shape 10">
            <a:extLst>
              <a:ext uri="{FF2B5EF4-FFF2-40B4-BE49-F238E27FC236}">
                <a16:creationId xmlns:a16="http://schemas.microsoft.com/office/drawing/2014/main" id="{AC7ACDD9-E2F1-430D-9FE7-B03362FB5F80}"/>
              </a:ext>
            </a:extLst>
          </p:cNvPr>
          <p:cNvSpPr>
            <a:spLocks noGrp="1"/>
          </p:cNvSpPr>
          <p:nvPr/>
        </p:nvSpPr>
        <p:spPr>
          <a:xfrm>
            <a:off x="6446520" y="1737360"/>
            <a:ext cx="502920" cy="502920"/>
          </a:xfrm>
          <a:prstGeom prst="ellipse">
            <a:avLst/>
          </a:prstGeom>
          <a:solidFill>
            <a:srgbClr val="1B4F8C"/>
          </a:solidFill>
          <a:ln w="12700">
            <a:solidFill>
              <a:srgbClr val="1B4F8C"/>
            </a:solidFill>
            <a:prstDash val="solid"/>
          </a:ln>
        </p:spPr>
        <p:txBody>
          <a:bodyPr/>
          <a:lstStyle/>
          <a:p>
            <a:endParaRPr lang="en-US"/>
          </a:p>
        </p:txBody>
      </p:sp>
      <p:sp>
        <p:nvSpPr>
          <p:cNvPr id="13" name="Text 11">
            <a:extLst>
              <a:ext uri="{FF2B5EF4-FFF2-40B4-BE49-F238E27FC236}">
                <a16:creationId xmlns:a16="http://schemas.microsoft.com/office/drawing/2014/main" id="{7EEAF95D-ED9F-4A56-A625-C562C5E79651}"/>
              </a:ext>
            </a:extLst>
          </p:cNvPr>
          <p:cNvSpPr>
            <a:spLocks noGrp="1"/>
          </p:cNvSpPr>
          <p:nvPr/>
        </p:nvSpPr>
        <p:spPr>
          <a:xfrm>
            <a:off x="6446520" y="17373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2</a:t>
            </a:r>
            <a:endParaRPr sz="1500"/>
          </a:p>
        </p:txBody>
      </p:sp>
      <p:sp>
        <p:nvSpPr>
          <p:cNvPr id="14" name="Text 12">
            <a:extLst>
              <a:ext uri="{FF2B5EF4-FFF2-40B4-BE49-F238E27FC236}">
                <a16:creationId xmlns:a16="http://schemas.microsoft.com/office/drawing/2014/main" id="{535671AB-3F47-47E5-A470-5E2CA5026C30}"/>
              </a:ext>
            </a:extLst>
          </p:cNvPr>
          <p:cNvSpPr>
            <a:spLocks noGrp="1"/>
          </p:cNvSpPr>
          <p:nvPr/>
        </p:nvSpPr>
        <p:spPr>
          <a:xfrm>
            <a:off x="7132320" y="171907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Complete</a:t>
            </a:r>
            <a:endParaRPr sz="2000"/>
          </a:p>
        </p:txBody>
      </p:sp>
      <p:sp>
        <p:nvSpPr>
          <p:cNvPr id="15" name="Text 13">
            <a:extLst>
              <a:ext uri="{FF2B5EF4-FFF2-40B4-BE49-F238E27FC236}">
                <a16:creationId xmlns:a16="http://schemas.microsoft.com/office/drawing/2014/main" id="{CED00DD8-678D-4E22-870F-9940CB22CCC9}"/>
              </a:ext>
            </a:extLst>
          </p:cNvPr>
          <p:cNvSpPr>
            <a:spLocks noGrp="1"/>
          </p:cNvSpPr>
          <p:nvPr/>
        </p:nvSpPr>
        <p:spPr>
          <a:xfrm>
            <a:off x="7132320" y="2286000"/>
            <a:ext cx="4206240" cy="50292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Exactly m of N units are treated.</a:t>
            </a:r>
            <a:endParaRPr sz="1500"/>
          </a:p>
        </p:txBody>
      </p:sp>
      <p:sp>
        <p:nvSpPr>
          <p:cNvPr id="16" name="Text 14">
            <a:extLst>
              <a:ext uri="{FF2B5EF4-FFF2-40B4-BE49-F238E27FC236}">
                <a16:creationId xmlns:a16="http://schemas.microsoft.com/office/drawing/2014/main" id="{DF2ED149-37BE-4851-A062-987753B07681}"/>
              </a:ext>
            </a:extLst>
          </p:cNvPr>
          <p:cNvSpPr>
            <a:spLocks noGrp="1"/>
          </p:cNvSpPr>
          <p:nvPr/>
        </p:nvSpPr>
        <p:spPr>
          <a:xfrm>
            <a:off x="7132320" y="2788920"/>
            <a:ext cx="4206240" cy="457200"/>
          </a:xfrm>
          <a:prstGeom prst="rect">
            <a:avLst/>
          </a:prstGeom>
          <a:noFill/>
        </p:spPr>
        <p:txBody>
          <a:bodyPr wrap="square" lIns="0" tIns="0" rIns="0" bIns="0" anchor="t"/>
          <a:lstStyle/>
          <a:p>
            <a:pPr marL="0" indent="0">
              <a:buNone/>
            </a:pPr>
            <a:r>
              <a:rPr sz="1400" b="1">
                <a:solidFill>
                  <a:srgbClr val="5B6178"/>
                </a:solidFill>
                <a:latin typeface="Calibri"/>
                <a:ea typeface="Calibri"/>
                <a:cs typeface="Calibri"/>
              </a:rPr>
              <a:t>Use when: </a:t>
            </a:r>
            <a:r>
              <a:rPr sz="1400">
                <a:solidFill>
                  <a:srgbClr val="5B6178"/>
                </a:solidFill>
                <a:latin typeface="Calibri"/>
                <a:ea typeface="Calibri"/>
                <a:cs typeface="Calibri"/>
              </a:rPr>
              <a:t>Fixed budgets; the default in most lab settings</a:t>
            </a:r>
            <a:endParaRPr sz="1400"/>
          </a:p>
        </p:txBody>
      </p:sp>
      <p:sp>
        <p:nvSpPr>
          <p:cNvPr id="17" name="Shape 15">
            <a:extLst>
              <a:ext uri="{FF2B5EF4-FFF2-40B4-BE49-F238E27FC236}">
                <a16:creationId xmlns:a16="http://schemas.microsoft.com/office/drawing/2014/main" id="{A5D990CC-2A31-4C7C-B004-0C2EDBB4462F}"/>
              </a:ext>
            </a:extLst>
          </p:cNvPr>
          <p:cNvSpPr>
            <a:spLocks noGrp="1"/>
          </p:cNvSpPr>
          <p:nvPr/>
        </p:nvSpPr>
        <p:spPr>
          <a:xfrm>
            <a:off x="548640" y="3520440"/>
            <a:ext cx="5440680" cy="1874520"/>
          </a:xfrm>
          <a:prstGeom prst="roundRect">
            <a:avLst>
              <a:gd name="adj" fmla="val 4878"/>
            </a:avLst>
          </a:prstGeom>
          <a:solidFill>
            <a:srgbClr val="EEF3F8"/>
          </a:solidFill>
          <a:ln w="12700">
            <a:solidFill>
              <a:srgbClr val="EEF3F8"/>
            </a:solidFill>
            <a:prstDash val="solid"/>
          </a:ln>
        </p:spPr>
        <p:txBody>
          <a:bodyPr/>
          <a:lstStyle/>
          <a:p>
            <a:endParaRPr lang="en-US"/>
          </a:p>
        </p:txBody>
      </p:sp>
      <p:sp>
        <p:nvSpPr>
          <p:cNvPr id="18" name="Shape 16">
            <a:extLst>
              <a:ext uri="{FF2B5EF4-FFF2-40B4-BE49-F238E27FC236}">
                <a16:creationId xmlns:a16="http://schemas.microsoft.com/office/drawing/2014/main" id="{A4C9C02A-A645-40F9-AB4A-EA4374BE6730}"/>
              </a:ext>
            </a:extLst>
          </p:cNvPr>
          <p:cNvSpPr>
            <a:spLocks noGrp="1"/>
          </p:cNvSpPr>
          <p:nvPr/>
        </p:nvSpPr>
        <p:spPr>
          <a:xfrm>
            <a:off x="822960" y="3794760"/>
            <a:ext cx="502920" cy="502920"/>
          </a:xfrm>
          <a:prstGeom prst="ellipse">
            <a:avLst/>
          </a:prstGeom>
          <a:solidFill>
            <a:srgbClr val="00274D"/>
          </a:solidFill>
          <a:ln w="12700">
            <a:solidFill>
              <a:srgbClr val="00274D"/>
            </a:solidFill>
            <a:prstDash val="solid"/>
          </a:ln>
        </p:spPr>
        <p:txBody>
          <a:bodyPr/>
          <a:lstStyle/>
          <a:p>
            <a:endParaRPr lang="en-US"/>
          </a:p>
        </p:txBody>
      </p:sp>
      <p:sp>
        <p:nvSpPr>
          <p:cNvPr id="19" name="Text 17">
            <a:extLst>
              <a:ext uri="{FF2B5EF4-FFF2-40B4-BE49-F238E27FC236}">
                <a16:creationId xmlns:a16="http://schemas.microsoft.com/office/drawing/2014/main" id="{AF8919A8-96D3-4AE3-B71A-4C37AE9AB73C}"/>
              </a:ext>
            </a:extLst>
          </p:cNvPr>
          <p:cNvSpPr>
            <a:spLocks noGrp="1"/>
          </p:cNvSpPr>
          <p:nvPr/>
        </p:nvSpPr>
        <p:spPr>
          <a:xfrm>
            <a:off x="822960" y="37947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3</a:t>
            </a:r>
            <a:endParaRPr sz="1500"/>
          </a:p>
        </p:txBody>
      </p:sp>
      <p:sp>
        <p:nvSpPr>
          <p:cNvPr id="20" name="Text 18">
            <a:extLst>
              <a:ext uri="{FF2B5EF4-FFF2-40B4-BE49-F238E27FC236}">
                <a16:creationId xmlns:a16="http://schemas.microsoft.com/office/drawing/2014/main" id="{E6134173-E080-4E16-A81A-C5E7FEECA26D}"/>
              </a:ext>
            </a:extLst>
          </p:cNvPr>
          <p:cNvSpPr>
            <a:spLocks noGrp="1"/>
          </p:cNvSpPr>
          <p:nvPr/>
        </p:nvSpPr>
        <p:spPr>
          <a:xfrm>
            <a:off x="1508760" y="377647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Block / stratified</a:t>
            </a:r>
            <a:endParaRPr sz="2000"/>
          </a:p>
        </p:txBody>
      </p:sp>
      <p:sp>
        <p:nvSpPr>
          <p:cNvPr id="21" name="Text 19">
            <a:extLst>
              <a:ext uri="{FF2B5EF4-FFF2-40B4-BE49-F238E27FC236}">
                <a16:creationId xmlns:a16="http://schemas.microsoft.com/office/drawing/2014/main" id="{516863E2-E370-4301-BDB1-CB5A04251845}"/>
              </a:ext>
            </a:extLst>
          </p:cNvPr>
          <p:cNvSpPr>
            <a:spLocks noGrp="1"/>
          </p:cNvSpPr>
          <p:nvPr/>
        </p:nvSpPr>
        <p:spPr>
          <a:xfrm>
            <a:off x="1508760" y="4343400"/>
            <a:ext cx="4206240" cy="50292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Randomize separately within groups (e.g., by prior turnout, neighborhood).</a:t>
            </a:r>
            <a:endParaRPr sz="1500"/>
          </a:p>
        </p:txBody>
      </p:sp>
      <p:sp>
        <p:nvSpPr>
          <p:cNvPr id="22" name="Text 20">
            <a:extLst>
              <a:ext uri="{FF2B5EF4-FFF2-40B4-BE49-F238E27FC236}">
                <a16:creationId xmlns:a16="http://schemas.microsoft.com/office/drawing/2014/main" id="{96AA15EB-66D5-4A28-B609-CE4A4DD5981E}"/>
              </a:ext>
            </a:extLst>
          </p:cNvPr>
          <p:cNvSpPr>
            <a:spLocks noGrp="1"/>
          </p:cNvSpPr>
          <p:nvPr/>
        </p:nvSpPr>
        <p:spPr>
          <a:xfrm>
            <a:off x="1508760" y="4846320"/>
            <a:ext cx="4206240" cy="457200"/>
          </a:xfrm>
          <a:prstGeom prst="rect">
            <a:avLst/>
          </a:prstGeom>
          <a:noFill/>
        </p:spPr>
        <p:txBody>
          <a:bodyPr wrap="square" lIns="0" tIns="0" rIns="0" bIns="0" anchor="t"/>
          <a:lstStyle/>
          <a:p>
            <a:pPr marL="0" indent="0">
              <a:buNone/>
            </a:pPr>
            <a:r>
              <a:rPr sz="1400" b="1">
                <a:solidFill>
                  <a:srgbClr val="5B6178"/>
                </a:solidFill>
                <a:latin typeface="Calibri"/>
                <a:ea typeface="Calibri"/>
                <a:cs typeface="Calibri"/>
              </a:rPr>
              <a:t>Use when: </a:t>
            </a:r>
            <a:r>
              <a:rPr sz="1400">
                <a:solidFill>
                  <a:srgbClr val="5B6178"/>
                </a:solidFill>
                <a:latin typeface="Calibri"/>
                <a:ea typeface="Calibri"/>
                <a:cs typeface="Calibri"/>
              </a:rPr>
              <a:t>Balances block proportions by design; can improve precision</a:t>
            </a:r>
            <a:endParaRPr sz="1400"/>
          </a:p>
        </p:txBody>
      </p:sp>
      <p:sp>
        <p:nvSpPr>
          <p:cNvPr id="23" name="Shape 21">
            <a:extLst>
              <a:ext uri="{FF2B5EF4-FFF2-40B4-BE49-F238E27FC236}">
                <a16:creationId xmlns:a16="http://schemas.microsoft.com/office/drawing/2014/main" id="{F59B85C8-BC32-49EE-A265-159DE5EC97EE}"/>
              </a:ext>
            </a:extLst>
          </p:cNvPr>
          <p:cNvSpPr>
            <a:spLocks noGrp="1"/>
          </p:cNvSpPr>
          <p:nvPr/>
        </p:nvSpPr>
        <p:spPr>
          <a:xfrm>
            <a:off x="6172200" y="3520440"/>
            <a:ext cx="5440680" cy="1874520"/>
          </a:xfrm>
          <a:prstGeom prst="roundRect">
            <a:avLst>
              <a:gd name="adj" fmla="val 4878"/>
            </a:avLst>
          </a:prstGeom>
          <a:solidFill>
            <a:srgbClr val="EEF3F8"/>
          </a:solidFill>
          <a:ln w="12700">
            <a:solidFill>
              <a:srgbClr val="EEF3F8"/>
            </a:solidFill>
            <a:prstDash val="solid"/>
          </a:ln>
        </p:spPr>
        <p:txBody>
          <a:bodyPr/>
          <a:lstStyle/>
          <a:p>
            <a:endParaRPr lang="en-US"/>
          </a:p>
        </p:txBody>
      </p:sp>
      <p:sp>
        <p:nvSpPr>
          <p:cNvPr id="24" name="Shape 22">
            <a:extLst>
              <a:ext uri="{FF2B5EF4-FFF2-40B4-BE49-F238E27FC236}">
                <a16:creationId xmlns:a16="http://schemas.microsoft.com/office/drawing/2014/main" id="{A14CD45B-4E10-464D-B244-A74FDC7BCE72}"/>
              </a:ext>
            </a:extLst>
          </p:cNvPr>
          <p:cNvSpPr>
            <a:spLocks noGrp="1"/>
          </p:cNvSpPr>
          <p:nvPr/>
        </p:nvSpPr>
        <p:spPr>
          <a:xfrm>
            <a:off x="6446520" y="3794760"/>
            <a:ext cx="502920" cy="502920"/>
          </a:xfrm>
          <a:prstGeom prst="ellipse">
            <a:avLst/>
          </a:prstGeom>
          <a:solidFill>
            <a:srgbClr val="1B4F8C"/>
          </a:solidFill>
          <a:ln w="12700">
            <a:solidFill>
              <a:srgbClr val="1B4F8C"/>
            </a:solidFill>
            <a:prstDash val="solid"/>
          </a:ln>
        </p:spPr>
        <p:txBody>
          <a:bodyPr/>
          <a:lstStyle/>
          <a:p>
            <a:endParaRPr lang="en-US"/>
          </a:p>
        </p:txBody>
      </p:sp>
      <p:sp>
        <p:nvSpPr>
          <p:cNvPr id="25" name="Text 23">
            <a:extLst>
              <a:ext uri="{FF2B5EF4-FFF2-40B4-BE49-F238E27FC236}">
                <a16:creationId xmlns:a16="http://schemas.microsoft.com/office/drawing/2014/main" id="{82C2079E-B469-4397-8514-0CCD4BC834B3}"/>
              </a:ext>
            </a:extLst>
          </p:cNvPr>
          <p:cNvSpPr>
            <a:spLocks noGrp="1"/>
          </p:cNvSpPr>
          <p:nvPr/>
        </p:nvSpPr>
        <p:spPr>
          <a:xfrm>
            <a:off x="6446520" y="37947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4</a:t>
            </a:r>
            <a:endParaRPr sz="1500"/>
          </a:p>
        </p:txBody>
      </p:sp>
      <p:sp>
        <p:nvSpPr>
          <p:cNvPr id="26" name="Text 24">
            <a:extLst>
              <a:ext uri="{FF2B5EF4-FFF2-40B4-BE49-F238E27FC236}">
                <a16:creationId xmlns:a16="http://schemas.microsoft.com/office/drawing/2014/main" id="{C9CC2700-4223-4B19-890D-C16AB81B0F26}"/>
              </a:ext>
            </a:extLst>
          </p:cNvPr>
          <p:cNvSpPr>
            <a:spLocks noGrp="1"/>
          </p:cNvSpPr>
          <p:nvPr/>
        </p:nvSpPr>
        <p:spPr>
          <a:xfrm>
            <a:off x="7132320" y="377647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Cluster</a:t>
            </a:r>
            <a:endParaRPr sz="2000"/>
          </a:p>
        </p:txBody>
      </p:sp>
      <p:sp>
        <p:nvSpPr>
          <p:cNvPr id="27" name="Text 25">
            <a:extLst>
              <a:ext uri="{FF2B5EF4-FFF2-40B4-BE49-F238E27FC236}">
                <a16:creationId xmlns:a16="http://schemas.microsoft.com/office/drawing/2014/main" id="{A8DD3EF9-4BE4-4950-A68B-96CD870BEECA}"/>
              </a:ext>
            </a:extLst>
          </p:cNvPr>
          <p:cNvSpPr>
            <a:spLocks noGrp="1"/>
          </p:cNvSpPr>
          <p:nvPr/>
        </p:nvSpPr>
        <p:spPr>
          <a:xfrm>
            <a:off x="7132320" y="4343400"/>
            <a:ext cx="4206240" cy="50292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Randomize whole groups: households, schools, councils.</a:t>
            </a:r>
            <a:endParaRPr sz="1500"/>
          </a:p>
        </p:txBody>
      </p:sp>
      <p:sp>
        <p:nvSpPr>
          <p:cNvPr id="28" name="Text 26">
            <a:extLst>
              <a:ext uri="{FF2B5EF4-FFF2-40B4-BE49-F238E27FC236}">
                <a16:creationId xmlns:a16="http://schemas.microsoft.com/office/drawing/2014/main" id="{67991F60-6D22-40C6-9439-E572754E22E9}"/>
              </a:ext>
            </a:extLst>
          </p:cNvPr>
          <p:cNvSpPr>
            <a:spLocks noGrp="1"/>
          </p:cNvSpPr>
          <p:nvPr/>
        </p:nvSpPr>
        <p:spPr>
          <a:xfrm>
            <a:off x="7132320" y="4846320"/>
            <a:ext cx="4206240" cy="457200"/>
          </a:xfrm>
          <a:prstGeom prst="rect">
            <a:avLst/>
          </a:prstGeom>
          <a:noFill/>
        </p:spPr>
        <p:txBody>
          <a:bodyPr wrap="square" lIns="0" tIns="0" rIns="0" bIns="0" anchor="t"/>
          <a:lstStyle/>
          <a:p>
            <a:pPr marL="0" indent="0">
              <a:buNone/>
            </a:pPr>
            <a:r>
              <a:rPr sz="1400" b="1">
                <a:solidFill>
                  <a:srgbClr val="5B6178"/>
                </a:solidFill>
                <a:latin typeface="Calibri"/>
                <a:ea typeface="Calibri"/>
                <a:cs typeface="Calibri"/>
              </a:rPr>
              <a:t>Use when: </a:t>
            </a:r>
            <a:r>
              <a:rPr sz="1400">
                <a:solidFill>
                  <a:srgbClr val="5B6178"/>
                </a:solidFill>
                <a:latin typeface="Calibri"/>
                <a:ea typeface="Calibri"/>
                <a:cs typeface="Calibri"/>
              </a:rPr>
              <a:t>Group delivery or spillovers; inference follows clusters</a:t>
            </a:r>
            <a:endParaRPr sz="1400"/>
          </a:p>
        </p:txBody>
      </p:sp>
    </p:spTree>
    <p:extLst>
      <p:ext uri="{BB962C8B-B14F-4D97-AF65-F5344CB8AC3E}">
        <p14:creationId xmlns:p14="http://schemas.microsoft.com/office/powerpoint/2010/main" val="276093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6C6FDF4-6CDC-4EC7-87B3-A8F36DD90D86}"/>
              </a:ext>
            </a:extLst>
          </p:cNvPr>
          <p:cNvSpPr>
            <a:spLocks noGrp="1"/>
          </p:cNvSpPr>
          <p:nvPr/>
        </p:nvSpPr>
        <p:spPr>
          <a:xfrm>
            <a:off x="548640" y="320040"/>
            <a:ext cx="9525000" cy="320040"/>
          </a:xfrm>
          <a:prstGeom prst="rect">
            <a:avLst/>
          </a:prstGeom>
          <a:noFill/>
          <a:ln w="0">
            <a:noFill/>
          </a:ln>
        </p:spPr>
        <p:txBody>
          <a:bodyPr>
            <a:noAutofit/>
          </a:bodyPr>
          <a:lstStyle/>
          <a:p>
            <a:pPr>
              <a:defRPr sz="1200" b="1">
                <a:solidFill>
                  <a:srgbClr val="1B4F8C"/>
                </a:solidFill>
                <a:latin typeface="Calibri"/>
                <a:ea typeface="Calibri"/>
                <a:cs typeface="Calibri"/>
              </a:defRPr>
            </a:pPr>
            <a:r>
              <a:rPr sz="1200" b="1">
                <a:solidFill>
                  <a:srgbClr val="1B4F8C"/>
                </a:solidFill>
                <a:latin typeface="Calibri"/>
                <a:ea typeface="Calibri"/>
                <a:cs typeface="Calibri"/>
              </a:rPr>
              <a:t>ROSENBAUM</a:t>
            </a:r>
          </a:p>
        </p:txBody>
      </p:sp>
      <p:sp>
        <p:nvSpPr>
          <p:cNvPr id="2" name="Rectangle 1">
            <a:extLst>
              <a:ext uri="{FF2B5EF4-FFF2-40B4-BE49-F238E27FC236}">
                <a16:creationId xmlns:a16="http://schemas.microsoft.com/office/drawing/2014/main" id="{B66B343C-8EB2-464B-8CC3-EFF769F76C12}"/>
              </a:ext>
            </a:extLst>
          </p:cNvPr>
          <p:cNvSpPr>
            <a:spLocks noGrp="1"/>
          </p:cNvSpPr>
          <p:nvPr/>
        </p:nvSpPr>
        <p:spPr>
          <a:xfrm>
            <a:off x="548640" y="685800"/>
            <a:ext cx="11058525" cy="723900"/>
          </a:xfrm>
          <a:prstGeom prst="rect">
            <a:avLst/>
          </a:prstGeom>
          <a:noFill/>
          <a:ln w="0">
            <a:noFill/>
          </a:ln>
        </p:spPr>
        <p:txBody>
          <a:bodyPr>
            <a:noAutofit/>
          </a:bodyPr>
          <a:lstStyle/>
          <a:p>
            <a:pPr>
              <a:defRPr sz="3000" b="1">
                <a:solidFill>
                  <a:srgbClr val="00274D"/>
                </a:solidFill>
                <a:latin typeface="Cambria"/>
                <a:ea typeface="Cambria"/>
                <a:cs typeface="Cambria"/>
              </a:defRPr>
            </a:pPr>
            <a:r>
              <a:rPr sz="3000" b="1">
                <a:solidFill>
                  <a:srgbClr val="00274D"/>
                </a:solidFill>
                <a:latin typeface="Cambria"/>
                <a:ea typeface="Cambria"/>
                <a:cs typeface="Cambria"/>
              </a:rPr>
              <a:t>A fair lottery can use unequal allocation</a:t>
            </a:r>
          </a:p>
        </p:txBody>
      </p:sp>
      <p:sp>
        <p:nvSpPr>
          <p:cNvPr id="3" name="Rectangle 2">
            <a:extLst>
              <a:ext uri="{FF2B5EF4-FFF2-40B4-BE49-F238E27FC236}">
                <a16:creationId xmlns:a16="http://schemas.microsoft.com/office/drawing/2014/main" id="{76404ED8-246B-4182-BCAB-0C6616DB6494}"/>
              </a:ext>
            </a:extLst>
          </p:cNvPr>
          <p:cNvSpPr>
            <a:spLocks noGrp="1"/>
          </p:cNvSpPr>
          <p:nvPr/>
        </p:nvSpPr>
        <p:spPr>
          <a:xfrm>
            <a:off x="548640" y="6038850"/>
            <a:ext cx="11058525" cy="285750"/>
          </a:xfrm>
          <a:prstGeom prst="rect">
            <a:avLst/>
          </a:prstGeom>
          <a:noFill/>
          <a:ln w="0">
            <a:noFill/>
          </a:ln>
        </p:spPr>
        <p:txBody>
          <a:bodyPr>
            <a:noAutofit/>
          </a:bodyPr>
          <a:lstStyle/>
          <a:p>
            <a:pPr>
              <a:defRPr sz="1275" b="0">
                <a:solidFill>
                  <a:srgbClr val="5B6178"/>
                </a:solidFill>
                <a:latin typeface="Calibri"/>
                <a:ea typeface="Calibri"/>
                <a:cs typeface="Calibri"/>
              </a:defRPr>
            </a:pPr>
            <a:r>
              <a:rPr sz="1275" b="0">
                <a:solidFill>
                  <a:srgbClr val="5B6178"/>
                </a:solidFill>
                <a:latin typeface="Calibri"/>
                <a:ea typeface="Calibri"/>
                <a:cs typeface="Calibri"/>
              </a:rPr>
              <a:t>Rosenbaum (2023), ch. 2, pp. 42–44</a:t>
            </a:r>
          </a:p>
        </p:txBody>
      </p:sp>
      <p:sp>
        <p:nvSpPr>
          <p:cNvPr id="4" name="Rectangle 3">
            <a:extLst>
              <a:ext uri="{FF2B5EF4-FFF2-40B4-BE49-F238E27FC236}">
                <a16:creationId xmlns:a16="http://schemas.microsoft.com/office/drawing/2014/main" id="{0389C76F-54EB-4D3D-B9FD-B48C6A8AE6B5}"/>
              </a:ext>
            </a:extLst>
          </p:cNvPr>
          <p:cNvSpPr>
            <a:spLocks noGrp="1"/>
          </p:cNvSpPr>
          <p:nvPr/>
        </p:nvSpPr>
        <p:spPr>
          <a:xfrm>
            <a:off x="548640" y="6400800"/>
            <a:ext cx="6667500" cy="276225"/>
          </a:xfrm>
          <a:prstGeom prst="rect">
            <a:avLst/>
          </a:prstGeom>
          <a:noFill/>
          <a:ln w="0">
            <a:noFill/>
          </a:ln>
        </p:spPr>
        <p:txBody>
          <a:bodyPr>
            <a:noAutofit/>
          </a:bodyPr>
          <a:lstStyle/>
          <a:p>
            <a:pPr>
              <a:defRPr sz="1000" b="0">
                <a:solidFill>
                  <a:srgbClr val="5B6178"/>
                </a:solidFill>
                <a:latin typeface="Calibri"/>
                <a:ea typeface="Calibri"/>
                <a:cs typeface="Calibri"/>
              </a:defRPr>
            </a:pPr>
            <a:r>
              <a:rPr sz="1000" b="0">
                <a:solidFill>
                  <a:srgbClr val="5B6178"/>
                </a:solidFill>
                <a:latin typeface="Calibri"/>
                <a:ea typeface="Calibri"/>
                <a:cs typeface="Calibri"/>
              </a:rPr>
              <a:t>Week 4 · Randomized Controlled Trials  |  19</a:t>
            </a:r>
          </a:p>
        </p:txBody>
      </p:sp>
      <p:sp>
        <p:nvSpPr>
          <p:cNvPr id="5" name="Rectangle 4">
            <a:extLst>
              <a:ext uri="{FF2B5EF4-FFF2-40B4-BE49-F238E27FC236}">
                <a16:creationId xmlns:a16="http://schemas.microsoft.com/office/drawing/2014/main" id="{0ED034AA-A17C-47EC-A42E-BB7F2878FBC4}"/>
              </a:ext>
            </a:extLst>
          </p:cNvPr>
          <p:cNvSpPr>
            <a:spLocks noGrp="1"/>
          </p:cNvSpPr>
          <p:nvPr/>
        </p:nvSpPr>
        <p:spPr>
          <a:xfrm>
            <a:off x="571500" y="1666875"/>
            <a:ext cx="11049000" cy="666750"/>
          </a:xfrm>
          <a:prstGeom prst="rect">
            <a:avLst/>
          </a:prstGeom>
          <a:noFill/>
          <a:ln w="0">
            <a:noFill/>
          </a:ln>
        </p:spPr>
        <p:txBody>
          <a:bodyPr>
            <a:noAutofit/>
          </a:bodyPr>
          <a:lstStyle/>
          <a:p>
            <a:pPr>
              <a:defRPr sz="2325" b="0">
                <a:solidFill>
                  <a:srgbClr val="1A1A2E"/>
                </a:solidFill>
                <a:latin typeface="Calibri"/>
                <a:ea typeface="Calibri"/>
                <a:cs typeface="Calibri"/>
              </a:defRPr>
            </a:pPr>
            <a:r>
              <a:rPr sz="2325" b="0">
                <a:solidFill>
                  <a:srgbClr val="1A1A2E"/>
                </a:solidFill>
                <a:latin typeface="Calibri"/>
                <a:ea typeface="Calibri"/>
                <a:cs typeface="Calibri"/>
              </a:rPr>
              <a:t>A fair die: assign treatment on 1 or 2 and control on 3, 4, 5, or 6.</a:t>
            </a:r>
          </a:p>
        </p:txBody>
      </p:sp>
      <p:sp>
        <p:nvSpPr>
          <p:cNvPr id="6" name="Rectangle 5">
            <a:extLst>
              <a:ext uri="{FF2B5EF4-FFF2-40B4-BE49-F238E27FC236}">
                <a16:creationId xmlns:a16="http://schemas.microsoft.com/office/drawing/2014/main" id="{BFC9B4C3-31D2-44B1-A350-721CDEF59871}"/>
              </a:ext>
            </a:extLst>
          </p:cNvPr>
          <p:cNvSpPr>
            <a:spLocks noGrp="1"/>
          </p:cNvSpPr>
          <p:nvPr/>
        </p:nvSpPr>
        <p:spPr>
          <a:xfrm>
            <a:off x="571500" y="2733675"/>
            <a:ext cx="11049000" cy="628650"/>
          </a:xfrm>
          <a:prstGeom prst="rect">
            <a:avLst/>
          </a:prstGeom>
          <a:noFill/>
          <a:ln w="0">
            <a:noFill/>
          </a:ln>
        </p:spPr>
        <p:txBody>
          <a:bodyPr>
            <a:noAutofit/>
          </a:bodyPr>
          <a:lstStyle/>
          <a:p>
            <a:pPr>
              <a:defRPr sz="2775" b="1">
                <a:solidFill>
                  <a:srgbClr val="1E7A46"/>
                </a:solidFill>
                <a:latin typeface="Calibri"/>
                <a:ea typeface="Calibri"/>
                <a:cs typeface="Calibri"/>
              </a:defRPr>
            </a:pPr>
            <a:r>
              <a:rPr sz="2775" b="1">
                <a:solidFill>
                  <a:srgbClr val="1E7A46"/>
                </a:solidFill>
                <a:latin typeface="Calibri"/>
                <a:ea typeface="Calibri"/>
                <a:cs typeface="Calibri"/>
              </a:rPr>
              <a:t>P(treatment) = ⅓ for every participant</a:t>
            </a:r>
          </a:p>
        </p:txBody>
      </p:sp>
      <p:sp>
        <p:nvSpPr>
          <p:cNvPr id="7" name="Rectangle 6">
            <a:extLst>
              <a:ext uri="{FF2B5EF4-FFF2-40B4-BE49-F238E27FC236}">
                <a16:creationId xmlns:a16="http://schemas.microsoft.com/office/drawing/2014/main" id="{30D9B97A-BA1E-411F-B9B7-3F63A24B92B0}"/>
              </a:ext>
            </a:extLst>
          </p:cNvPr>
          <p:cNvSpPr>
            <a:spLocks noGrp="1"/>
          </p:cNvSpPr>
          <p:nvPr/>
        </p:nvSpPr>
        <p:spPr>
          <a:xfrm>
            <a:off x="571500" y="3781425"/>
            <a:ext cx="11049000" cy="828675"/>
          </a:xfrm>
          <a:prstGeom prst="rect">
            <a:avLst/>
          </a:prstGeom>
          <a:noFill/>
          <a:ln w="0">
            <a:noFill/>
          </a:ln>
        </p:spPr>
        <p:txBody>
          <a:bodyPr>
            <a:noAutofit/>
          </a:bodyPr>
          <a:lstStyle/>
          <a:p>
            <a:pPr>
              <a:defRPr sz="2175" b="0">
                <a:solidFill>
                  <a:srgbClr val="1A1A2E"/>
                </a:solidFill>
                <a:latin typeface="Calibri"/>
                <a:ea typeface="Calibri"/>
                <a:cs typeface="Calibri"/>
              </a:defRPr>
            </a:pPr>
            <a:r>
              <a:rPr sz="2175" b="0">
                <a:solidFill>
                  <a:srgbClr val="1A1A2E"/>
                </a:solidFill>
                <a:latin typeface="Calibri"/>
                <a:ea typeface="Calibri"/>
                <a:cs typeface="Calibri"/>
              </a:rPr>
              <a:t>A 50/50 split is optional. The known assignment rule creates</a:t>
            </a:r>
          </a:p>
          <a:p>
            <a:pPr>
              <a:defRPr sz="2175" b="0">
                <a:solidFill>
                  <a:srgbClr val="1A1A2E"/>
                </a:solidFill>
                <a:latin typeface="Calibri"/>
                <a:ea typeface="Calibri"/>
                <a:cs typeface="Calibri"/>
              </a:defRPr>
            </a:pPr>
            <a:r>
              <a:rPr sz="2175" b="0">
                <a:solidFill>
                  <a:srgbClr val="1A1A2E"/>
                </a:solidFill>
                <a:latin typeface="Calibri"/>
                <a:ea typeface="Calibri"/>
                <a:cs typeface="Calibri"/>
              </a:rPr>
              <a:t>the basis for causal inference.</a:t>
            </a:r>
          </a:p>
        </p:txBody>
      </p:sp>
      <p:sp>
        <p:nvSpPr>
          <p:cNvPr id="8" name="Rectangle 7">
            <a:extLst>
              <a:ext uri="{FF2B5EF4-FFF2-40B4-BE49-F238E27FC236}">
                <a16:creationId xmlns:a16="http://schemas.microsoft.com/office/drawing/2014/main" id="{419D6D36-DE7F-448D-8E80-CF33B656E942}"/>
              </a:ext>
            </a:extLst>
          </p:cNvPr>
          <p:cNvSpPr>
            <a:spLocks noGrp="1"/>
          </p:cNvSpPr>
          <p:nvPr/>
        </p:nvSpPr>
        <p:spPr>
          <a:xfrm>
            <a:off x="571500" y="5124450"/>
            <a:ext cx="11049000" cy="790575"/>
          </a:xfrm>
          <a:prstGeom prst="rect">
            <a:avLst/>
          </a:prstGeom>
          <a:noFill/>
          <a:ln w="0">
            <a:noFill/>
          </a:ln>
        </p:spPr>
        <p:txBody>
          <a:bodyPr>
            <a:noAutofit/>
          </a:bodyPr>
          <a:lstStyle/>
          <a:p>
            <a:pPr>
              <a:defRPr sz="2100" b="0">
                <a:solidFill>
                  <a:srgbClr val="1B4F8C"/>
                </a:solidFill>
                <a:latin typeface="Calibri"/>
                <a:ea typeface="Calibri"/>
                <a:cs typeface="Calibri"/>
              </a:defRPr>
            </a:pPr>
            <a:r>
              <a:rPr sz="2100" b="0">
                <a:solidFill>
                  <a:srgbClr val="1B4F8C"/>
                </a:solidFill>
                <a:latin typeface="Calibri"/>
                <a:ea typeface="Calibri"/>
                <a:cs typeface="Calibri"/>
              </a:rPr>
              <a:t>Blocking or clustering changes the design. Estimation and tests</a:t>
            </a:r>
          </a:p>
          <a:p>
            <a:pPr>
              <a:defRPr sz="2100" b="0">
                <a:solidFill>
                  <a:srgbClr val="1B4F8C"/>
                </a:solidFill>
                <a:latin typeface="Calibri"/>
                <a:ea typeface="Calibri"/>
                <a:cs typeface="Calibri"/>
              </a:defRPr>
            </a:pPr>
            <a:r>
              <a:rPr sz="2100" b="0">
                <a:solidFill>
                  <a:srgbClr val="1B4F8C"/>
                </a:solidFill>
                <a:latin typeface="Calibri"/>
                <a:ea typeface="Calibri"/>
                <a:cs typeface="Calibri"/>
              </a:rPr>
              <a:t>must follow that design, including any unequal probabilities.</a:t>
            </a:r>
          </a:p>
        </p:txBody>
      </p:sp>
    </p:spTree>
    <p:extLst>
      <p:ext uri="{BB962C8B-B14F-4D97-AF65-F5344CB8AC3E}">
        <p14:creationId xmlns:p14="http://schemas.microsoft.com/office/powerpoint/2010/main" val="1880161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3F7D767-59F9-4B07-9658-9AFC7CE70A70}"/>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UNIT OF RANDOMIZATION</a:t>
            </a:r>
            <a:endParaRPr sz="1200"/>
          </a:p>
        </p:txBody>
      </p:sp>
      <p:sp>
        <p:nvSpPr>
          <p:cNvPr id="3" name="Text 1">
            <a:extLst>
              <a:ext uri="{FF2B5EF4-FFF2-40B4-BE49-F238E27FC236}">
                <a16:creationId xmlns:a16="http://schemas.microsoft.com/office/drawing/2014/main" id="{7CEC6986-E897-44CB-BDF2-D44AD1EB2C19}"/>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Uncertainty must respect the unit of assignment</a:t>
            </a:r>
            <a:endParaRPr sz="3000"/>
          </a:p>
        </p:txBody>
      </p:sp>
      <p:sp>
        <p:nvSpPr>
          <p:cNvPr id="4" name="Text 2">
            <a:extLst>
              <a:ext uri="{FF2B5EF4-FFF2-40B4-BE49-F238E27FC236}">
                <a16:creationId xmlns:a16="http://schemas.microsoft.com/office/drawing/2014/main" id="{080FF2C3-59E0-4B6F-BA5C-8D22C14DED0F}"/>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20</a:t>
            </a:r>
            <a:endParaRPr sz="1000"/>
          </a:p>
        </p:txBody>
      </p:sp>
      <p:sp>
        <p:nvSpPr>
          <p:cNvPr id="5" name="Shape 3">
            <a:extLst>
              <a:ext uri="{FF2B5EF4-FFF2-40B4-BE49-F238E27FC236}">
                <a16:creationId xmlns:a16="http://schemas.microsoft.com/office/drawing/2014/main" id="{3B1EA277-20A3-4327-8B42-AF510A5CB831}"/>
              </a:ext>
            </a:extLst>
          </p:cNvPr>
          <p:cNvSpPr>
            <a:spLocks noGrp="1"/>
          </p:cNvSpPr>
          <p:nvPr/>
        </p:nvSpPr>
        <p:spPr>
          <a:xfrm>
            <a:off x="548640" y="1554480"/>
            <a:ext cx="5440680" cy="3200400"/>
          </a:xfrm>
          <a:prstGeom prst="roundRect">
            <a:avLst>
              <a:gd name="adj" fmla="val 2857"/>
            </a:avLst>
          </a:prstGeom>
          <a:solidFill>
            <a:srgbClr val="EEF3F8"/>
          </a:solidFill>
          <a:ln w="12700">
            <a:solidFill>
              <a:srgbClr val="EEF3F8"/>
            </a:solidFill>
            <a:prstDash val="solid"/>
          </a:ln>
        </p:spPr>
        <p:txBody>
          <a:bodyPr/>
          <a:lstStyle/>
          <a:p>
            <a:endParaRPr lang="en-US"/>
          </a:p>
        </p:txBody>
      </p:sp>
      <p:sp>
        <p:nvSpPr>
          <p:cNvPr id="6" name="Text 4">
            <a:extLst>
              <a:ext uri="{FF2B5EF4-FFF2-40B4-BE49-F238E27FC236}">
                <a16:creationId xmlns:a16="http://schemas.microsoft.com/office/drawing/2014/main" id="{5858A3D5-5726-418F-8007-185DD9483CBE}"/>
              </a:ext>
            </a:extLst>
          </p:cNvPr>
          <p:cNvSpPr>
            <a:spLocks noGrp="1"/>
          </p:cNvSpPr>
          <p:nvPr/>
        </p:nvSpPr>
        <p:spPr>
          <a:xfrm>
            <a:off x="822960" y="1737360"/>
            <a:ext cx="4937760" cy="457200"/>
          </a:xfrm>
          <a:prstGeom prst="rect">
            <a:avLst/>
          </a:prstGeom>
          <a:noFill/>
        </p:spPr>
        <p:txBody>
          <a:bodyPr wrap="square" lIns="0" tIns="0" rIns="0" bIns="0" anchor="t"/>
          <a:lstStyle/>
          <a:p>
            <a:pPr marL="0" indent="0">
              <a:buNone/>
            </a:pPr>
            <a:r>
              <a:rPr sz="2000" b="1">
                <a:solidFill>
                  <a:srgbClr val="00274D"/>
                </a:solidFill>
                <a:latin typeface="Cambria"/>
                <a:ea typeface="Cambria"/>
                <a:cs typeface="Cambria"/>
              </a:rPr>
              <a:t>Chattopadhyay &amp; Duflo (2004)</a:t>
            </a:r>
            <a:endParaRPr sz="2000"/>
          </a:p>
        </p:txBody>
      </p:sp>
      <p:sp>
        <p:nvSpPr>
          <p:cNvPr id="7" name="Text 5">
            <a:extLst>
              <a:ext uri="{FF2B5EF4-FFF2-40B4-BE49-F238E27FC236}">
                <a16:creationId xmlns:a16="http://schemas.microsoft.com/office/drawing/2014/main" id="{5C9365C6-686B-476F-9692-ABD66482638E}"/>
              </a:ext>
            </a:extLst>
          </p:cNvPr>
          <p:cNvSpPr>
            <a:spLocks noGrp="1"/>
          </p:cNvSpPr>
          <p:nvPr/>
        </p:nvSpPr>
        <p:spPr>
          <a:xfrm>
            <a:off x="822960" y="2331720"/>
            <a:ext cx="4937760" cy="1005840"/>
          </a:xfrm>
          <a:prstGeom prst="rect">
            <a:avLst/>
          </a:prstGeom>
          <a:noFill/>
        </p:spPr>
        <p:txBody>
          <a:bodyPr wrap="square" lIns="0" tIns="0" rIns="0" bIns="0" anchor="t"/>
          <a:lstStyle/>
          <a:p>
            <a:pPr marL="342900" indent="-342900">
              <a:spcAft>
                <a:spcPts val="400"/>
              </a:spcAft>
              <a:buSzPct val="100000"/>
              <a:buChar char="•"/>
            </a:pPr>
            <a:r>
              <a:rPr sz="1600">
                <a:solidFill>
                  <a:srgbClr val="1A1A2E"/>
                </a:solidFill>
                <a:latin typeface="Calibri"/>
                <a:ea typeface="Calibri"/>
                <a:cs typeface="Calibri"/>
              </a:rPr>
              <a:t>Randomized: 161 village councils (Gram Panchayats)</a:t>
            </a:r>
            <a:endParaRPr sz="1600"/>
          </a:p>
          <a:p>
            <a:pPr marL="342900" indent="-342900">
              <a:spcAft>
                <a:spcPts val="400"/>
              </a:spcAft>
              <a:buSzPct val="100000"/>
              <a:buChar char="•"/>
            </a:pPr>
            <a:r>
              <a:rPr sz="1600">
                <a:solidFill>
                  <a:srgbClr val="1A1A2E"/>
                </a:solidFill>
                <a:latin typeface="Calibri"/>
                <a:ea typeface="Calibri"/>
                <a:cs typeface="Calibri"/>
              </a:rPr>
              <a:t>Measured: 322 villages, two per council</a:t>
            </a:r>
            <a:endParaRPr sz="1600"/>
          </a:p>
        </p:txBody>
      </p:sp>
      <p:sp>
        <p:nvSpPr>
          <p:cNvPr id="8" name="Text 6">
            <a:extLst>
              <a:ext uri="{FF2B5EF4-FFF2-40B4-BE49-F238E27FC236}">
                <a16:creationId xmlns:a16="http://schemas.microsoft.com/office/drawing/2014/main" id="{7B8D8589-A0B8-4335-8D99-D8E6145A3895}"/>
              </a:ext>
            </a:extLst>
          </p:cNvPr>
          <p:cNvSpPr>
            <a:spLocks noGrp="1"/>
          </p:cNvSpPr>
          <p:nvPr/>
        </p:nvSpPr>
        <p:spPr>
          <a:xfrm>
            <a:off x="822960" y="3429000"/>
            <a:ext cx="4937760" cy="1097280"/>
          </a:xfrm>
          <a:prstGeom prst="rect">
            <a:avLst/>
          </a:prstGeom>
          <a:noFill/>
        </p:spPr>
        <p:txBody>
          <a:bodyPr wrap="square" lIns="0" tIns="0" rIns="0" bIns="0" anchor="t"/>
          <a:lstStyle/>
          <a:p>
            <a:pPr marL="0" indent="0">
              <a:buNone/>
            </a:pPr>
            <a:r>
              <a:rPr sz="1500" i="1">
                <a:solidFill>
                  <a:srgbClr val="5B6178"/>
                </a:solidFill>
                <a:latin typeface="Calibri"/>
                <a:ea typeface="Calibri"/>
                <a:cs typeface="Calibri"/>
              </a:rPr>
              <a:t>Villages in the same council share a leader; they are not independent draws.</a:t>
            </a:r>
            <a:endParaRPr sz="1500"/>
          </a:p>
        </p:txBody>
      </p:sp>
      <p:sp>
        <p:nvSpPr>
          <p:cNvPr id="9" name="Shape 7">
            <a:extLst>
              <a:ext uri="{FF2B5EF4-FFF2-40B4-BE49-F238E27FC236}">
                <a16:creationId xmlns:a16="http://schemas.microsoft.com/office/drawing/2014/main" id="{BCAE4E1A-CC87-4875-B84D-907C24DB9CEE}"/>
              </a:ext>
            </a:extLst>
          </p:cNvPr>
          <p:cNvSpPr>
            <a:spLocks noGrp="1"/>
          </p:cNvSpPr>
          <p:nvPr/>
        </p:nvSpPr>
        <p:spPr>
          <a:xfrm>
            <a:off x="6172200" y="1554480"/>
            <a:ext cx="5440680" cy="3200400"/>
          </a:xfrm>
          <a:prstGeom prst="roundRect">
            <a:avLst>
              <a:gd name="adj" fmla="val 2857"/>
            </a:avLst>
          </a:prstGeom>
          <a:solidFill>
            <a:srgbClr val="EEF3F8"/>
          </a:solidFill>
          <a:ln w="12700">
            <a:solidFill>
              <a:srgbClr val="EEF3F8"/>
            </a:solidFill>
            <a:prstDash val="solid"/>
          </a:ln>
        </p:spPr>
        <p:txBody>
          <a:bodyPr/>
          <a:lstStyle/>
          <a:p>
            <a:endParaRPr lang="en-US"/>
          </a:p>
        </p:txBody>
      </p:sp>
      <p:sp>
        <p:nvSpPr>
          <p:cNvPr id="10" name="Text 8">
            <a:extLst>
              <a:ext uri="{FF2B5EF4-FFF2-40B4-BE49-F238E27FC236}">
                <a16:creationId xmlns:a16="http://schemas.microsoft.com/office/drawing/2014/main" id="{5D12E943-E485-4CBC-AA1C-7E1DFB544415}"/>
              </a:ext>
            </a:extLst>
          </p:cNvPr>
          <p:cNvSpPr>
            <a:spLocks noGrp="1"/>
          </p:cNvSpPr>
          <p:nvPr/>
        </p:nvSpPr>
        <p:spPr>
          <a:xfrm>
            <a:off x="6446520" y="1737360"/>
            <a:ext cx="4937760" cy="457200"/>
          </a:xfrm>
          <a:prstGeom prst="rect">
            <a:avLst/>
          </a:prstGeom>
          <a:noFill/>
        </p:spPr>
        <p:txBody>
          <a:bodyPr wrap="square" lIns="0" tIns="0" rIns="0" bIns="0" anchor="t"/>
          <a:lstStyle/>
          <a:p>
            <a:pPr marL="0" indent="0">
              <a:buNone/>
            </a:pPr>
            <a:r>
              <a:rPr sz="2000" b="1">
                <a:solidFill>
                  <a:srgbClr val="00274D"/>
                </a:solidFill>
                <a:latin typeface="Cambria"/>
                <a:ea typeface="Cambria"/>
                <a:cs typeface="Cambria"/>
              </a:rPr>
              <a:t>Gerber, Green &amp; Larimer (2008)</a:t>
            </a:r>
            <a:endParaRPr sz="2000"/>
          </a:p>
        </p:txBody>
      </p:sp>
      <p:sp>
        <p:nvSpPr>
          <p:cNvPr id="11" name="Text 9">
            <a:extLst>
              <a:ext uri="{FF2B5EF4-FFF2-40B4-BE49-F238E27FC236}">
                <a16:creationId xmlns:a16="http://schemas.microsoft.com/office/drawing/2014/main" id="{255F1336-6257-4876-923A-79138B23B594}"/>
              </a:ext>
            </a:extLst>
          </p:cNvPr>
          <p:cNvSpPr>
            <a:spLocks noGrp="1"/>
          </p:cNvSpPr>
          <p:nvPr/>
        </p:nvSpPr>
        <p:spPr>
          <a:xfrm>
            <a:off x="6446520" y="2331720"/>
            <a:ext cx="4937760" cy="1005840"/>
          </a:xfrm>
          <a:prstGeom prst="rect">
            <a:avLst/>
          </a:prstGeom>
          <a:noFill/>
        </p:spPr>
        <p:txBody>
          <a:bodyPr wrap="square" lIns="0" tIns="0" rIns="0" bIns="0" anchor="t"/>
          <a:lstStyle/>
          <a:p>
            <a:pPr marL="342900" indent="-342900">
              <a:spcAft>
                <a:spcPts val="400"/>
              </a:spcAft>
              <a:buSzPct val="100000"/>
              <a:buChar char="•"/>
            </a:pPr>
            <a:r>
              <a:rPr sz="1600">
                <a:solidFill>
                  <a:srgbClr val="1A1A2E"/>
                </a:solidFill>
                <a:latin typeface="Calibri"/>
                <a:ea typeface="Calibri"/>
                <a:cs typeface="Calibri"/>
              </a:rPr>
              <a:t>Randomized: households</a:t>
            </a:r>
            <a:endParaRPr sz="1600"/>
          </a:p>
          <a:p>
            <a:pPr marL="342900" indent="-342900">
              <a:spcAft>
                <a:spcPts val="400"/>
              </a:spcAft>
              <a:buSzPct val="100000"/>
              <a:buChar char="•"/>
            </a:pPr>
            <a:r>
              <a:rPr sz="1600">
                <a:solidFill>
                  <a:srgbClr val="1A1A2E"/>
                </a:solidFill>
                <a:latin typeface="Calibri"/>
                <a:ea typeface="Calibri"/>
                <a:cs typeface="Calibri"/>
              </a:rPr>
              <a:t>Measured: individual voters</a:t>
            </a:r>
            <a:endParaRPr sz="1600"/>
          </a:p>
        </p:txBody>
      </p:sp>
      <p:sp>
        <p:nvSpPr>
          <p:cNvPr id="12" name="Text 10">
            <a:extLst>
              <a:ext uri="{FF2B5EF4-FFF2-40B4-BE49-F238E27FC236}">
                <a16:creationId xmlns:a16="http://schemas.microsoft.com/office/drawing/2014/main" id="{B07D0270-00DD-4851-9EEE-4F7388017882}"/>
              </a:ext>
            </a:extLst>
          </p:cNvPr>
          <p:cNvSpPr>
            <a:spLocks noGrp="1"/>
          </p:cNvSpPr>
          <p:nvPr/>
        </p:nvSpPr>
        <p:spPr>
          <a:xfrm>
            <a:off x="6446520" y="3429000"/>
            <a:ext cx="4937760" cy="1097280"/>
          </a:xfrm>
          <a:prstGeom prst="rect">
            <a:avLst/>
          </a:prstGeom>
          <a:noFill/>
        </p:spPr>
        <p:txBody>
          <a:bodyPr wrap="square" lIns="0" tIns="0" rIns="0" bIns="0" anchor="t"/>
          <a:lstStyle/>
          <a:p>
            <a:pPr marL="0" indent="0">
              <a:buNone/>
            </a:pPr>
            <a:r>
              <a:rPr sz="1500" i="1">
                <a:solidFill>
                  <a:srgbClr val="5B6178"/>
                </a:solidFill>
                <a:latin typeface="Calibri"/>
                <a:ea typeface="Calibri"/>
                <a:cs typeface="Calibri"/>
              </a:rPr>
              <a:t>Voters in the same household got the same postcard and influence each other.</a:t>
            </a:r>
            <a:endParaRPr sz="1500"/>
          </a:p>
        </p:txBody>
      </p:sp>
      <p:sp>
        <p:nvSpPr>
          <p:cNvPr id="13" name="Shape 11">
            <a:extLst>
              <a:ext uri="{FF2B5EF4-FFF2-40B4-BE49-F238E27FC236}">
                <a16:creationId xmlns:a16="http://schemas.microsoft.com/office/drawing/2014/main" id="{56D7EC0A-D22F-48AD-B9F0-45C829C416F3}"/>
              </a:ext>
            </a:extLst>
          </p:cNvPr>
          <p:cNvSpPr>
            <a:spLocks noGrp="1"/>
          </p:cNvSpPr>
          <p:nvPr/>
        </p:nvSpPr>
        <p:spPr>
          <a:xfrm>
            <a:off x="548640" y="4983480"/>
            <a:ext cx="11064240" cy="731520"/>
          </a:xfrm>
          <a:prstGeom prst="roundRect">
            <a:avLst>
              <a:gd name="adj" fmla="val 12500"/>
            </a:avLst>
          </a:prstGeom>
          <a:solidFill>
            <a:srgbClr val="FBEAE7"/>
          </a:solidFill>
          <a:ln w="12700">
            <a:solidFill>
              <a:srgbClr val="FBEAE7"/>
            </a:solidFill>
            <a:prstDash val="solid"/>
          </a:ln>
        </p:spPr>
        <p:txBody>
          <a:bodyPr/>
          <a:lstStyle/>
          <a:p>
            <a:endParaRPr lang="en-US"/>
          </a:p>
        </p:txBody>
      </p:sp>
      <p:sp>
        <p:nvSpPr>
          <p:cNvPr id="14" name="Text 12">
            <a:extLst>
              <a:ext uri="{FF2B5EF4-FFF2-40B4-BE49-F238E27FC236}">
                <a16:creationId xmlns:a16="http://schemas.microsoft.com/office/drawing/2014/main" id="{F35F069D-97A7-4507-943C-B9277AF72425}"/>
              </a:ext>
            </a:extLst>
          </p:cNvPr>
          <p:cNvSpPr>
            <a:spLocks noGrp="1"/>
          </p:cNvSpPr>
          <p:nvPr/>
        </p:nvSpPr>
        <p:spPr>
          <a:xfrm>
            <a:off x="822960" y="4983480"/>
            <a:ext cx="10515600" cy="731520"/>
          </a:xfrm>
          <a:prstGeom prst="rect">
            <a:avLst/>
          </a:prstGeom>
          <a:noFill/>
        </p:spPr>
        <p:txBody>
          <a:bodyPr wrap="square" lIns="0" tIns="0" rIns="0" bIns="0" anchor="ctr"/>
          <a:lstStyle/>
          <a:p>
            <a:pPr marL="0" indent="0">
              <a:buNone/>
            </a:pPr>
            <a:r>
              <a:rPr sz="1600" b="1">
                <a:solidFill>
                  <a:srgbClr val="A13A2F"/>
                </a:solidFill>
                <a:latin typeface="Calibri"/>
                <a:ea typeface="Calibri"/>
                <a:cs typeface="Calibri"/>
              </a:rPr>
              <a:t>Treating units within a cluster as independent can understate uncertainty. </a:t>
            </a:r>
            <a:r>
              <a:rPr sz="1600">
                <a:solidFill>
                  <a:srgbClr val="1A1A2E"/>
                </a:solidFill>
                <a:latin typeface="Calibri"/>
                <a:ea typeface="Calibri"/>
                <a:cs typeface="Calibri"/>
              </a:rPr>
              <a:t>Use cluster-aware inference and choose weights for the target population.</a:t>
            </a:r>
            <a:endParaRPr sz="1600"/>
          </a:p>
        </p:txBody>
      </p:sp>
    </p:spTree>
    <p:extLst>
      <p:ext uri="{BB962C8B-B14F-4D97-AF65-F5344CB8AC3E}">
        <p14:creationId xmlns:p14="http://schemas.microsoft.com/office/powerpoint/2010/main" val="514666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74D"/>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57D8167-AD97-4343-ABEB-7FD0DD477696}"/>
              </a:ext>
            </a:extLst>
          </p:cNvPr>
          <p:cNvSpPr>
            <a:spLocks noGrp="1"/>
          </p:cNvSpPr>
          <p:nvPr/>
        </p:nvSpPr>
        <p:spPr>
          <a:xfrm>
            <a:off x="731520" y="2468880"/>
            <a:ext cx="10058400" cy="457200"/>
          </a:xfrm>
          <a:prstGeom prst="rect">
            <a:avLst/>
          </a:prstGeom>
          <a:noFill/>
        </p:spPr>
        <p:txBody>
          <a:bodyPr wrap="square" lIns="0" tIns="0" rIns="0" bIns="0" anchor="t"/>
          <a:lstStyle/>
          <a:p>
            <a:pPr marL="0" indent="0">
              <a:buNone/>
            </a:pPr>
            <a:r>
              <a:rPr sz="1600" b="1" spc="200">
                <a:solidFill>
                  <a:srgbClr val="BFD7EA"/>
                </a:solidFill>
                <a:latin typeface="Calibri"/>
                <a:ea typeface="Calibri"/>
                <a:cs typeface="Calibri"/>
              </a:rPr>
              <a:t>PART 3</a:t>
            </a:r>
            <a:endParaRPr sz="1600"/>
          </a:p>
        </p:txBody>
      </p:sp>
      <p:sp>
        <p:nvSpPr>
          <p:cNvPr id="3" name="Text 1">
            <a:extLst>
              <a:ext uri="{FF2B5EF4-FFF2-40B4-BE49-F238E27FC236}">
                <a16:creationId xmlns:a16="http://schemas.microsoft.com/office/drawing/2014/main" id="{A263E021-326C-4735-A0A3-D6DB58279F53}"/>
              </a:ext>
            </a:extLst>
          </p:cNvPr>
          <p:cNvSpPr>
            <a:spLocks noGrp="1"/>
          </p:cNvSpPr>
          <p:nvPr/>
        </p:nvSpPr>
        <p:spPr>
          <a:xfrm>
            <a:off x="731520" y="2926080"/>
            <a:ext cx="10515600" cy="1097280"/>
          </a:xfrm>
          <a:prstGeom prst="rect">
            <a:avLst/>
          </a:prstGeom>
          <a:noFill/>
        </p:spPr>
        <p:txBody>
          <a:bodyPr wrap="square" lIns="0" tIns="0" rIns="0" bIns="0" anchor="t"/>
          <a:lstStyle/>
          <a:p>
            <a:pPr marL="0" indent="0">
              <a:buNone/>
            </a:pPr>
            <a:r>
              <a:rPr sz="3800" b="1">
                <a:solidFill>
                  <a:srgbClr val="FFFFFF"/>
                </a:solidFill>
                <a:latin typeface="Cambria"/>
                <a:ea typeface="Cambria"/>
                <a:cs typeface="Cambria"/>
              </a:rPr>
              <a:t>Balance tables</a:t>
            </a:r>
            <a:endParaRPr sz="3800"/>
          </a:p>
        </p:txBody>
      </p:sp>
      <p:sp>
        <p:nvSpPr>
          <p:cNvPr id="4" name="Text 2">
            <a:extLst>
              <a:ext uri="{FF2B5EF4-FFF2-40B4-BE49-F238E27FC236}">
                <a16:creationId xmlns:a16="http://schemas.microsoft.com/office/drawing/2014/main" id="{D6B14317-5FF6-4688-BDD9-32A7630659E5}"/>
              </a:ext>
            </a:extLst>
          </p:cNvPr>
          <p:cNvSpPr>
            <a:spLocks noGrp="1"/>
          </p:cNvSpPr>
          <p:nvPr/>
        </p:nvSpPr>
        <p:spPr>
          <a:xfrm>
            <a:off x="731520" y="4023360"/>
            <a:ext cx="10058400" cy="731520"/>
          </a:xfrm>
          <a:prstGeom prst="rect">
            <a:avLst/>
          </a:prstGeom>
          <a:noFill/>
        </p:spPr>
        <p:txBody>
          <a:bodyPr wrap="square" lIns="0" tIns="0" rIns="0" bIns="0" anchor="t"/>
          <a:lstStyle/>
          <a:p>
            <a:pPr marL="0" indent="0">
              <a:buNone/>
            </a:pPr>
            <a:r>
              <a:rPr sz="1800" i="1">
                <a:solidFill>
                  <a:srgbClr val="BFD7EA"/>
                </a:solidFill>
                <a:latin typeface="Calibri"/>
                <a:ea typeface="Calibri"/>
                <a:cs typeface="Calibri"/>
              </a:rPr>
              <a:t>Describing baseline comparability and checking implementation</a:t>
            </a:r>
            <a:endParaRPr sz="1800"/>
          </a:p>
        </p:txBody>
      </p:sp>
    </p:spTree>
    <p:extLst>
      <p:ext uri="{BB962C8B-B14F-4D97-AF65-F5344CB8AC3E}">
        <p14:creationId xmlns:p14="http://schemas.microsoft.com/office/powerpoint/2010/main" val="1238273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B032487-8DC6-40A1-87C1-26C72AEB2DBD}"/>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WHAT IS A BALANCE TABLE? (GERBER, GREEN &amp; LARIMER LAB DATA)</a:t>
            </a:r>
            <a:endParaRPr sz="1200"/>
          </a:p>
        </p:txBody>
      </p:sp>
      <p:sp>
        <p:nvSpPr>
          <p:cNvPr id="3" name="Text 1">
            <a:extLst>
              <a:ext uri="{FF2B5EF4-FFF2-40B4-BE49-F238E27FC236}">
                <a16:creationId xmlns:a16="http://schemas.microsoft.com/office/drawing/2014/main" id="{BEAF058A-8905-49E9-9685-7E150145105C}"/>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Covariates by arm, measured before treatment</a:t>
            </a:r>
            <a:endParaRPr sz="3000"/>
          </a:p>
        </p:txBody>
      </p:sp>
      <p:sp>
        <p:nvSpPr>
          <p:cNvPr id="4" name="Text 2">
            <a:extLst>
              <a:ext uri="{FF2B5EF4-FFF2-40B4-BE49-F238E27FC236}">
                <a16:creationId xmlns:a16="http://schemas.microsoft.com/office/drawing/2014/main" id="{EEEF986C-6F71-423B-805C-88ABB82E0D38}"/>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22</a:t>
            </a:r>
            <a:endParaRPr sz="1000"/>
          </a:p>
        </p:txBody>
      </p:sp>
      <p:graphicFrame>
        <p:nvGraphicFramePr>
          <p:cNvPr id="11" name="Table 0"/>
          <p:cNvGraphicFramePr/>
          <p:nvPr/>
        </p:nvGraphicFramePr>
        <p:xfrm>
          <a:off x="548640" y="1508760"/>
          <a:ext cx="11064240" cy="3017520"/>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2560320">
                  <a:extLst>
                    <a:ext uri="{9D8B030D-6E8A-4147-A177-3AD203B41FA5}">
                      <a16:colId xmlns:a16="http://schemas.microsoft.com/office/drawing/2014/main" val="20005"/>
                    </a:ext>
                  </a:extLst>
                </a:gridCol>
              </a:tblGrid>
              <a:tr h="502920">
                <a:tc>
                  <a:txBody>
                    <a:bodyPr/>
                    <a:lstStyle/>
                    <a:p>
                      <a:pPr marL="0" indent="0">
                        <a:buNone/>
                      </a:pPr>
                      <a:r>
                        <a:rPr sz="1400" b="1">
                          <a:solidFill>
                            <a:srgbClr val="FFFFFF"/>
                          </a:solidFill>
                          <a:latin typeface="Calibri"/>
                          <a:ea typeface="Calibri"/>
                          <a:cs typeface="Calibri"/>
                        </a:rPr>
                        <a:t>Covariate</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Control</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Civic Duty</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Hawthorne</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Neighbors</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Neighbors − Control</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extLst>
                  <a:ext uri="{0D108BD9-81ED-4DB2-BD59-A6C34878D82A}">
                    <a16:rowId xmlns:a16="http://schemas.microsoft.com/office/drawing/2014/main" val="10000"/>
                  </a:ext>
                </a:extLst>
              </a:tr>
              <a:tr h="502920">
                <a:tc>
                  <a:txBody>
                    <a:bodyPr/>
                    <a:lstStyle/>
                    <a:p>
                      <a:pPr marL="0" indent="0">
                        <a:buNone/>
                      </a:pPr>
                      <a:r>
                        <a:rPr sz="1400">
                          <a:solidFill>
                            <a:srgbClr val="1A1A2E"/>
                          </a:solidFill>
                          <a:latin typeface="Calibri"/>
                          <a:ea typeface="Calibri"/>
                          <a:cs typeface="Calibri"/>
                        </a:rPr>
                        <a:t>Female (share)</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0.499</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0.500</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0.499</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0.500</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+0.001  (p = 0.69)</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sz="1400">
                          <a:solidFill>
                            <a:srgbClr val="1A1A2E"/>
                          </a:solidFill>
                          <a:latin typeface="Calibri"/>
                          <a:ea typeface="Calibri"/>
                          <a:cs typeface="Calibri"/>
                        </a:rPr>
                        <a:t>Age (years)</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49.81</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49.66</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49.70</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49.85</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+0.04  (p = 0.63)</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sz="1400">
                          <a:solidFill>
                            <a:srgbClr val="1A1A2E"/>
                          </a:solidFill>
                          <a:latin typeface="Calibri"/>
                          <a:ea typeface="Calibri"/>
                          <a:cs typeface="Calibri"/>
                        </a:rPr>
                        <a:t>Voted in 2004 primary</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0.400</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0.399</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0.403</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0.407</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+0.006  (p = 0.02)</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sz="1400">
                          <a:solidFill>
                            <a:srgbClr val="1A1A2E"/>
                          </a:solidFill>
                          <a:latin typeface="Calibri"/>
                          <a:ea typeface="Calibri"/>
                          <a:cs typeface="Calibri"/>
                        </a:rPr>
                        <a:t>Household size</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2.184</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2.189</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2.180</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2.188</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+0.004  (p = 0.36)</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sz="1400">
                          <a:solidFill>
                            <a:srgbClr val="1A1A2E"/>
                          </a:solidFill>
                          <a:latin typeface="Calibri"/>
                          <a:ea typeface="Calibri"/>
                          <a:cs typeface="Calibri"/>
                        </a:rPr>
                        <a:t>N</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191,243</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38,218</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38,204</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38,201</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 name="Text 3">
            <a:extLst>
              <a:ext uri="{FF2B5EF4-FFF2-40B4-BE49-F238E27FC236}">
                <a16:creationId xmlns:a16="http://schemas.microsoft.com/office/drawing/2014/main" id="{6EF37B42-1988-4155-A981-D1B75210727D}"/>
              </a:ext>
            </a:extLst>
          </p:cNvPr>
          <p:cNvSpPr>
            <a:spLocks noGrp="1"/>
          </p:cNvSpPr>
          <p:nvPr/>
        </p:nvSpPr>
        <p:spPr>
          <a:xfrm>
            <a:off x="548640" y="4754880"/>
            <a:ext cx="11064240" cy="731520"/>
          </a:xfrm>
          <a:prstGeom prst="rect">
            <a:avLst/>
          </a:prstGeom>
          <a:noFill/>
        </p:spPr>
        <p:txBody>
          <a:bodyPr wrap="square" lIns="0" tIns="0" rIns="0" bIns="0" anchor="t"/>
          <a:lstStyle/>
          <a:p>
            <a:pPr marL="0" indent="0">
              <a:buNone/>
            </a:pPr>
            <a:r>
              <a:rPr sz="1700" b="1">
                <a:solidFill>
                  <a:srgbClr val="1A1A2E"/>
                </a:solidFill>
                <a:latin typeface="Calibri"/>
                <a:ea typeface="Calibri"/>
                <a:cs typeface="Calibri"/>
              </a:rPr>
              <a:t>Rule: </a:t>
            </a:r>
            <a:r>
              <a:rPr sz="1700">
                <a:solidFill>
                  <a:srgbClr val="1A1A2E"/>
                </a:solidFill>
                <a:latin typeface="Calibri"/>
                <a:ea typeface="Calibri"/>
                <a:cs typeface="Calibri"/>
              </a:rPr>
              <a:t>only variables measured, or fixed, before treatment. Anything measured after treatment could have been changed by it.</a:t>
            </a:r>
            <a:endParaRPr sz="1700"/>
          </a:p>
        </p:txBody>
      </p:sp>
    </p:spTree>
    <p:extLst>
      <p:ext uri="{BB962C8B-B14F-4D97-AF65-F5344CB8AC3E}">
        <p14:creationId xmlns:p14="http://schemas.microsoft.com/office/powerpoint/2010/main" val="2036643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4F16E0-C8B5-4B63-8A02-A6052EDDD175}"/>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READING A BALANCE TABLE</a:t>
            </a:r>
            <a:endParaRPr sz="1200"/>
          </a:p>
        </p:txBody>
      </p:sp>
      <p:sp>
        <p:nvSpPr>
          <p:cNvPr id="3" name="Text 1">
            <a:extLst>
              <a:ext uri="{FF2B5EF4-FFF2-40B4-BE49-F238E27FC236}">
                <a16:creationId xmlns:a16="http://schemas.microsoft.com/office/drawing/2014/main" id="{E0933EC8-B42C-4F4D-B950-6E051CBB60E6}"/>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Look at magnitudes first, p-values second</a:t>
            </a:r>
            <a:endParaRPr sz="3000"/>
          </a:p>
        </p:txBody>
      </p:sp>
      <p:sp>
        <p:nvSpPr>
          <p:cNvPr id="4" name="Text 2">
            <a:extLst>
              <a:ext uri="{FF2B5EF4-FFF2-40B4-BE49-F238E27FC236}">
                <a16:creationId xmlns:a16="http://schemas.microsoft.com/office/drawing/2014/main" id="{D64DBE52-D52B-4618-9969-CB1E7F4CD958}"/>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23</a:t>
            </a:r>
            <a:endParaRPr sz="1000"/>
          </a:p>
        </p:txBody>
      </p:sp>
      <p:sp>
        <p:nvSpPr>
          <p:cNvPr id="5" name="Shape 3">
            <a:extLst>
              <a:ext uri="{FF2B5EF4-FFF2-40B4-BE49-F238E27FC236}">
                <a16:creationId xmlns:a16="http://schemas.microsoft.com/office/drawing/2014/main" id="{A667F132-B913-4E2D-BABB-B872E138F7C0}"/>
              </a:ext>
            </a:extLst>
          </p:cNvPr>
          <p:cNvSpPr>
            <a:spLocks noGrp="1"/>
          </p:cNvSpPr>
          <p:nvPr/>
        </p:nvSpPr>
        <p:spPr>
          <a:xfrm>
            <a:off x="548640" y="1554480"/>
            <a:ext cx="3474720" cy="2377440"/>
          </a:xfrm>
          <a:prstGeom prst="roundRect">
            <a:avLst>
              <a:gd name="adj" fmla="val 3846"/>
            </a:avLst>
          </a:prstGeom>
          <a:solidFill>
            <a:srgbClr val="EEF3F8"/>
          </a:solidFill>
          <a:ln w="12700">
            <a:solidFill>
              <a:srgbClr val="EEF3F8"/>
            </a:solidFill>
            <a:prstDash val="solid"/>
          </a:ln>
        </p:spPr>
        <p:txBody>
          <a:bodyPr/>
          <a:lstStyle/>
          <a:p>
            <a:endParaRPr lang="en-US"/>
          </a:p>
        </p:txBody>
      </p:sp>
      <p:sp>
        <p:nvSpPr>
          <p:cNvPr id="6" name="Text 4">
            <a:extLst>
              <a:ext uri="{FF2B5EF4-FFF2-40B4-BE49-F238E27FC236}">
                <a16:creationId xmlns:a16="http://schemas.microsoft.com/office/drawing/2014/main" id="{C567C9F1-BB63-45D6-A290-E1783831DDEA}"/>
              </a:ext>
            </a:extLst>
          </p:cNvPr>
          <p:cNvSpPr>
            <a:spLocks noGrp="1"/>
          </p:cNvSpPr>
          <p:nvPr/>
        </p:nvSpPr>
        <p:spPr>
          <a:xfrm>
            <a:off x="822960" y="1691640"/>
            <a:ext cx="2926080" cy="1005840"/>
          </a:xfrm>
          <a:prstGeom prst="rect">
            <a:avLst/>
          </a:prstGeom>
          <a:noFill/>
        </p:spPr>
        <p:txBody>
          <a:bodyPr wrap="square" lIns="0" tIns="0" rIns="0" bIns="0" anchor="t"/>
          <a:lstStyle/>
          <a:p>
            <a:pPr marL="0" indent="0">
              <a:buNone/>
            </a:pPr>
            <a:r>
              <a:rPr sz="4400" b="1">
                <a:solidFill>
                  <a:srgbClr val="00274D"/>
                </a:solidFill>
                <a:latin typeface="Cambria"/>
                <a:ea typeface="Cambria"/>
                <a:cs typeface="Cambria"/>
              </a:rPr>
              <a:t>0.6 pp</a:t>
            </a:r>
            <a:endParaRPr sz="4400"/>
          </a:p>
        </p:txBody>
      </p:sp>
      <p:sp>
        <p:nvSpPr>
          <p:cNvPr id="7" name="Text 5">
            <a:extLst>
              <a:ext uri="{FF2B5EF4-FFF2-40B4-BE49-F238E27FC236}">
                <a16:creationId xmlns:a16="http://schemas.microsoft.com/office/drawing/2014/main" id="{9A24FB25-8103-4DAA-9264-0EB469B5ADBD}"/>
              </a:ext>
            </a:extLst>
          </p:cNvPr>
          <p:cNvSpPr>
            <a:spLocks noGrp="1"/>
          </p:cNvSpPr>
          <p:nvPr/>
        </p:nvSpPr>
        <p:spPr>
          <a:xfrm>
            <a:off x="822960" y="2743200"/>
            <a:ext cx="2926080" cy="109728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the “significant” 2004 turnout gap (40.0% vs. 40.7%)</a:t>
            </a:r>
            <a:endParaRPr sz="1600"/>
          </a:p>
        </p:txBody>
      </p:sp>
      <p:sp>
        <p:nvSpPr>
          <p:cNvPr id="8" name="Shape 6">
            <a:extLst>
              <a:ext uri="{FF2B5EF4-FFF2-40B4-BE49-F238E27FC236}">
                <a16:creationId xmlns:a16="http://schemas.microsoft.com/office/drawing/2014/main" id="{3CB30A53-4DBB-45FC-BCB5-623492A3EB8B}"/>
              </a:ext>
            </a:extLst>
          </p:cNvPr>
          <p:cNvSpPr>
            <a:spLocks noGrp="1"/>
          </p:cNvSpPr>
          <p:nvPr/>
        </p:nvSpPr>
        <p:spPr>
          <a:xfrm>
            <a:off x="4297680" y="1554480"/>
            <a:ext cx="3474720" cy="2377440"/>
          </a:xfrm>
          <a:prstGeom prst="roundRect">
            <a:avLst>
              <a:gd name="adj" fmla="val 3846"/>
            </a:avLst>
          </a:prstGeom>
          <a:solidFill>
            <a:srgbClr val="EEF3F8"/>
          </a:solidFill>
          <a:ln w="12700">
            <a:solidFill>
              <a:srgbClr val="EEF3F8"/>
            </a:solidFill>
            <a:prstDash val="solid"/>
          </a:ln>
        </p:spPr>
        <p:txBody>
          <a:bodyPr/>
          <a:lstStyle/>
          <a:p>
            <a:endParaRPr lang="en-US"/>
          </a:p>
        </p:txBody>
      </p:sp>
      <p:sp>
        <p:nvSpPr>
          <p:cNvPr id="9" name="Text 7">
            <a:extLst>
              <a:ext uri="{FF2B5EF4-FFF2-40B4-BE49-F238E27FC236}">
                <a16:creationId xmlns:a16="http://schemas.microsoft.com/office/drawing/2014/main" id="{0C453AAC-ECC9-46B0-A9A2-82B2BAC4AD39}"/>
              </a:ext>
            </a:extLst>
          </p:cNvPr>
          <p:cNvSpPr>
            <a:spLocks noGrp="1"/>
          </p:cNvSpPr>
          <p:nvPr/>
        </p:nvSpPr>
        <p:spPr>
          <a:xfrm>
            <a:off x="4572000" y="1691640"/>
            <a:ext cx="2926080" cy="1005840"/>
          </a:xfrm>
          <a:prstGeom prst="rect">
            <a:avLst/>
          </a:prstGeom>
          <a:noFill/>
        </p:spPr>
        <p:txBody>
          <a:bodyPr wrap="square" lIns="0" tIns="0" rIns="0" bIns="0" anchor="t"/>
          <a:lstStyle/>
          <a:p>
            <a:pPr marL="0" indent="0">
              <a:buNone/>
            </a:pPr>
            <a:r>
              <a:rPr sz="4400" b="1">
                <a:solidFill>
                  <a:srgbClr val="1B4F8C"/>
                </a:solidFill>
                <a:latin typeface="Cambria"/>
                <a:ea typeface="Cambria"/>
                <a:cs typeface="Cambria"/>
              </a:rPr>
              <a:t>0.013</a:t>
            </a:r>
            <a:endParaRPr sz="4400"/>
          </a:p>
        </p:txBody>
      </p:sp>
      <p:sp>
        <p:nvSpPr>
          <p:cNvPr id="10" name="Text 8">
            <a:extLst>
              <a:ext uri="{FF2B5EF4-FFF2-40B4-BE49-F238E27FC236}">
                <a16:creationId xmlns:a16="http://schemas.microsoft.com/office/drawing/2014/main" id="{B3AD26E0-FD87-4222-82A1-DC681485B1EF}"/>
              </a:ext>
            </a:extLst>
          </p:cNvPr>
          <p:cNvSpPr>
            <a:spLocks noGrp="1"/>
          </p:cNvSpPr>
          <p:nvPr/>
        </p:nvSpPr>
        <p:spPr>
          <a:xfrm>
            <a:off x="4572000" y="2743200"/>
            <a:ext cx="2926080" cy="109728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standardized difference (a common threshold for concern is 0.1)</a:t>
            </a:r>
            <a:endParaRPr sz="1600"/>
          </a:p>
        </p:txBody>
      </p:sp>
      <p:sp>
        <p:nvSpPr>
          <p:cNvPr id="11" name="Shape 9">
            <a:extLst>
              <a:ext uri="{FF2B5EF4-FFF2-40B4-BE49-F238E27FC236}">
                <a16:creationId xmlns:a16="http://schemas.microsoft.com/office/drawing/2014/main" id="{34510B61-85EB-4991-A530-E75928CF7D69}"/>
              </a:ext>
            </a:extLst>
          </p:cNvPr>
          <p:cNvSpPr>
            <a:spLocks noGrp="1"/>
          </p:cNvSpPr>
          <p:nvPr/>
        </p:nvSpPr>
        <p:spPr>
          <a:xfrm>
            <a:off x="8046720" y="1554480"/>
            <a:ext cx="3474720" cy="2377440"/>
          </a:xfrm>
          <a:prstGeom prst="roundRect">
            <a:avLst>
              <a:gd name="adj" fmla="val 3846"/>
            </a:avLst>
          </a:prstGeom>
          <a:solidFill>
            <a:srgbClr val="EEF3F8"/>
          </a:solidFill>
          <a:ln w="12700">
            <a:solidFill>
              <a:srgbClr val="EEF3F8"/>
            </a:solidFill>
            <a:prstDash val="solid"/>
          </a:ln>
        </p:spPr>
        <p:txBody>
          <a:bodyPr/>
          <a:lstStyle/>
          <a:p>
            <a:endParaRPr lang="en-US"/>
          </a:p>
        </p:txBody>
      </p:sp>
      <p:sp>
        <p:nvSpPr>
          <p:cNvPr id="12" name="Text 10">
            <a:extLst>
              <a:ext uri="{FF2B5EF4-FFF2-40B4-BE49-F238E27FC236}">
                <a16:creationId xmlns:a16="http://schemas.microsoft.com/office/drawing/2014/main" id="{4943CADB-0EDF-41D7-BE70-B33ABA770688}"/>
              </a:ext>
            </a:extLst>
          </p:cNvPr>
          <p:cNvSpPr>
            <a:spLocks noGrp="1"/>
          </p:cNvSpPr>
          <p:nvPr/>
        </p:nvSpPr>
        <p:spPr>
          <a:xfrm>
            <a:off x="8321040" y="1691640"/>
            <a:ext cx="2926080" cy="1005840"/>
          </a:xfrm>
          <a:prstGeom prst="rect">
            <a:avLst/>
          </a:prstGeom>
          <a:noFill/>
        </p:spPr>
        <p:txBody>
          <a:bodyPr wrap="square" lIns="0" tIns="0" rIns="0" bIns="0" anchor="t"/>
          <a:lstStyle/>
          <a:p>
            <a:pPr marL="0" indent="0">
              <a:buNone/>
            </a:pPr>
            <a:r>
              <a:rPr sz="4400" b="1">
                <a:solidFill>
                  <a:srgbClr val="5B6178"/>
                </a:solidFill>
                <a:latin typeface="Cambria"/>
                <a:ea typeface="Cambria"/>
                <a:cs typeface="Cambria"/>
              </a:rPr>
              <a:t>305,866</a:t>
            </a:r>
            <a:endParaRPr sz="4400"/>
          </a:p>
        </p:txBody>
      </p:sp>
      <p:sp>
        <p:nvSpPr>
          <p:cNvPr id="13" name="Text 11">
            <a:extLst>
              <a:ext uri="{FF2B5EF4-FFF2-40B4-BE49-F238E27FC236}">
                <a16:creationId xmlns:a16="http://schemas.microsoft.com/office/drawing/2014/main" id="{06312960-0E1F-4869-BE97-50D3BC1DF02D}"/>
              </a:ext>
            </a:extLst>
          </p:cNvPr>
          <p:cNvSpPr>
            <a:spLocks noGrp="1"/>
          </p:cNvSpPr>
          <p:nvPr/>
        </p:nvSpPr>
        <p:spPr>
          <a:xfrm>
            <a:off x="8321040" y="2743200"/>
            <a:ext cx="2926080" cy="109728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people: with this N, trivial gaps reach p &lt; .05</a:t>
            </a:r>
            <a:endParaRPr sz="1600"/>
          </a:p>
        </p:txBody>
      </p:sp>
      <p:sp>
        <p:nvSpPr>
          <p:cNvPr id="14" name="Shape 12">
            <a:extLst>
              <a:ext uri="{FF2B5EF4-FFF2-40B4-BE49-F238E27FC236}">
                <a16:creationId xmlns:a16="http://schemas.microsoft.com/office/drawing/2014/main" id="{F7F7D3BA-E789-456F-AA9F-E0F4632F3E8E}"/>
              </a:ext>
            </a:extLst>
          </p:cNvPr>
          <p:cNvSpPr>
            <a:spLocks noGrp="1"/>
          </p:cNvSpPr>
          <p:nvPr/>
        </p:nvSpPr>
        <p:spPr>
          <a:xfrm>
            <a:off x="548640" y="4206240"/>
            <a:ext cx="11064240" cy="731520"/>
          </a:xfrm>
          <a:prstGeom prst="roundRect">
            <a:avLst>
              <a:gd name="adj" fmla="val 12500"/>
            </a:avLst>
          </a:prstGeom>
          <a:solidFill>
            <a:srgbClr val="F5F7FA"/>
          </a:solidFill>
          <a:ln w="12700">
            <a:solidFill>
              <a:srgbClr val="F5F7FA"/>
            </a:solidFill>
            <a:prstDash val="solid"/>
          </a:ln>
        </p:spPr>
        <p:txBody>
          <a:bodyPr/>
          <a:lstStyle/>
          <a:p>
            <a:endParaRPr lang="en-US"/>
          </a:p>
        </p:txBody>
      </p:sp>
      <p:sp>
        <p:nvSpPr>
          <p:cNvPr id="15" name="Text 13">
            <a:extLst>
              <a:ext uri="{FF2B5EF4-FFF2-40B4-BE49-F238E27FC236}">
                <a16:creationId xmlns:a16="http://schemas.microsoft.com/office/drawing/2014/main" id="{56F7D083-200F-4387-8EB1-2B15428539C3}"/>
              </a:ext>
            </a:extLst>
          </p:cNvPr>
          <p:cNvSpPr>
            <a:spLocks noGrp="1"/>
          </p:cNvSpPr>
          <p:nvPr/>
        </p:nvSpPr>
        <p:spPr>
          <a:xfrm>
            <a:off x="822960" y="4206240"/>
            <a:ext cx="10515600" cy="731520"/>
          </a:xfrm>
          <a:prstGeom prst="rect">
            <a:avLst/>
          </a:prstGeom>
          <a:noFill/>
        </p:spPr>
        <p:txBody>
          <a:bodyPr wrap="square" lIns="0" tIns="0" rIns="0" bIns="0" anchor="ctr"/>
          <a:lstStyle/>
          <a:p>
            <a:pPr marL="0" indent="0" algn="ctr">
              <a:buNone/>
            </a:pPr>
            <a:r>
              <a:rPr sz="2000">
                <a:solidFill>
                  <a:srgbClr val="00274D"/>
                </a:solidFill>
                <a:latin typeface="Cambria"/>
                <a:ea typeface="Cambria"/>
                <a:cs typeface="Cambria"/>
              </a:rPr>
              <a:t>Standardized difference  =  (mean treated − mean control)  ÷  pooled SD</a:t>
            </a:r>
            <a:endParaRPr sz="2000"/>
          </a:p>
        </p:txBody>
      </p:sp>
      <p:sp>
        <p:nvSpPr>
          <p:cNvPr id="16" name="Text 14">
            <a:extLst>
              <a:ext uri="{FF2B5EF4-FFF2-40B4-BE49-F238E27FC236}">
                <a16:creationId xmlns:a16="http://schemas.microsoft.com/office/drawing/2014/main" id="{0036B161-7A02-4D8E-A472-74BA4F8EF4D8}"/>
              </a:ext>
            </a:extLst>
          </p:cNvPr>
          <p:cNvSpPr>
            <a:spLocks noGrp="1"/>
          </p:cNvSpPr>
          <p:nvPr/>
        </p:nvSpPr>
        <p:spPr>
          <a:xfrm>
            <a:off x="548640" y="5120640"/>
            <a:ext cx="11064240" cy="548640"/>
          </a:xfrm>
          <a:prstGeom prst="rect">
            <a:avLst/>
          </a:prstGeom>
          <a:noFill/>
        </p:spPr>
        <p:txBody>
          <a:bodyPr wrap="square" lIns="0" tIns="0" rIns="0" bIns="0" anchor="t"/>
          <a:lstStyle/>
          <a:p>
            <a:pPr marL="0" indent="0">
              <a:buNone/>
            </a:pPr>
            <a:r>
              <a:rPr sz="1600" i="1">
                <a:solidFill>
                  <a:srgbClr val="5B6178"/>
                </a:solidFill>
                <a:latin typeface="Calibri"/>
                <a:ea typeface="Calibri"/>
                <a:cs typeface="Calibri"/>
              </a:rPr>
              <a:t>Ask: is the difference large enough to matter for the outcome? Not just: is it statistically distinguishable from zero?</a:t>
            </a:r>
            <a:endParaRPr sz="1600"/>
          </a:p>
        </p:txBody>
      </p:sp>
    </p:spTree>
    <p:extLst>
      <p:ext uri="{BB962C8B-B14F-4D97-AF65-F5344CB8AC3E}">
        <p14:creationId xmlns:p14="http://schemas.microsoft.com/office/powerpoint/2010/main" val="14855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F33911-CDC0-42A7-B24B-CFCB2BA37FA0}"/>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THE MULTIPLE-COMPARISONS TRAP</a:t>
            </a:r>
            <a:endParaRPr sz="1200"/>
          </a:p>
        </p:txBody>
      </p:sp>
      <p:sp>
        <p:nvSpPr>
          <p:cNvPr id="3" name="Text 1">
            <a:extLst>
              <a:ext uri="{FF2B5EF4-FFF2-40B4-BE49-F238E27FC236}">
                <a16:creationId xmlns:a16="http://schemas.microsoft.com/office/drawing/2014/main" id="{DC409CC7-797B-4EBF-850C-D0FDEA00A47A}"/>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If you run enough balance tests, some will “fail” by chance</a:t>
            </a:r>
            <a:endParaRPr sz="3000"/>
          </a:p>
        </p:txBody>
      </p:sp>
      <p:sp>
        <p:nvSpPr>
          <p:cNvPr id="4" name="Text 2">
            <a:extLst>
              <a:ext uri="{FF2B5EF4-FFF2-40B4-BE49-F238E27FC236}">
                <a16:creationId xmlns:a16="http://schemas.microsoft.com/office/drawing/2014/main" id="{6EED5D31-F873-48DE-836C-6186FDCDE09E}"/>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24</a:t>
            </a:r>
            <a:endParaRPr sz="1000"/>
          </a:p>
        </p:txBody>
      </p:sp>
      <p:sp>
        <p:nvSpPr>
          <p:cNvPr id="5" name="Shape 3">
            <a:extLst>
              <a:ext uri="{FF2B5EF4-FFF2-40B4-BE49-F238E27FC236}">
                <a16:creationId xmlns:a16="http://schemas.microsoft.com/office/drawing/2014/main" id="{3E3A4D49-9A8E-4B81-9B49-4F4E4A242B69}"/>
              </a:ext>
            </a:extLst>
          </p:cNvPr>
          <p:cNvSpPr>
            <a:spLocks noGrp="1"/>
          </p:cNvSpPr>
          <p:nvPr/>
        </p:nvSpPr>
        <p:spPr>
          <a:xfrm>
            <a:off x="548640" y="1554480"/>
            <a:ext cx="3474720" cy="3931920"/>
          </a:xfrm>
          <a:prstGeom prst="roundRect">
            <a:avLst>
              <a:gd name="adj" fmla="val 2632"/>
            </a:avLst>
          </a:prstGeom>
          <a:solidFill>
            <a:srgbClr val="00274D"/>
          </a:solidFill>
          <a:ln w="12700">
            <a:solidFill>
              <a:srgbClr val="00274D"/>
            </a:solidFill>
            <a:prstDash val="solid"/>
          </a:ln>
        </p:spPr>
        <p:txBody>
          <a:bodyPr/>
          <a:lstStyle/>
          <a:p>
            <a:endParaRPr lang="en-US"/>
          </a:p>
        </p:txBody>
      </p:sp>
      <p:sp>
        <p:nvSpPr>
          <p:cNvPr id="6" name="Text 4">
            <a:extLst>
              <a:ext uri="{FF2B5EF4-FFF2-40B4-BE49-F238E27FC236}">
                <a16:creationId xmlns:a16="http://schemas.microsoft.com/office/drawing/2014/main" id="{C56A3D6E-BB0C-4698-96FA-2D3F28A87997}"/>
              </a:ext>
            </a:extLst>
          </p:cNvPr>
          <p:cNvSpPr>
            <a:spLocks noGrp="1"/>
          </p:cNvSpPr>
          <p:nvPr/>
        </p:nvSpPr>
        <p:spPr>
          <a:xfrm>
            <a:off x="822960" y="1737360"/>
            <a:ext cx="2926080" cy="3566160"/>
          </a:xfrm>
          <a:prstGeom prst="rect">
            <a:avLst/>
          </a:prstGeom>
          <a:noFill/>
        </p:spPr>
        <p:txBody>
          <a:bodyPr wrap="square" lIns="0" tIns="0" rIns="0" bIns="0" anchor="ctr"/>
          <a:lstStyle/>
          <a:p>
            <a:pPr marL="0" indent="0">
              <a:buNone/>
            </a:pPr>
            <a:r>
              <a:rPr sz="7200" b="1">
                <a:solidFill>
                  <a:srgbClr val="FFFFFF"/>
                </a:solidFill>
                <a:latin typeface="Cambria"/>
                <a:ea typeface="Cambria"/>
                <a:cs typeface="Cambria"/>
              </a:rPr>
              <a:t>12</a:t>
            </a:r>
            <a:endParaRPr sz="1700"/>
          </a:p>
          <a:p>
            <a:pPr marL="0" indent="0">
              <a:buNone/>
            </a:pPr>
            <a:r>
              <a:rPr sz="1700">
                <a:solidFill>
                  <a:srgbClr val="BFD7EA"/>
                </a:solidFill>
                <a:latin typeface="Calibri"/>
                <a:ea typeface="Calibri"/>
                <a:cs typeface="Calibri"/>
              </a:rPr>
              <a:t>balance tests in our table (4 covariates × 3 arms)</a:t>
            </a:r>
            <a:endParaRPr sz="1700"/>
          </a:p>
        </p:txBody>
      </p:sp>
      <p:sp>
        <p:nvSpPr>
          <p:cNvPr id="7" name="Shape 5">
            <a:extLst>
              <a:ext uri="{FF2B5EF4-FFF2-40B4-BE49-F238E27FC236}">
                <a16:creationId xmlns:a16="http://schemas.microsoft.com/office/drawing/2014/main" id="{786939CC-AC63-4C0E-B0B4-4C4107FA29F0}"/>
              </a:ext>
            </a:extLst>
          </p:cNvPr>
          <p:cNvSpPr>
            <a:spLocks noGrp="1"/>
          </p:cNvSpPr>
          <p:nvPr/>
        </p:nvSpPr>
        <p:spPr>
          <a:xfrm>
            <a:off x="4297680" y="1554480"/>
            <a:ext cx="3474720" cy="3931920"/>
          </a:xfrm>
          <a:prstGeom prst="roundRect">
            <a:avLst>
              <a:gd name="adj" fmla="val 2632"/>
            </a:avLst>
          </a:prstGeom>
          <a:solidFill>
            <a:srgbClr val="EEF3F8"/>
          </a:solidFill>
          <a:ln w="12700">
            <a:solidFill>
              <a:srgbClr val="EEF3F8"/>
            </a:solidFill>
            <a:prstDash val="solid"/>
          </a:ln>
        </p:spPr>
        <p:txBody>
          <a:bodyPr/>
          <a:lstStyle/>
          <a:p>
            <a:endParaRPr lang="en-US"/>
          </a:p>
        </p:txBody>
      </p:sp>
      <p:sp>
        <p:nvSpPr>
          <p:cNvPr id="8" name="Text 6">
            <a:extLst>
              <a:ext uri="{FF2B5EF4-FFF2-40B4-BE49-F238E27FC236}">
                <a16:creationId xmlns:a16="http://schemas.microsoft.com/office/drawing/2014/main" id="{CAB7DD48-59B9-49A9-833A-4C30260F886E}"/>
              </a:ext>
            </a:extLst>
          </p:cNvPr>
          <p:cNvSpPr>
            <a:spLocks noGrp="1"/>
          </p:cNvSpPr>
          <p:nvPr/>
        </p:nvSpPr>
        <p:spPr>
          <a:xfrm>
            <a:off x="4572000" y="1737360"/>
            <a:ext cx="2926080" cy="3566160"/>
          </a:xfrm>
          <a:prstGeom prst="rect">
            <a:avLst/>
          </a:prstGeom>
          <a:noFill/>
        </p:spPr>
        <p:txBody>
          <a:bodyPr wrap="square" lIns="0" tIns="0" rIns="0" bIns="0" anchor="ctr"/>
          <a:lstStyle/>
          <a:p>
            <a:pPr marL="0" indent="0">
              <a:buNone/>
            </a:pPr>
            <a:r>
              <a:rPr sz="7200" b="1">
                <a:solidFill>
                  <a:srgbClr val="1B4F8C"/>
                </a:solidFill>
                <a:latin typeface="Cambria"/>
                <a:ea typeface="Cambria"/>
                <a:cs typeface="Cambria"/>
              </a:rPr>
              <a:t>0.6</a:t>
            </a:r>
            <a:endParaRPr sz="1700"/>
          </a:p>
          <a:p>
            <a:pPr marL="0" indent="0">
              <a:buNone/>
            </a:pPr>
            <a:r>
              <a:rPr sz="1700">
                <a:solidFill>
                  <a:srgbClr val="1A1A2E"/>
                </a:solidFill>
                <a:latin typeface="Calibri"/>
                <a:ea typeface="Calibri"/>
                <a:cs typeface="Calibri"/>
              </a:rPr>
              <a:t>expected to have p &lt; .05 by pure chance (12 × 0.05)</a:t>
            </a:r>
            <a:endParaRPr sz="1700"/>
          </a:p>
        </p:txBody>
      </p:sp>
      <p:sp>
        <p:nvSpPr>
          <p:cNvPr id="9" name="Shape 7">
            <a:extLst>
              <a:ext uri="{FF2B5EF4-FFF2-40B4-BE49-F238E27FC236}">
                <a16:creationId xmlns:a16="http://schemas.microsoft.com/office/drawing/2014/main" id="{F10682D0-D41A-4049-AD5C-7EE9F784DEE9}"/>
              </a:ext>
            </a:extLst>
          </p:cNvPr>
          <p:cNvSpPr>
            <a:spLocks noGrp="1"/>
          </p:cNvSpPr>
          <p:nvPr/>
        </p:nvSpPr>
        <p:spPr>
          <a:xfrm>
            <a:off x="8046720" y="1554480"/>
            <a:ext cx="3566160" cy="3931920"/>
          </a:xfrm>
          <a:prstGeom prst="roundRect">
            <a:avLst>
              <a:gd name="adj" fmla="val 2564"/>
            </a:avLst>
          </a:prstGeom>
          <a:solidFill>
            <a:srgbClr val="E8F5EC"/>
          </a:solidFill>
          <a:ln w="12700">
            <a:solidFill>
              <a:srgbClr val="E8F5EC"/>
            </a:solidFill>
            <a:prstDash val="solid"/>
          </a:ln>
        </p:spPr>
        <p:txBody>
          <a:bodyPr/>
          <a:lstStyle/>
          <a:p>
            <a:endParaRPr lang="en-US"/>
          </a:p>
        </p:txBody>
      </p:sp>
      <p:sp>
        <p:nvSpPr>
          <p:cNvPr id="10" name="Text 8">
            <a:extLst>
              <a:ext uri="{FF2B5EF4-FFF2-40B4-BE49-F238E27FC236}">
                <a16:creationId xmlns:a16="http://schemas.microsoft.com/office/drawing/2014/main" id="{73350EFE-4850-444B-BC1C-BD6406D1D670}"/>
              </a:ext>
            </a:extLst>
          </p:cNvPr>
          <p:cNvSpPr>
            <a:spLocks noGrp="1"/>
          </p:cNvSpPr>
          <p:nvPr/>
        </p:nvSpPr>
        <p:spPr>
          <a:xfrm>
            <a:off x="8321040" y="1737360"/>
            <a:ext cx="3017520" cy="3566160"/>
          </a:xfrm>
          <a:prstGeom prst="rect">
            <a:avLst/>
          </a:prstGeom>
          <a:noFill/>
        </p:spPr>
        <p:txBody>
          <a:bodyPr wrap="square" lIns="0" tIns="0" rIns="0" bIns="0" anchor="t"/>
          <a:lstStyle/>
          <a:p>
            <a:pPr marL="0" indent="0">
              <a:buNone/>
            </a:pPr>
            <a:r>
              <a:rPr sz="1600" b="1">
                <a:solidFill>
                  <a:srgbClr val="1E7A46"/>
                </a:solidFill>
                <a:latin typeface="Calibri"/>
                <a:ea typeface="Calibri"/>
                <a:cs typeface="Calibri"/>
              </a:rPr>
              <a:t>Joint test</a:t>
            </a:r>
            <a:endParaRPr sz="1600"/>
          </a:p>
          <a:p>
            <a:pPr marL="0" indent="0">
              <a:buNone/>
            </a:pPr>
            <a:r>
              <a:rPr sz="1600">
                <a:solidFill>
                  <a:srgbClr val="1A1A2E"/>
                </a:solidFill>
                <a:latin typeface="Calibri"/>
                <a:ea typeface="Calibri"/>
                <a:cs typeface="Calibri"/>
              </a:rPr>
              <a:t>Regress Neighbors (vs. control) on all four covariates at once:</a:t>
            </a:r>
            <a:endParaRPr sz="1600"/>
          </a:p>
          <a:p>
            <a:pPr marL="0" indent="0">
              <a:buNone/>
            </a:pPr>
            <a:r>
              <a:rPr sz="800">
                <a:solidFill>
                  <a:srgbClr val="1A1A2E"/>
                </a:solidFill>
                <a:latin typeface="Calibri"/>
                <a:ea typeface="Calibri"/>
                <a:cs typeface="Calibri"/>
              </a:rPr>
              <a:t> </a:t>
            </a:r>
            <a:endParaRPr sz="1600"/>
          </a:p>
          <a:p>
            <a:pPr marL="0" indent="0">
              <a:buNone/>
            </a:pPr>
            <a:r>
              <a:rPr sz="2400" b="1">
                <a:solidFill>
                  <a:srgbClr val="1E7A46"/>
                </a:solidFill>
                <a:latin typeface="Cambria"/>
                <a:ea typeface="Cambria"/>
                <a:cs typeface="Cambria"/>
              </a:rPr>
              <a:t>F = 1.82, p = 0.12</a:t>
            </a:r>
            <a:endParaRPr sz="1600"/>
          </a:p>
          <a:p>
            <a:pPr marL="0" indent="0">
              <a:buNone/>
            </a:pPr>
            <a:r>
              <a:rPr sz="800">
                <a:solidFill>
                  <a:srgbClr val="1A1A2E"/>
                </a:solidFill>
                <a:latin typeface="Calibri"/>
                <a:ea typeface="Calibri"/>
                <a:cs typeface="Calibri"/>
              </a:rPr>
              <a:t> </a:t>
            </a:r>
            <a:endParaRPr sz="1600"/>
          </a:p>
          <a:p>
            <a:pPr marL="0" indent="0">
              <a:buNone/>
            </a:pPr>
            <a:r>
              <a:rPr sz="1600">
                <a:solidFill>
                  <a:srgbClr val="1A1A2E"/>
                </a:solidFill>
                <a:latin typeface="Calibri"/>
                <a:ea typeface="Calibri"/>
                <a:cs typeface="Calibri"/>
              </a:rPr>
              <a:t>No evidence the covariates jointly predict assignment.</a:t>
            </a:r>
            <a:endParaRPr sz="1600"/>
          </a:p>
        </p:txBody>
      </p:sp>
    </p:spTree>
    <p:extLst>
      <p:ext uri="{BB962C8B-B14F-4D97-AF65-F5344CB8AC3E}">
        <p14:creationId xmlns:p14="http://schemas.microsoft.com/office/powerpoint/2010/main" val="242769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271029A-09BB-459F-87B8-12D230EE649F}"/>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BALANCE TABLES</a:t>
            </a:r>
            <a:endParaRPr sz="1200"/>
          </a:p>
        </p:txBody>
      </p:sp>
      <p:sp>
        <p:nvSpPr>
          <p:cNvPr id="3" name="Text 1">
            <a:extLst>
              <a:ext uri="{FF2B5EF4-FFF2-40B4-BE49-F238E27FC236}">
                <a16:creationId xmlns:a16="http://schemas.microsoft.com/office/drawing/2014/main" id="{8B2BAC4C-699C-422A-ADBC-F8995BDD666D}"/>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What they can and cannot tell you</a:t>
            </a:r>
            <a:endParaRPr sz="3000"/>
          </a:p>
        </p:txBody>
      </p:sp>
      <p:sp>
        <p:nvSpPr>
          <p:cNvPr id="4" name="Text 2">
            <a:extLst>
              <a:ext uri="{FF2B5EF4-FFF2-40B4-BE49-F238E27FC236}">
                <a16:creationId xmlns:a16="http://schemas.microsoft.com/office/drawing/2014/main" id="{5FB830B0-0F26-40A7-9DA3-5CC74D2785F7}"/>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25</a:t>
            </a:r>
            <a:endParaRPr sz="1000"/>
          </a:p>
        </p:txBody>
      </p:sp>
      <p:sp>
        <p:nvSpPr>
          <p:cNvPr id="5" name="Shape 3">
            <a:extLst>
              <a:ext uri="{FF2B5EF4-FFF2-40B4-BE49-F238E27FC236}">
                <a16:creationId xmlns:a16="http://schemas.microsoft.com/office/drawing/2014/main" id="{D0CE8794-3D24-452B-86D1-0E1982EF1B5D}"/>
              </a:ext>
            </a:extLst>
          </p:cNvPr>
          <p:cNvSpPr>
            <a:spLocks noGrp="1"/>
          </p:cNvSpPr>
          <p:nvPr/>
        </p:nvSpPr>
        <p:spPr>
          <a:xfrm>
            <a:off x="548640" y="1371600"/>
            <a:ext cx="5394960" cy="4114800"/>
          </a:xfrm>
          <a:prstGeom prst="roundRect">
            <a:avLst>
              <a:gd name="adj" fmla="val 2222"/>
            </a:avLst>
          </a:prstGeom>
          <a:solidFill>
            <a:srgbClr val="E8F5EC"/>
          </a:solidFill>
          <a:ln w="12700">
            <a:solidFill>
              <a:srgbClr val="E8F5EC"/>
            </a:solidFill>
            <a:prstDash val="solid"/>
          </a:ln>
        </p:spPr>
        <p:txBody>
          <a:bodyPr/>
          <a:lstStyle/>
          <a:p>
            <a:endParaRPr lang="en-US"/>
          </a:p>
        </p:txBody>
      </p:sp>
      <p:sp>
        <p:nvSpPr>
          <p:cNvPr id="6" name="Shape 4">
            <a:extLst>
              <a:ext uri="{FF2B5EF4-FFF2-40B4-BE49-F238E27FC236}">
                <a16:creationId xmlns:a16="http://schemas.microsoft.com/office/drawing/2014/main" id="{22E4E28A-FC58-437E-B4B8-25A957893E08}"/>
              </a:ext>
            </a:extLst>
          </p:cNvPr>
          <p:cNvSpPr>
            <a:spLocks noGrp="1"/>
          </p:cNvSpPr>
          <p:nvPr/>
        </p:nvSpPr>
        <p:spPr>
          <a:xfrm>
            <a:off x="6217920" y="1371600"/>
            <a:ext cx="5394960" cy="4114800"/>
          </a:xfrm>
          <a:prstGeom prst="roundRect">
            <a:avLst>
              <a:gd name="adj" fmla="val 2222"/>
            </a:avLst>
          </a:prstGeom>
          <a:solidFill>
            <a:srgbClr val="FBEAE7"/>
          </a:solidFill>
          <a:ln w="12700">
            <a:solidFill>
              <a:srgbClr val="FBEAE7"/>
            </a:solidFill>
            <a:prstDash val="solid"/>
          </a:ln>
        </p:spPr>
        <p:txBody>
          <a:bodyPr/>
          <a:lstStyle/>
          <a:p>
            <a:endParaRPr lang="en-US"/>
          </a:p>
        </p:txBody>
      </p:sp>
      <p:sp>
        <p:nvSpPr>
          <p:cNvPr id="7" name="Text 5">
            <a:extLst>
              <a:ext uri="{FF2B5EF4-FFF2-40B4-BE49-F238E27FC236}">
                <a16:creationId xmlns:a16="http://schemas.microsoft.com/office/drawing/2014/main" id="{352E62CC-966A-4742-812C-3FBF93AA7FC4}"/>
              </a:ext>
            </a:extLst>
          </p:cNvPr>
          <p:cNvSpPr>
            <a:spLocks noGrp="1"/>
          </p:cNvSpPr>
          <p:nvPr/>
        </p:nvSpPr>
        <p:spPr>
          <a:xfrm>
            <a:off x="822960" y="1554480"/>
            <a:ext cx="4846320" cy="457200"/>
          </a:xfrm>
          <a:prstGeom prst="rect">
            <a:avLst/>
          </a:prstGeom>
          <a:noFill/>
        </p:spPr>
        <p:txBody>
          <a:bodyPr wrap="square" lIns="0" tIns="0" rIns="0" bIns="0" anchor="t"/>
          <a:lstStyle/>
          <a:p>
            <a:pPr marL="0" indent="0">
              <a:buNone/>
            </a:pPr>
            <a:r>
              <a:rPr sz="2400" b="1">
                <a:solidFill>
                  <a:srgbClr val="1E7A46"/>
                </a:solidFill>
                <a:latin typeface="Cambria"/>
                <a:ea typeface="Cambria"/>
                <a:cs typeface="Cambria"/>
              </a:rPr>
              <a:t>Can</a:t>
            </a:r>
            <a:endParaRPr sz="2400"/>
          </a:p>
        </p:txBody>
      </p:sp>
      <p:sp>
        <p:nvSpPr>
          <p:cNvPr id="8" name="Text 6">
            <a:extLst>
              <a:ext uri="{FF2B5EF4-FFF2-40B4-BE49-F238E27FC236}">
                <a16:creationId xmlns:a16="http://schemas.microsoft.com/office/drawing/2014/main" id="{811228F4-C802-490F-A228-9C99F93C6F76}"/>
              </a:ext>
            </a:extLst>
          </p:cNvPr>
          <p:cNvSpPr>
            <a:spLocks noGrp="1"/>
          </p:cNvSpPr>
          <p:nvPr/>
        </p:nvSpPr>
        <p:spPr>
          <a:xfrm>
            <a:off x="822960" y="2148840"/>
            <a:ext cx="4846320" cy="3108960"/>
          </a:xfrm>
          <a:prstGeom prst="rect">
            <a:avLst/>
          </a:prstGeom>
          <a:noFill/>
        </p:spPr>
        <p:txBody>
          <a:bodyPr wrap="square" lIns="0" tIns="0" rIns="0" bIns="0" anchor="t"/>
          <a:lstStyle/>
          <a:p>
            <a:pPr marL="342900" indent="-342900">
              <a:spcAft>
                <a:spcPts val="1000"/>
              </a:spcAft>
              <a:buSzPct val="100000"/>
              <a:buChar char="•"/>
            </a:pPr>
            <a:r>
              <a:rPr sz="1700">
                <a:solidFill>
                  <a:srgbClr val="1A1A2E"/>
                </a:solidFill>
                <a:latin typeface="Calibri"/>
                <a:ea typeface="Calibri"/>
                <a:cs typeface="Calibri"/>
              </a:rPr>
              <a:t>Flag a broken or subverted randomization (e.g., staff steering people into treatment)</a:t>
            </a:r>
            <a:endParaRPr sz="1700"/>
          </a:p>
          <a:p>
            <a:pPr marL="342900" indent="-342900">
              <a:spcAft>
                <a:spcPts val="1000"/>
              </a:spcAft>
              <a:buSzPct val="100000"/>
              <a:buChar char="•"/>
            </a:pPr>
            <a:r>
              <a:rPr sz="1700">
                <a:solidFill>
                  <a:srgbClr val="1A1A2E"/>
                </a:solidFill>
                <a:latin typeface="Calibri"/>
                <a:ea typeface="Calibri"/>
                <a:cs typeface="Calibri"/>
              </a:rPr>
              <a:t>Reveal data errors or mismatched samples</a:t>
            </a:r>
            <a:endParaRPr sz="1700"/>
          </a:p>
          <a:p>
            <a:pPr marL="342900" indent="-342900">
              <a:spcAft>
                <a:spcPts val="1000"/>
              </a:spcAft>
              <a:buSzPct val="100000"/>
              <a:buChar char="•"/>
            </a:pPr>
            <a:r>
              <a:rPr sz="1700">
                <a:solidFill>
                  <a:srgbClr val="1A1A2E"/>
                </a:solidFill>
                <a:latin typeface="Calibri"/>
                <a:ea typeface="Calibri"/>
                <a:cs typeface="Calibri"/>
              </a:rPr>
              <a:t>Show readers how comparable the groups look on what was measured</a:t>
            </a:r>
            <a:endParaRPr sz="1700"/>
          </a:p>
        </p:txBody>
      </p:sp>
      <p:sp>
        <p:nvSpPr>
          <p:cNvPr id="9" name="Text 7">
            <a:extLst>
              <a:ext uri="{FF2B5EF4-FFF2-40B4-BE49-F238E27FC236}">
                <a16:creationId xmlns:a16="http://schemas.microsoft.com/office/drawing/2014/main" id="{A0486DD2-63CF-4FCF-80A3-9C06EE2D1337}"/>
              </a:ext>
            </a:extLst>
          </p:cNvPr>
          <p:cNvSpPr>
            <a:spLocks noGrp="1"/>
          </p:cNvSpPr>
          <p:nvPr/>
        </p:nvSpPr>
        <p:spPr>
          <a:xfrm>
            <a:off x="6492240" y="1554480"/>
            <a:ext cx="4846320" cy="457200"/>
          </a:xfrm>
          <a:prstGeom prst="rect">
            <a:avLst/>
          </a:prstGeom>
          <a:noFill/>
        </p:spPr>
        <p:txBody>
          <a:bodyPr wrap="square" lIns="0" tIns="0" rIns="0" bIns="0" anchor="t"/>
          <a:lstStyle/>
          <a:p>
            <a:pPr marL="0" indent="0">
              <a:buNone/>
            </a:pPr>
            <a:r>
              <a:rPr sz="2400" b="1">
                <a:solidFill>
                  <a:srgbClr val="A13A2F"/>
                </a:solidFill>
                <a:latin typeface="Cambria"/>
                <a:ea typeface="Cambria"/>
                <a:cs typeface="Cambria"/>
              </a:rPr>
              <a:t>Cannot</a:t>
            </a:r>
            <a:endParaRPr sz="2400"/>
          </a:p>
        </p:txBody>
      </p:sp>
      <p:sp>
        <p:nvSpPr>
          <p:cNvPr id="10" name="Text 8">
            <a:extLst>
              <a:ext uri="{FF2B5EF4-FFF2-40B4-BE49-F238E27FC236}">
                <a16:creationId xmlns:a16="http://schemas.microsoft.com/office/drawing/2014/main" id="{455CAB7F-AE33-4349-B44A-8B94157001EB}"/>
              </a:ext>
            </a:extLst>
          </p:cNvPr>
          <p:cNvSpPr>
            <a:spLocks noGrp="1"/>
          </p:cNvSpPr>
          <p:nvPr/>
        </p:nvSpPr>
        <p:spPr>
          <a:xfrm>
            <a:off x="6492240" y="2148840"/>
            <a:ext cx="4846320" cy="3108960"/>
          </a:xfrm>
          <a:prstGeom prst="rect">
            <a:avLst/>
          </a:prstGeom>
          <a:noFill/>
        </p:spPr>
        <p:txBody>
          <a:bodyPr wrap="square" lIns="0" tIns="0" rIns="0" bIns="0" anchor="t"/>
          <a:lstStyle/>
          <a:p>
            <a:pPr marL="342900" indent="-342900">
              <a:spcAft>
                <a:spcPts val="1000"/>
              </a:spcAft>
              <a:buSzPct val="100000"/>
              <a:buChar char="•"/>
            </a:pPr>
            <a:r>
              <a:rPr sz="1700">
                <a:solidFill>
                  <a:srgbClr val="1A1A2E"/>
                </a:solidFill>
                <a:latin typeface="Calibri"/>
                <a:ea typeface="Calibri"/>
                <a:cs typeface="Calibri"/>
              </a:rPr>
              <a:t>Test balance on unobservables; that is taken on the strength of the design</a:t>
            </a:r>
            <a:endParaRPr sz="1700"/>
          </a:p>
          <a:p>
            <a:pPr marL="342900" indent="-342900">
              <a:spcAft>
                <a:spcPts val="1000"/>
              </a:spcAft>
              <a:buSzPct val="100000"/>
              <a:buChar char="•"/>
            </a:pPr>
            <a:r>
              <a:rPr sz="1700">
                <a:solidFill>
                  <a:srgbClr val="1A1A2E"/>
                </a:solidFill>
                <a:latin typeface="Calibri"/>
                <a:ea typeface="Calibri"/>
                <a:cs typeface="Calibri"/>
              </a:rPr>
              <a:t>Prove the groups are identical: chance imbalances can still affect an estimate</a:t>
            </a:r>
            <a:endParaRPr sz="1700"/>
          </a:p>
          <a:p>
            <a:pPr marL="342900" indent="-342900">
              <a:spcAft>
                <a:spcPts val="1000"/>
              </a:spcAft>
              <a:buSzPct val="100000"/>
              <a:buChar char="•"/>
            </a:pPr>
            <a:r>
              <a:rPr sz="1700">
                <a:solidFill>
                  <a:srgbClr val="1A1A2E"/>
                </a:solidFill>
                <a:latin typeface="Calibri"/>
                <a:ea typeface="Calibri"/>
                <a:cs typeface="Calibri"/>
              </a:rPr>
              <a:t>Justify dropping or re-running an experiment after the fact</a:t>
            </a:r>
            <a:endParaRPr sz="1700"/>
          </a:p>
        </p:txBody>
      </p:sp>
      <p:sp>
        <p:nvSpPr>
          <p:cNvPr id="11" name="Text 9">
            <a:extLst>
              <a:ext uri="{FF2B5EF4-FFF2-40B4-BE49-F238E27FC236}">
                <a16:creationId xmlns:a16="http://schemas.microsoft.com/office/drawing/2014/main" id="{C5C8FC67-4726-40A0-997C-4241F33FCD8F}"/>
              </a:ext>
            </a:extLst>
          </p:cNvPr>
          <p:cNvSpPr>
            <a:spLocks noGrp="1"/>
          </p:cNvSpPr>
          <p:nvPr/>
        </p:nvSpPr>
        <p:spPr>
          <a:xfrm>
            <a:off x="548640" y="5669280"/>
            <a:ext cx="11064240" cy="548640"/>
          </a:xfrm>
          <a:prstGeom prst="rect">
            <a:avLst/>
          </a:prstGeom>
          <a:noFill/>
        </p:spPr>
        <p:txBody>
          <a:bodyPr wrap="square" lIns="0" tIns="0" rIns="0" bIns="0" anchor="t"/>
          <a:lstStyle/>
          <a:p>
            <a:pPr marL="0" indent="0">
              <a:buNone/>
            </a:pPr>
            <a:r>
              <a:rPr sz="1400" i="1">
                <a:solidFill>
                  <a:srgbClr val="5B6178"/>
                </a:solidFill>
                <a:latin typeface="Calibri"/>
                <a:ea typeface="Calibri"/>
                <a:cs typeface="Calibri"/>
              </a:rPr>
              <a:t>Some methodologists argue against significance tests for balance entirely (Mutz, Pemantle &amp; Pham 2019). Report the table; interpret magnitudes.</a:t>
            </a:r>
            <a:endParaRPr sz="1400"/>
          </a:p>
        </p:txBody>
      </p:sp>
    </p:spTree>
    <p:extLst>
      <p:ext uri="{BB962C8B-B14F-4D97-AF65-F5344CB8AC3E}">
        <p14:creationId xmlns:p14="http://schemas.microsoft.com/office/powerpoint/2010/main" val="821839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74D"/>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A58525-0F8C-44B2-B99C-51FDEF60D0CF}"/>
              </a:ext>
            </a:extLst>
          </p:cNvPr>
          <p:cNvSpPr>
            <a:spLocks noGrp="1"/>
          </p:cNvSpPr>
          <p:nvPr/>
        </p:nvSpPr>
        <p:spPr>
          <a:xfrm>
            <a:off x="731520" y="2468880"/>
            <a:ext cx="10058400" cy="457200"/>
          </a:xfrm>
          <a:prstGeom prst="rect">
            <a:avLst/>
          </a:prstGeom>
          <a:noFill/>
        </p:spPr>
        <p:txBody>
          <a:bodyPr wrap="square" lIns="0" tIns="0" rIns="0" bIns="0" anchor="t"/>
          <a:lstStyle/>
          <a:p>
            <a:pPr marL="0" indent="0">
              <a:buNone/>
            </a:pPr>
            <a:r>
              <a:rPr sz="1600" b="1" spc="200">
                <a:solidFill>
                  <a:srgbClr val="BFD7EA"/>
                </a:solidFill>
                <a:latin typeface="Calibri"/>
                <a:ea typeface="Calibri"/>
                <a:cs typeface="Calibri"/>
              </a:rPr>
              <a:t>PART 4</a:t>
            </a:r>
            <a:endParaRPr sz="1600"/>
          </a:p>
        </p:txBody>
      </p:sp>
      <p:sp>
        <p:nvSpPr>
          <p:cNvPr id="3" name="Text 1">
            <a:extLst>
              <a:ext uri="{FF2B5EF4-FFF2-40B4-BE49-F238E27FC236}">
                <a16:creationId xmlns:a16="http://schemas.microsoft.com/office/drawing/2014/main" id="{F4CDF75D-3840-4C8D-B5BF-E8F17776A5AC}"/>
              </a:ext>
            </a:extLst>
          </p:cNvPr>
          <p:cNvSpPr>
            <a:spLocks noGrp="1"/>
          </p:cNvSpPr>
          <p:nvPr/>
        </p:nvSpPr>
        <p:spPr>
          <a:xfrm>
            <a:off x="731520" y="2926080"/>
            <a:ext cx="10515600" cy="1097280"/>
          </a:xfrm>
          <a:prstGeom prst="rect">
            <a:avLst/>
          </a:prstGeom>
          <a:noFill/>
        </p:spPr>
        <p:txBody>
          <a:bodyPr wrap="square" lIns="0" tIns="0" rIns="0" bIns="0" anchor="t"/>
          <a:lstStyle/>
          <a:p>
            <a:pPr marL="0" indent="0">
              <a:buNone/>
            </a:pPr>
            <a:r>
              <a:rPr sz="3800" b="1">
                <a:solidFill>
                  <a:srgbClr val="FFFFFF"/>
                </a:solidFill>
                <a:latin typeface="Cambria"/>
                <a:ea typeface="Cambria"/>
                <a:cs typeface="Cambria"/>
              </a:rPr>
              <a:t>Covariates in experiments</a:t>
            </a:r>
            <a:endParaRPr sz="3800"/>
          </a:p>
        </p:txBody>
      </p:sp>
      <p:sp>
        <p:nvSpPr>
          <p:cNvPr id="4" name="Text 2">
            <a:extLst>
              <a:ext uri="{FF2B5EF4-FFF2-40B4-BE49-F238E27FC236}">
                <a16:creationId xmlns:a16="http://schemas.microsoft.com/office/drawing/2014/main" id="{B70F87A2-E4B2-4463-BECA-8F4B2F1545FF}"/>
              </a:ext>
            </a:extLst>
          </p:cNvPr>
          <p:cNvSpPr>
            <a:spLocks noGrp="1"/>
          </p:cNvSpPr>
          <p:nvPr/>
        </p:nvSpPr>
        <p:spPr>
          <a:xfrm>
            <a:off x="731520" y="4023360"/>
            <a:ext cx="10058400" cy="731520"/>
          </a:xfrm>
          <a:prstGeom prst="rect">
            <a:avLst/>
          </a:prstGeom>
          <a:noFill/>
        </p:spPr>
        <p:txBody>
          <a:bodyPr wrap="square" lIns="0" tIns="0" rIns="0" bIns="0" anchor="t"/>
          <a:lstStyle/>
          <a:p>
            <a:pPr marL="0" indent="0">
              <a:buNone/>
            </a:pPr>
            <a:r>
              <a:rPr sz="1800" i="1">
                <a:solidFill>
                  <a:srgbClr val="BFD7EA"/>
                </a:solidFill>
                <a:latin typeface="Calibri"/>
                <a:ea typeface="Calibri"/>
                <a:cs typeface="Calibri"/>
              </a:rPr>
              <a:t>If randomization handles confounding, why control for anything?</a:t>
            </a:r>
            <a:endParaRPr sz="1800"/>
          </a:p>
        </p:txBody>
      </p:sp>
    </p:spTree>
    <p:extLst>
      <p:ext uri="{BB962C8B-B14F-4D97-AF65-F5344CB8AC3E}">
        <p14:creationId xmlns:p14="http://schemas.microsoft.com/office/powerpoint/2010/main" val="909750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9380177-6596-439C-88D0-85C48C0D6EE8}"/>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NEIGHBORS EFFECT ON TURNOUT, WITH AND WITHOUT COVARIATES</a:t>
            </a:r>
            <a:endParaRPr sz="1200"/>
          </a:p>
        </p:txBody>
      </p:sp>
      <p:sp>
        <p:nvSpPr>
          <p:cNvPr id="3" name="Text 1">
            <a:extLst>
              <a:ext uri="{FF2B5EF4-FFF2-40B4-BE49-F238E27FC236}">
                <a16:creationId xmlns:a16="http://schemas.microsoft.com/office/drawing/2014/main" id="{16FD71DB-A788-4C0C-85D3-F1FEDED156FE}"/>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Covariate adjustment can improve precision</a:t>
            </a:r>
            <a:endParaRPr sz="3000"/>
          </a:p>
        </p:txBody>
      </p:sp>
      <p:sp>
        <p:nvSpPr>
          <p:cNvPr id="4" name="Text 2">
            <a:extLst>
              <a:ext uri="{FF2B5EF4-FFF2-40B4-BE49-F238E27FC236}">
                <a16:creationId xmlns:a16="http://schemas.microsoft.com/office/drawing/2014/main" id="{8303F577-A467-41CB-97AB-7D95678D90D8}"/>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27</a:t>
            </a:r>
            <a:endParaRPr sz="1000"/>
          </a:p>
        </p:txBody>
      </p:sp>
      <p:graphicFrame>
        <p:nvGraphicFramePr>
          <p:cNvPr id="13" name="Table 0"/>
          <p:cNvGraphicFramePr/>
          <p:nvPr/>
        </p:nvGraphicFramePr>
        <p:xfrm>
          <a:off x="548640" y="1554480"/>
          <a:ext cx="65836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548640">
                <a:tc>
                  <a:txBody>
                    <a:bodyPr/>
                    <a:lstStyle/>
                    <a:p>
                      <a:pPr marL="0" indent="0">
                        <a:buNone/>
                      </a:pP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No covariates</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With covariates</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extLst>
                  <a:ext uri="{0D108BD9-81ED-4DB2-BD59-A6C34878D82A}">
                    <a16:rowId xmlns:a16="http://schemas.microsoft.com/office/drawing/2014/main" val="10000"/>
                  </a:ext>
                </a:extLst>
              </a:tr>
              <a:tr h="548640">
                <a:tc>
                  <a:txBody>
                    <a:bodyPr/>
                    <a:lstStyle/>
                    <a:p>
                      <a:pPr marL="0" indent="0">
                        <a:buNone/>
                      </a:pPr>
                      <a:r>
                        <a:rPr sz="1400">
                          <a:solidFill>
                            <a:srgbClr val="1A1A2E"/>
                          </a:solidFill>
                          <a:latin typeface="Calibri"/>
                          <a:ea typeface="Calibri"/>
                          <a:cs typeface="Calibri"/>
                        </a:rPr>
                        <a:t>Neighbors vs. control</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0.0813</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0.0802</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sz="1400">
                          <a:solidFill>
                            <a:srgbClr val="1A1A2E"/>
                          </a:solidFill>
                          <a:latin typeface="Calibri"/>
                          <a:ea typeface="Calibri"/>
                          <a:cs typeface="Calibri"/>
                        </a:rPr>
                        <a:t>Standard error</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0.00259</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0.00254</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sz="1400">
                          <a:solidFill>
                            <a:srgbClr val="1A1A2E"/>
                          </a:solidFill>
                          <a:latin typeface="Calibri"/>
                          <a:ea typeface="Calibri"/>
                          <a:cs typeface="Calibri"/>
                        </a:rPr>
                        <a:t>Covariates</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female, age, 2004 turnout, household size</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Shape 3">
            <a:extLst>
              <a:ext uri="{FF2B5EF4-FFF2-40B4-BE49-F238E27FC236}">
                <a16:creationId xmlns:a16="http://schemas.microsoft.com/office/drawing/2014/main" id="{7CC5D423-715A-4C5C-936E-010DF3804EDD}"/>
              </a:ext>
            </a:extLst>
          </p:cNvPr>
          <p:cNvSpPr>
            <a:spLocks noGrp="1"/>
          </p:cNvSpPr>
          <p:nvPr/>
        </p:nvSpPr>
        <p:spPr>
          <a:xfrm>
            <a:off x="7498080" y="1554480"/>
            <a:ext cx="4114800" cy="3931920"/>
          </a:xfrm>
          <a:prstGeom prst="roundRect">
            <a:avLst>
              <a:gd name="adj" fmla="val 2326"/>
            </a:avLst>
          </a:prstGeom>
          <a:solidFill>
            <a:srgbClr val="EEF3F8"/>
          </a:solidFill>
          <a:ln w="12700">
            <a:solidFill>
              <a:srgbClr val="EEF3F8"/>
            </a:solidFill>
            <a:prstDash val="solid"/>
          </a:ln>
        </p:spPr>
        <p:txBody>
          <a:bodyPr/>
          <a:lstStyle/>
          <a:p>
            <a:endParaRPr lang="en-US"/>
          </a:p>
        </p:txBody>
      </p:sp>
      <p:sp>
        <p:nvSpPr>
          <p:cNvPr id="7" name="Text 4">
            <a:extLst>
              <a:ext uri="{FF2B5EF4-FFF2-40B4-BE49-F238E27FC236}">
                <a16:creationId xmlns:a16="http://schemas.microsoft.com/office/drawing/2014/main" id="{2360DCD5-7B72-4078-BC5D-4E5980AB6370}"/>
              </a:ext>
            </a:extLst>
          </p:cNvPr>
          <p:cNvSpPr>
            <a:spLocks noGrp="1"/>
          </p:cNvSpPr>
          <p:nvPr/>
        </p:nvSpPr>
        <p:spPr>
          <a:xfrm>
            <a:off x="7772400" y="1737360"/>
            <a:ext cx="3566160" cy="3566160"/>
          </a:xfrm>
          <a:prstGeom prst="rect">
            <a:avLst/>
          </a:prstGeom>
          <a:noFill/>
        </p:spPr>
        <p:txBody>
          <a:bodyPr wrap="square" lIns="0" tIns="0" rIns="0" bIns="0" anchor="t"/>
          <a:lstStyle/>
          <a:p>
            <a:pPr marL="0" indent="0">
              <a:buNone/>
            </a:pPr>
            <a:r>
              <a:rPr sz="1600" b="1">
                <a:solidFill>
                  <a:srgbClr val="00274D"/>
                </a:solidFill>
                <a:latin typeface="Calibri"/>
                <a:ea typeface="Calibri"/>
                <a:cs typeface="Calibri"/>
              </a:rPr>
              <a:t>Estimate barely moves. </a:t>
            </a:r>
            <a:r>
              <a:rPr sz="1600">
                <a:solidFill>
                  <a:srgbClr val="1A1A2E"/>
                </a:solidFill>
                <a:latin typeface="Calibri"/>
                <a:ea typeface="Calibri"/>
                <a:cs typeface="Calibri"/>
              </a:rPr>
              <a:t>The observed baseline differences are small, so adjustment changes this estimate little.</a:t>
            </a:r>
            <a:endParaRPr sz="1600"/>
          </a:p>
          <a:p>
            <a:pPr marL="0" indent="0">
              <a:buNone/>
            </a:pPr>
            <a:r>
              <a:rPr sz="800">
                <a:solidFill>
                  <a:srgbClr val="1A1A2E"/>
                </a:solidFill>
                <a:latin typeface="Calibri"/>
                <a:ea typeface="Calibri"/>
                <a:cs typeface="Calibri"/>
              </a:rPr>
              <a:t> </a:t>
            </a:r>
            <a:endParaRPr sz="1600"/>
          </a:p>
          <a:p>
            <a:pPr marL="0" indent="0">
              <a:buNone/>
            </a:pPr>
            <a:r>
              <a:rPr sz="1600" b="1">
                <a:solidFill>
                  <a:srgbClr val="1E7A46"/>
                </a:solidFill>
                <a:latin typeface="Calibri"/>
                <a:ea typeface="Calibri"/>
                <a:cs typeface="Calibri"/>
              </a:rPr>
              <a:t>SE shrinks a little. </a:t>
            </a:r>
            <a:r>
              <a:rPr sz="1600">
                <a:solidFill>
                  <a:srgbClr val="1A1A2E"/>
                </a:solidFill>
                <a:latin typeface="Calibri"/>
                <a:ea typeface="Calibri"/>
                <a:cs typeface="Calibri"/>
              </a:rPr>
              <a:t>Covariates that predict the outcome soak up residual variance.</a:t>
            </a:r>
            <a:endParaRPr sz="1600"/>
          </a:p>
          <a:p>
            <a:pPr marL="0" indent="0">
              <a:buNone/>
            </a:pPr>
            <a:r>
              <a:rPr sz="800">
                <a:solidFill>
                  <a:srgbClr val="1A1A2E"/>
                </a:solidFill>
                <a:latin typeface="Calibri"/>
                <a:ea typeface="Calibri"/>
                <a:cs typeface="Calibri"/>
              </a:rPr>
              <a:t> </a:t>
            </a:r>
            <a:endParaRPr sz="1600"/>
          </a:p>
          <a:p>
            <a:pPr marL="0" indent="0">
              <a:buNone/>
            </a:pPr>
            <a:r>
              <a:rPr sz="1600">
                <a:solidFill>
                  <a:srgbClr val="1A1A2E"/>
                </a:solidFill>
                <a:latin typeface="Calibri"/>
                <a:ea typeface="Calibri"/>
                <a:cs typeface="Calibri"/>
              </a:rPr>
              <a:t>The small shift (−0.001) matches the small 2004 imbalance: 0.006 × 0.147 ≈ 0.001.</a:t>
            </a:r>
            <a:endParaRPr sz="1600"/>
          </a:p>
        </p:txBody>
      </p:sp>
      <p:sp>
        <p:nvSpPr>
          <p:cNvPr id="8" name="Text 5">
            <a:extLst>
              <a:ext uri="{FF2B5EF4-FFF2-40B4-BE49-F238E27FC236}">
                <a16:creationId xmlns:a16="http://schemas.microsoft.com/office/drawing/2014/main" id="{78B5EB3C-6716-4EFD-8CAE-12F051AF5F18}"/>
              </a:ext>
            </a:extLst>
          </p:cNvPr>
          <p:cNvSpPr>
            <a:spLocks noGrp="1"/>
          </p:cNvSpPr>
          <p:nvPr/>
        </p:nvSpPr>
        <p:spPr>
          <a:xfrm>
            <a:off x="548640" y="4114800"/>
            <a:ext cx="6583680" cy="1097280"/>
          </a:xfrm>
          <a:prstGeom prst="rect">
            <a:avLst/>
          </a:prstGeom>
          <a:noFill/>
        </p:spPr>
        <p:txBody>
          <a:bodyPr wrap="square" lIns="0" tIns="0" rIns="0" bIns="0" anchor="t"/>
          <a:lstStyle/>
          <a:p>
            <a:pPr marL="0" indent="0">
              <a:buNone/>
            </a:pPr>
            <a:r>
              <a:rPr sz="1600" i="1">
                <a:solidFill>
                  <a:srgbClr val="5B6178"/>
                </a:solidFill>
                <a:latin typeface="Calibri"/>
                <a:ea typeface="Calibri"/>
                <a:cs typeface="Calibri"/>
              </a:rPr>
              <a:t>Contrast Week 2: in observational data, adding a confounder can move the estimate a lot. A large shift calls for checking imbalance and model choices.</a:t>
            </a:r>
            <a:endParaRPr sz="1600"/>
          </a:p>
        </p:txBody>
      </p:sp>
    </p:spTree>
    <p:extLst>
      <p:ext uri="{BB962C8B-B14F-4D97-AF65-F5344CB8AC3E}">
        <p14:creationId xmlns:p14="http://schemas.microsoft.com/office/powerpoint/2010/main" val="2109212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E5280DE-EEE5-4176-B650-AE9F68FDE414}"/>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COVARIATES IN EXPERIMENTS</a:t>
            </a:r>
            <a:endParaRPr sz="1200"/>
          </a:p>
        </p:txBody>
      </p:sp>
      <p:sp>
        <p:nvSpPr>
          <p:cNvPr id="3" name="Text 1">
            <a:extLst>
              <a:ext uri="{FF2B5EF4-FFF2-40B4-BE49-F238E27FC236}">
                <a16:creationId xmlns:a16="http://schemas.microsoft.com/office/drawing/2014/main" id="{6A2C7203-9173-43E1-8C17-3C0E08E60355}"/>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Rules for covariates in RCTs</a:t>
            </a:r>
            <a:endParaRPr sz="3000"/>
          </a:p>
        </p:txBody>
      </p:sp>
      <p:sp>
        <p:nvSpPr>
          <p:cNvPr id="4" name="Text 2">
            <a:extLst>
              <a:ext uri="{FF2B5EF4-FFF2-40B4-BE49-F238E27FC236}">
                <a16:creationId xmlns:a16="http://schemas.microsoft.com/office/drawing/2014/main" id="{0815D12F-8B27-48CA-A9B6-45BBC0B6057B}"/>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28</a:t>
            </a:r>
            <a:endParaRPr sz="1000"/>
          </a:p>
        </p:txBody>
      </p:sp>
      <p:sp>
        <p:nvSpPr>
          <p:cNvPr id="5" name="Shape 3">
            <a:extLst>
              <a:ext uri="{FF2B5EF4-FFF2-40B4-BE49-F238E27FC236}">
                <a16:creationId xmlns:a16="http://schemas.microsoft.com/office/drawing/2014/main" id="{5AB7294D-F767-4E2D-872B-553543ED897D}"/>
              </a:ext>
            </a:extLst>
          </p:cNvPr>
          <p:cNvSpPr>
            <a:spLocks noGrp="1"/>
          </p:cNvSpPr>
          <p:nvPr/>
        </p:nvSpPr>
        <p:spPr>
          <a:xfrm>
            <a:off x="548640" y="1371600"/>
            <a:ext cx="5440680" cy="1965960"/>
          </a:xfrm>
          <a:prstGeom prst="roundRect">
            <a:avLst>
              <a:gd name="adj" fmla="val 4651"/>
            </a:avLst>
          </a:prstGeom>
          <a:solidFill>
            <a:srgbClr val="EEF3F8"/>
          </a:solidFill>
          <a:ln w="12700">
            <a:solidFill>
              <a:srgbClr val="EEF3F8"/>
            </a:solidFill>
            <a:prstDash val="solid"/>
          </a:ln>
        </p:spPr>
        <p:txBody>
          <a:bodyPr/>
          <a:lstStyle/>
          <a:p>
            <a:endParaRPr lang="en-US"/>
          </a:p>
        </p:txBody>
      </p:sp>
      <p:sp>
        <p:nvSpPr>
          <p:cNvPr id="6" name="Shape 4">
            <a:extLst>
              <a:ext uri="{FF2B5EF4-FFF2-40B4-BE49-F238E27FC236}">
                <a16:creationId xmlns:a16="http://schemas.microsoft.com/office/drawing/2014/main" id="{0D447659-2130-4633-B5DF-59E7ECE3D532}"/>
              </a:ext>
            </a:extLst>
          </p:cNvPr>
          <p:cNvSpPr>
            <a:spLocks noGrp="1"/>
          </p:cNvSpPr>
          <p:nvPr/>
        </p:nvSpPr>
        <p:spPr>
          <a:xfrm>
            <a:off x="822960" y="1645920"/>
            <a:ext cx="502920" cy="502920"/>
          </a:xfrm>
          <a:prstGeom prst="ellipse">
            <a:avLst/>
          </a:prstGeom>
          <a:solidFill>
            <a:srgbClr val="A13A2F"/>
          </a:solidFill>
          <a:ln w="12700">
            <a:solidFill>
              <a:srgbClr val="A13A2F"/>
            </a:solidFill>
            <a:prstDash val="solid"/>
          </a:ln>
        </p:spPr>
        <p:txBody>
          <a:bodyPr/>
          <a:lstStyle/>
          <a:p>
            <a:endParaRPr lang="en-US"/>
          </a:p>
        </p:txBody>
      </p:sp>
      <p:sp>
        <p:nvSpPr>
          <p:cNvPr id="7" name="Text 5">
            <a:extLst>
              <a:ext uri="{FF2B5EF4-FFF2-40B4-BE49-F238E27FC236}">
                <a16:creationId xmlns:a16="http://schemas.microsoft.com/office/drawing/2014/main" id="{8B87DC0C-F5DF-4CAA-81F9-22485EA7A4F6}"/>
              </a:ext>
            </a:extLst>
          </p:cNvPr>
          <p:cNvSpPr>
            <a:spLocks noGrp="1"/>
          </p:cNvSpPr>
          <p:nvPr/>
        </p:nvSpPr>
        <p:spPr>
          <a:xfrm>
            <a:off x="822960" y="164592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1</a:t>
            </a:r>
            <a:endParaRPr sz="1500"/>
          </a:p>
        </p:txBody>
      </p:sp>
      <p:sp>
        <p:nvSpPr>
          <p:cNvPr id="8" name="Text 6">
            <a:extLst>
              <a:ext uri="{FF2B5EF4-FFF2-40B4-BE49-F238E27FC236}">
                <a16:creationId xmlns:a16="http://schemas.microsoft.com/office/drawing/2014/main" id="{0EE87CA0-73E8-40AC-8478-6DC82F9D7E81}"/>
              </a:ext>
            </a:extLst>
          </p:cNvPr>
          <p:cNvSpPr>
            <a:spLocks noGrp="1"/>
          </p:cNvSpPr>
          <p:nvPr/>
        </p:nvSpPr>
        <p:spPr>
          <a:xfrm>
            <a:off x="1508760" y="162763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Pre-treatment only</a:t>
            </a:r>
            <a:endParaRPr sz="2000"/>
          </a:p>
        </p:txBody>
      </p:sp>
      <p:sp>
        <p:nvSpPr>
          <p:cNvPr id="9" name="Text 7">
            <a:extLst>
              <a:ext uri="{FF2B5EF4-FFF2-40B4-BE49-F238E27FC236}">
                <a16:creationId xmlns:a16="http://schemas.microsoft.com/office/drawing/2014/main" id="{B6366CD8-89F1-4FF8-8069-44EC741BDDBD}"/>
              </a:ext>
            </a:extLst>
          </p:cNvPr>
          <p:cNvSpPr>
            <a:spLocks noGrp="1"/>
          </p:cNvSpPr>
          <p:nvPr/>
        </p:nvSpPr>
        <p:spPr>
          <a:xfrm>
            <a:off x="1508760" y="2240280"/>
            <a:ext cx="4206240" cy="100584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Never control for anything the treatment could affect. Adjustment can block part of the effect or create collider bias.</a:t>
            </a:r>
            <a:endParaRPr sz="1500"/>
          </a:p>
        </p:txBody>
      </p:sp>
      <p:sp>
        <p:nvSpPr>
          <p:cNvPr id="10" name="Shape 8">
            <a:extLst>
              <a:ext uri="{FF2B5EF4-FFF2-40B4-BE49-F238E27FC236}">
                <a16:creationId xmlns:a16="http://schemas.microsoft.com/office/drawing/2014/main" id="{AC125D0A-FC43-4E72-A805-35B20E58A149}"/>
              </a:ext>
            </a:extLst>
          </p:cNvPr>
          <p:cNvSpPr>
            <a:spLocks noGrp="1"/>
          </p:cNvSpPr>
          <p:nvPr/>
        </p:nvSpPr>
        <p:spPr>
          <a:xfrm>
            <a:off x="6172200" y="1371600"/>
            <a:ext cx="5440680" cy="1965960"/>
          </a:xfrm>
          <a:prstGeom prst="roundRect">
            <a:avLst>
              <a:gd name="adj" fmla="val 4651"/>
            </a:avLst>
          </a:prstGeom>
          <a:solidFill>
            <a:srgbClr val="EEF3F8"/>
          </a:solidFill>
          <a:ln w="12700">
            <a:solidFill>
              <a:srgbClr val="EEF3F8"/>
            </a:solidFill>
            <a:prstDash val="solid"/>
          </a:ln>
        </p:spPr>
        <p:txBody>
          <a:bodyPr/>
          <a:lstStyle/>
          <a:p>
            <a:endParaRPr lang="en-US"/>
          </a:p>
        </p:txBody>
      </p:sp>
      <p:sp>
        <p:nvSpPr>
          <p:cNvPr id="11" name="Shape 9">
            <a:extLst>
              <a:ext uri="{FF2B5EF4-FFF2-40B4-BE49-F238E27FC236}">
                <a16:creationId xmlns:a16="http://schemas.microsoft.com/office/drawing/2014/main" id="{DC06E139-E5E7-4872-B947-77417F58C7BE}"/>
              </a:ext>
            </a:extLst>
          </p:cNvPr>
          <p:cNvSpPr>
            <a:spLocks noGrp="1"/>
          </p:cNvSpPr>
          <p:nvPr/>
        </p:nvSpPr>
        <p:spPr>
          <a:xfrm>
            <a:off x="6446520" y="1645920"/>
            <a:ext cx="502920" cy="502920"/>
          </a:xfrm>
          <a:prstGeom prst="ellipse">
            <a:avLst/>
          </a:prstGeom>
          <a:solidFill>
            <a:srgbClr val="00274D"/>
          </a:solidFill>
          <a:ln w="12700">
            <a:solidFill>
              <a:srgbClr val="00274D"/>
            </a:solidFill>
            <a:prstDash val="solid"/>
          </a:ln>
        </p:spPr>
        <p:txBody>
          <a:bodyPr/>
          <a:lstStyle/>
          <a:p>
            <a:endParaRPr lang="en-US"/>
          </a:p>
        </p:txBody>
      </p:sp>
      <p:sp>
        <p:nvSpPr>
          <p:cNvPr id="12" name="Text 10">
            <a:extLst>
              <a:ext uri="{FF2B5EF4-FFF2-40B4-BE49-F238E27FC236}">
                <a16:creationId xmlns:a16="http://schemas.microsoft.com/office/drawing/2014/main" id="{053A97AC-2E0E-46E2-AF3C-3B734C2CC523}"/>
              </a:ext>
            </a:extLst>
          </p:cNvPr>
          <p:cNvSpPr>
            <a:spLocks noGrp="1"/>
          </p:cNvSpPr>
          <p:nvPr/>
        </p:nvSpPr>
        <p:spPr>
          <a:xfrm>
            <a:off x="6446520" y="164592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2</a:t>
            </a:r>
            <a:endParaRPr sz="1500"/>
          </a:p>
        </p:txBody>
      </p:sp>
      <p:sp>
        <p:nvSpPr>
          <p:cNvPr id="13" name="Text 11">
            <a:extLst>
              <a:ext uri="{FF2B5EF4-FFF2-40B4-BE49-F238E27FC236}">
                <a16:creationId xmlns:a16="http://schemas.microsoft.com/office/drawing/2014/main" id="{5E4A54BE-7A6E-4A33-97AC-5D29BB99851B}"/>
              </a:ext>
            </a:extLst>
          </p:cNvPr>
          <p:cNvSpPr>
            <a:spLocks noGrp="1"/>
          </p:cNvSpPr>
          <p:nvPr/>
        </p:nvSpPr>
        <p:spPr>
          <a:xfrm>
            <a:off x="7132320" y="162763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Pre-specify</a:t>
            </a:r>
            <a:endParaRPr sz="2000"/>
          </a:p>
        </p:txBody>
      </p:sp>
      <p:sp>
        <p:nvSpPr>
          <p:cNvPr id="14" name="Text 12">
            <a:extLst>
              <a:ext uri="{FF2B5EF4-FFF2-40B4-BE49-F238E27FC236}">
                <a16:creationId xmlns:a16="http://schemas.microsoft.com/office/drawing/2014/main" id="{04C969D3-4DB5-4EED-8D80-DCEC5E7661C3}"/>
              </a:ext>
            </a:extLst>
          </p:cNvPr>
          <p:cNvSpPr>
            <a:spLocks noGrp="1"/>
          </p:cNvSpPr>
          <p:nvPr/>
        </p:nvSpPr>
        <p:spPr>
          <a:xfrm>
            <a:off x="7132320" y="2240280"/>
            <a:ext cx="4206240" cy="100584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Choose covariates before seeing outcomes, ideally in a pre-analysis plan, so you cannot shop for significance.</a:t>
            </a:r>
            <a:endParaRPr sz="1500"/>
          </a:p>
        </p:txBody>
      </p:sp>
      <p:sp>
        <p:nvSpPr>
          <p:cNvPr id="15" name="Shape 13">
            <a:extLst>
              <a:ext uri="{FF2B5EF4-FFF2-40B4-BE49-F238E27FC236}">
                <a16:creationId xmlns:a16="http://schemas.microsoft.com/office/drawing/2014/main" id="{474CE985-2F12-4304-A26F-E988ABFFDBA7}"/>
              </a:ext>
            </a:extLst>
          </p:cNvPr>
          <p:cNvSpPr>
            <a:spLocks noGrp="1"/>
          </p:cNvSpPr>
          <p:nvPr/>
        </p:nvSpPr>
        <p:spPr>
          <a:xfrm>
            <a:off x="548640" y="3520440"/>
            <a:ext cx="5440680" cy="1965960"/>
          </a:xfrm>
          <a:prstGeom prst="roundRect">
            <a:avLst>
              <a:gd name="adj" fmla="val 4651"/>
            </a:avLst>
          </a:prstGeom>
          <a:solidFill>
            <a:srgbClr val="EEF3F8"/>
          </a:solidFill>
          <a:ln w="12700">
            <a:solidFill>
              <a:srgbClr val="EEF3F8"/>
            </a:solidFill>
            <a:prstDash val="solid"/>
          </a:ln>
        </p:spPr>
        <p:txBody>
          <a:bodyPr/>
          <a:lstStyle/>
          <a:p>
            <a:endParaRPr lang="en-US"/>
          </a:p>
        </p:txBody>
      </p:sp>
      <p:sp>
        <p:nvSpPr>
          <p:cNvPr id="16" name="Shape 14">
            <a:extLst>
              <a:ext uri="{FF2B5EF4-FFF2-40B4-BE49-F238E27FC236}">
                <a16:creationId xmlns:a16="http://schemas.microsoft.com/office/drawing/2014/main" id="{7309DBC4-D22A-46F4-B5FF-7C8DE0ADD5BD}"/>
              </a:ext>
            </a:extLst>
          </p:cNvPr>
          <p:cNvSpPr>
            <a:spLocks noGrp="1"/>
          </p:cNvSpPr>
          <p:nvPr/>
        </p:nvSpPr>
        <p:spPr>
          <a:xfrm>
            <a:off x="822960" y="3794760"/>
            <a:ext cx="502920" cy="502920"/>
          </a:xfrm>
          <a:prstGeom prst="ellipse">
            <a:avLst/>
          </a:prstGeom>
          <a:solidFill>
            <a:srgbClr val="1B4F8C"/>
          </a:solidFill>
          <a:ln w="12700">
            <a:solidFill>
              <a:srgbClr val="1B4F8C"/>
            </a:solidFill>
            <a:prstDash val="solid"/>
          </a:ln>
        </p:spPr>
        <p:txBody>
          <a:bodyPr/>
          <a:lstStyle/>
          <a:p>
            <a:endParaRPr lang="en-US"/>
          </a:p>
        </p:txBody>
      </p:sp>
      <p:sp>
        <p:nvSpPr>
          <p:cNvPr id="17" name="Text 15">
            <a:extLst>
              <a:ext uri="{FF2B5EF4-FFF2-40B4-BE49-F238E27FC236}">
                <a16:creationId xmlns:a16="http://schemas.microsoft.com/office/drawing/2014/main" id="{18169B91-77BD-42E7-B37E-2760E62978F2}"/>
              </a:ext>
            </a:extLst>
          </p:cNvPr>
          <p:cNvSpPr>
            <a:spLocks noGrp="1"/>
          </p:cNvSpPr>
          <p:nvPr/>
        </p:nvSpPr>
        <p:spPr>
          <a:xfrm>
            <a:off x="822960" y="37947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3</a:t>
            </a:r>
            <a:endParaRPr sz="1500"/>
          </a:p>
        </p:txBody>
      </p:sp>
      <p:sp>
        <p:nvSpPr>
          <p:cNvPr id="18" name="Text 16">
            <a:extLst>
              <a:ext uri="{FF2B5EF4-FFF2-40B4-BE49-F238E27FC236}">
                <a16:creationId xmlns:a16="http://schemas.microsoft.com/office/drawing/2014/main" id="{0655A7EF-55F0-40AC-B543-383F1D567E98}"/>
              </a:ext>
            </a:extLst>
          </p:cNvPr>
          <p:cNvSpPr>
            <a:spLocks noGrp="1"/>
          </p:cNvSpPr>
          <p:nvPr/>
        </p:nvSpPr>
        <p:spPr>
          <a:xfrm>
            <a:off x="1508760" y="377647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Choose predictors of Y</a:t>
            </a:r>
            <a:endParaRPr sz="2000"/>
          </a:p>
        </p:txBody>
      </p:sp>
      <p:sp>
        <p:nvSpPr>
          <p:cNvPr id="19" name="Text 17">
            <a:extLst>
              <a:ext uri="{FF2B5EF4-FFF2-40B4-BE49-F238E27FC236}">
                <a16:creationId xmlns:a16="http://schemas.microsoft.com/office/drawing/2014/main" id="{A858E19E-25F9-423C-AA6D-93769C1341B7}"/>
              </a:ext>
            </a:extLst>
          </p:cNvPr>
          <p:cNvSpPr>
            <a:spLocks noGrp="1"/>
          </p:cNvSpPr>
          <p:nvPr/>
        </p:nvSpPr>
        <p:spPr>
          <a:xfrm>
            <a:off x="1508760" y="4389120"/>
            <a:ext cx="4206240" cy="100584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Covariates help to the extent they predict the outcome. Prior turnout helps a lot; household size, almost nothing.</a:t>
            </a:r>
            <a:endParaRPr sz="1500"/>
          </a:p>
        </p:txBody>
      </p:sp>
      <p:sp>
        <p:nvSpPr>
          <p:cNvPr id="20" name="Shape 18">
            <a:extLst>
              <a:ext uri="{FF2B5EF4-FFF2-40B4-BE49-F238E27FC236}">
                <a16:creationId xmlns:a16="http://schemas.microsoft.com/office/drawing/2014/main" id="{57594EAF-DE31-48F8-B832-BEC3CC6FBB7D}"/>
              </a:ext>
            </a:extLst>
          </p:cNvPr>
          <p:cNvSpPr>
            <a:spLocks noGrp="1"/>
          </p:cNvSpPr>
          <p:nvPr/>
        </p:nvSpPr>
        <p:spPr>
          <a:xfrm>
            <a:off x="6172200" y="3520440"/>
            <a:ext cx="5440680" cy="1965960"/>
          </a:xfrm>
          <a:prstGeom prst="roundRect">
            <a:avLst>
              <a:gd name="adj" fmla="val 4651"/>
            </a:avLst>
          </a:prstGeom>
          <a:solidFill>
            <a:srgbClr val="EEF3F8"/>
          </a:solidFill>
          <a:ln w="12700">
            <a:solidFill>
              <a:srgbClr val="EEF3F8"/>
            </a:solidFill>
            <a:prstDash val="solid"/>
          </a:ln>
        </p:spPr>
        <p:txBody>
          <a:bodyPr/>
          <a:lstStyle/>
          <a:p>
            <a:endParaRPr lang="en-US"/>
          </a:p>
        </p:txBody>
      </p:sp>
      <p:sp>
        <p:nvSpPr>
          <p:cNvPr id="21" name="Shape 19">
            <a:extLst>
              <a:ext uri="{FF2B5EF4-FFF2-40B4-BE49-F238E27FC236}">
                <a16:creationId xmlns:a16="http://schemas.microsoft.com/office/drawing/2014/main" id="{8AB79F03-FE05-4805-A48A-58589EC4AD82}"/>
              </a:ext>
            </a:extLst>
          </p:cNvPr>
          <p:cNvSpPr>
            <a:spLocks noGrp="1"/>
          </p:cNvSpPr>
          <p:nvPr/>
        </p:nvSpPr>
        <p:spPr>
          <a:xfrm>
            <a:off x="6446520" y="3794760"/>
            <a:ext cx="502920" cy="502920"/>
          </a:xfrm>
          <a:prstGeom prst="ellipse">
            <a:avLst/>
          </a:prstGeom>
          <a:solidFill>
            <a:srgbClr val="1E7A46"/>
          </a:solidFill>
          <a:ln w="12700">
            <a:solidFill>
              <a:srgbClr val="1E7A46"/>
            </a:solidFill>
            <a:prstDash val="solid"/>
          </a:ln>
        </p:spPr>
        <p:txBody>
          <a:bodyPr/>
          <a:lstStyle/>
          <a:p>
            <a:endParaRPr lang="en-US"/>
          </a:p>
        </p:txBody>
      </p:sp>
      <p:sp>
        <p:nvSpPr>
          <p:cNvPr id="22" name="Text 20">
            <a:extLst>
              <a:ext uri="{FF2B5EF4-FFF2-40B4-BE49-F238E27FC236}">
                <a16:creationId xmlns:a16="http://schemas.microsoft.com/office/drawing/2014/main" id="{18F85B50-38C0-426A-92C9-F33C0024684C}"/>
              </a:ext>
            </a:extLst>
          </p:cNvPr>
          <p:cNvSpPr>
            <a:spLocks noGrp="1"/>
          </p:cNvSpPr>
          <p:nvPr/>
        </p:nvSpPr>
        <p:spPr>
          <a:xfrm>
            <a:off x="6446520" y="37947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4</a:t>
            </a:r>
            <a:endParaRPr sz="1500"/>
          </a:p>
        </p:txBody>
      </p:sp>
      <p:sp>
        <p:nvSpPr>
          <p:cNvPr id="23" name="Text 21">
            <a:extLst>
              <a:ext uri="{FF2B5EF4-FFF2-40B4-BE49-F238E27FC236}">
                <a16:creationId xmlns:a16="http://schemas.microsoft.com/office/drawing/2014/main" id="{9556BA29-90A8-4206-BD82-9352CA5E3C82}"/>
              </a:ext>
            </a:extLst>
          </p:cNvPr>
          <p:cNvSpPr>
            <a:spLocks noGrp="1"/>
          </p:cNvSpPr>
          <p:nvPr/>
        </p:nvSpPr>
        <p:spPr>
          <a:xfrm>
            <a:off x="7132320" y="377647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Consider interactions</a:t>
            </a:r>
            <a:endParaRPr sz="2000"/>
          </a:p>
        </p:txBody>
      </p:sp>
      <p:sp>
        <p:nvSpPr>
          <p:cNvPr id="24" name="Text 22">
            <a:extLst>
              <a:ext uri="{FF2B5EF4-FFF2-40B4-BE49-F238E27FC236}">
                <a16:creationId xmlns:a16="http://schemas.microsoft.com/office/drawing/2014/main" id="{838125DB-BE71-4A2C-BB6F-DC259BDC4423}"/>
              </a:ext>
            </a:extLst>
          </p:cNvPr>
          <p:cNvSpPr>
            <a:spLocks noGrp="1"/>
          </p:cNvSpPr>
          <p:nvPr/>
        </p:nvSpPr>
        <p:spPr>
          <a:xfrm>
            <a:off x="7132320" y="4389120"/>
            <a:ext cx="4206240" cy="100584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With unequal arm sizes and heterogeneous effects, interacting treatment with centered covariates is safer (Lin 2013, responding to Freedman 2008).</a:t>
            </a:r>
            <a:endParaRPr sz="1500"/>
          </a:p>
        </p:txBody>
      </p:sp>
    </p:spTree>
    <p:extLst>
      <p:ext uri="{BB962C8B-B14F-4D97-AF65-F5344CB8AC3E}">
        <p14:creationId xmlns:p14="http://schemas.microsoft.com/office/powerpoint/2010/main" val="807967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78E51A5-50F2-4C5E-9D06-B5B1A5B8B636}"/>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CHATTOPADHYAY &amp; DUFLO: RESERVATION AND NEW DRINKING-WATER PROJECTS</a:t>
            </a:r>
            <a:endParaRPr sz="1200"/>
          </a:p>
        </p:txBody>
      </p:sp>
      <p:sp>
        <p:nvSpPr>
          <p:cNvPr id="3" name="Text 1">
            <a:extLst>
              <a:ext uri="{FF2B5EF4-FFF2-40B4-BE49-F238E27FC236}">
                <a16:creationId xmlns:a16="http://schemas.microsoft.com/office/drawing/2014/main" id="{ABE1A85B-77BA-453C-A374-6DC6D12CD6DF}"/>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Same estimate, different uncertainty assumptions</a:t>
            </a:r>
            <a:endParaRPr sz="3000"/>
          </a:p>
        </p:txBody>
      </p:sp>
      <p:sp>
        <p:nvSpPr>
          <p:cNvPr id="4" name="Text 2">
            <a:extLst>
              <a:ext uri="{FF2B5EF4-FFF2-40B4-BE49-F238E27FC236}">
                <a16:creationId xmlns:a16="http://schemas.microsoft.com/office/drawing/2014/main" id="{5AA6738E-ECDA-4B7E-B552-70FAE9D96AA8}"/>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29</a:t>
            </a:r>
            <a:endParaRPr sz="1000"/>
          </a:p>
        </p:txBody>
      </p:sp>
      <p:graphicFrame>
        <p:nvGraphicFramePr>
          <p:cNvPr id="13" name="Table 0"/>
          <p:cNvGraphicFramePr/>
          <p:nvPr/>
        </p:nvGraphicFramePr>
        <p:xfrm>
          <a:off x="548640" y="1554480"/>
          <a:ext cx="694944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548640">
                <a:tc>
                  <a:txBody>
                    <a:bodyPr/>
                    <a:lstStyle/>
                    <a:p>
                      <a:pPr marL="0" indent="0">
                        <a:buNone/>
                      </a:pPr>
                      <a:r>
                        <a:rPr sz="1400" b="1">
                          <a:solidFill>
                            <a:srgbClr val="FFFFFF"/>
                          </a:solidFill>
                          <a:latin typeface="Calibri"/>
                          <a:ea typeface="Calibri"/>
                          <a:cs typeface="Calibri"/>
                        </a:rPr>
                        <a:t>Method</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Estimate</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SE / test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tc>
                  <a:txBody>
                    <a:bodyPr/>
                    <a:lstStyle/>
                    <a:p>
                      <a:pPr marL="0" indent="0">
                        <a:buNone/>
                      </a:pPr>
                      <a:r>
                        <a:rPr sz="1400" b="1">
                          <a:solidFill>
                            <a:srgbClr val="FFFFFF"/>
                          </a:solidFill>
                          <a:latin typeface="Calibri"/>
                          <a:ea typeface="Calibri"/>
                          <a:cs typeface="Calibri"/>
                        </a:rPr>
                        <a:t>p-value</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00274D"/>
                    </a:solidFill>
                  </a:tcPr>
                </a:tc>
                <a:extLst>
                  <a:ext uri="{0D108BD9-81ED-4DB2-BD59-A6C34878D82A}">
                    <a16:rowId xmlns:a16="http://schemas.microsoft.com/office/drawing/2014/main" val="10000"/>
                  </a:ext>
                </a:extLst>
              </a:tr>
              <a:tr h="548640">
                <a:tc>
                  <a:txBody>
                    <a:bodyPr/>
                    <a:lstStyle/>
                    <a:p>
                      <a:pPr marL="0" indent="0">
                        <a:buNone/>
                      </a:pPr>
                      <a:r>
                        <a:rPr sz="1400">
                          <a:solidFill>
                            <a:srgbClr val="1A1A2E"/>
                          </a:solidFill>
                          <a:latin typeface="Calibri"/>
                          <a:ea typeface="Calibri"/>
                          <a:cs typeface="Calibri"/>
                        </a:rPr>
                        <a:t>Difference in means</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9.25</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sz="1400">
                          <a:solidFill>
                            <a:srgbClr val="1A1A2E"/>
                          </a:solidFill>
                          <a:latin typeface="Calibri"/>
                          <a:ea typeface="Calibri"/>
                          <a:cs typeface="Calibri"/>
                        </a:rPr>
                        <a:t>t.test() (Welch, default)</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9.25</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t = 1.81</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0.072</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sz="1400">
                          <a:solidFill>
                            <a:srgbClr val="1A1A2E"/>
                          </a:solidFill>
                          <a:latin typeface="Calibri"/>
                          <a:ea typeface="Calibri"/>
                          <a:cs typeface="Calibri"/>
                        </a:rPr>
                        <a:t>t.test(var.equal = TRUE)</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9.25</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t = 2.34</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0.020</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sz="1400">
                          <a:solidFill>
                            <a:srgbClr val="1A1A2E"/>
                          </a:solidFill>
                          <a:latin typeface="Calibri"/>
                          <a:ea typeface="Calibri"/>
                          <a:cs typeface="Calibri"/>
                        </a:rPr>
                        <a:t>lm(water ~ reserved)</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9.25</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SE = 3.95</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tc>
                  <a:txBody>
                    <a:bodyPr/>
                    <a:lstStyle/>
                    <a:p>
                      <a:pPr marL="0" indent="0">
                        <a:buNone/>
                      </a:pPr>
                      <a:r>
                        <a:rPr sz="1400">
                          <a:solidFill>
                            <a:srgbClr val="1A1A2E"/>
                          </a:solidFill>
                          <a:latin typeface="Calibri"/>
                          <a:ea typeface="Calibri"/>
                          <a:cs typeface="Calibri"/>
                        </a:rPr>
                        <a:t>0.020</a:t>
                      </a:r>
                      <a:endParaRPr sz="1400">
                        <a:latin typeface="Calibri"/>
                        <a:ea typeface="Calibri"/>
                        <a:cs typeface="Calibri"/>
                      </a:endParaRPr>
                    </a:p>
                  </a:txBody>
                  <a:tcPr marT="91440" marB="91440" anchor="ctr">
                    <a:lnL w="12700" cmpd="sng">
                      <a:solidFill>
                        <a:srgbClr val="D5DCE4"/>
                      </a:solidFill>
                      <a:prstDash val="solid"/>
                    </a:lnL>
                    <a:lnR w="12700" cmpd="sng">
                      <a:solidFill>
                        <a:srgbClr val="D5DCE4"/>
                      </a:solidFill>
                      <a:prstDash val="solid"/>
                    </a:lnR>
                    <a:lnT w="12700" cmpd="sng">
                      <a:solidFill>
                        <a:srgbClr val="D5DCE4"/>
                      </a:solidFill>
                      <a:prstDash val="solid"/>
                    </a:lnT>
                    <a:lnB w="12700" cmpd="sng">
                      <a:solidFill>
                        <a:srgbClr val="D5DCE4"/>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Shape 3">
            <a:extLst>
              <a:ext uri="{FF2B5EF4-FFF2-40B4-BE49-F238E27FC236}">
                <a16:creationId xmlns:a16="http://schemas.microsoft.com/office/drawing/2014/main" id="{46EEFA66-5D6E-4174-831A-E664A38FD69B}"/>
              </a:ext>
            </a:extLst>
          </p:cNvPr>
          <p:cNvSpPr>
            <a:spLocks noGrp="1"/>
          </p:cNvSpPr>
          <p:nvPr/>
        </p:nvSpPr>
        <p:spPr>
          <a:xfrm>
            <a:off x="7863840" y="1554480"/>
            <a:ext cx="3749040" cy="3931920"/>
          </a:xfrm>
          <a:prstGeom prst="roundRect">
            <a:avLst>
              <a:gd name="adj" fmla="val 2439"/>
            </a:avLst>
          </a:prstGeom>
          <a:solidFill>
            <a:srgbClr val="EEF3F8"/>
          </a:solidFill>
          <a:ln w="12700">
            <a:solidFill>
              <a:srgbClr val="EEF3F8"/>
            </a:solidFill>
            <a:prstDash val="solid"/>
          </a:ln>
        </p:spPr>
        <p:txBody>
          <a:bodyPr/>
          <a:lstStyle/>
          <a:p>
            <a:endParaRPr lang="en-US"/>
          </a:p>
        </p:txBody>
      </p:sp>
      <p:sp>
        <p:nvSpPr>
          <p:cNvPr id="7" name="Text 4">
            <a:extLst>
              <a:ext uri="{FF2B5EF4-FFF2-40B4-BE49-F238E27FC236}">
                <a16:creationId xmlns:a16="http://schemas.microsoft.com/office/drawing/2014/main" id="{B178F11C-A264-4E4A-89A8-9057AC978BF2}"/>
              </a:ext>
            </a:extLst>
          </p:cNvPr>
          <p:cNvSpPr>
            <a:spLocks noGrp="1"/>
          </p:cNvSpPr>
          <p:nvPr/>
        </p:nvSpPr>
        <p:spPr>
          <a:xfrm>
            <a:off x="8138160" y="1737360"/>
            <a:ext cx="3200400" cy="3566160"/>
          </a:xfrm>
          <a:prstGeom prst="rect">
            <a:avLst/>
          </a:prstGeom>
          <a:noFill/>
        </p:spPr>
        <p:txBody>
          <a:bodyPr wrap="square" lIns="0" tIns="0" rIns="0" bIns="0" anchor="t"/>
          <a:lstStyle/>
          <a:p>
            <a:pPr marL="0" indent="0">
              <a:buNone/>
            </a:pPr>
            <a:r>
              <a:rPr sz="1600" b="1">
                <a:solidFill>
                  <a:srgbClr val="1E7A46"/>
                </a:solidFill>
                <a:latin typeface="Calibri"/>
                <a:ea typeface="Calibri"/>
                <a:cs typeface="Calibri"/>
              </a:rPr>
              <a:t>Same estimate, always. </a:t>
            </a:r>
            <a:r>
              <a:rPr sz="1600">
                <a:solidFill>
                  <a:srgbClr val="1A1A2E"/>
                </a:solidFill>
                <a:latin typeface="Calibri"/>
                <a:ea typeface="Calibri"/>
                <a:cs typeface="Calibri"/>
              </a:rPr>
              <a:t>With a binary treatment, the regression coefficient is the difference in means.</a:t>
            </a:r>
            <a:endParaRPr sz="1600"/>
          </a:p>
          <a:p>
            <a:pPr marL="0" indent="0">
              <a:buNone/>
            </a:pPr>
            <a:r>
              <a:rPr sz="800">
                <a:solidFill>
                  <a:srgbClr val="1A1A2E"/>
                </a:solidFill>
                <a:latin typeface="Calibri"/>
                <a:ea typeface="Calibri"/>
                <a:cs typeface="Calibri"/>
              </a:rPr>
              <a:t> </a:t>
            </a:r>
            <a:endParaRPr sz="1600"/>
          </a:p>
          <a:p>
            <a:pPr marL="0" indent="0">
              <a:buNone/>
            </a:pPr>
            <a:r>
              <a:rPr sz="1600" b="1">
                <a:solidFill>
                  <a:srgbClr val="A13A2F"/>
                </a:solidFill>
                <a:latin typeface="Calibri"/>
                <a:ea typeface="Calibri"/>
                <a:cs typeface="Calibri"/>
              </a:rPr>
              <a:t>These p-values ignore council clustering. </a:t>
            </a:r>
            <a:r>
              <a:rPr sz="1600">
                <a:solidFill>
                  <a:srgbClr val="1A1A2E"/>
                </a:solidFill>
                <a:latin typeface="Calibri"/>
                <a:ea typeface="Calibri"/>
                <a:cs typeface="Calibri"/>
              </a:rPr>
              <a:t>Welch allows unequal variances. Default lm() SEs assume equal variances. Both treat villages as independent. Use council-level inference.</a:t>
            </a:r>
            <a:endParaRPr sz="1600"/>
          </a:p>
        </p:txBody>
      </p:sp>
      <p:sp>
        <p:nvSpPr>
          <p:cNvPr id="8" name="Text 5">
            <a:extLst>
              <a:ext uri="{FF2B5EF4-FFF2-40B4-BE49-F238E27FC236}">
                <a16:creationId xmlns:a16="http://schemas.microsoft.com/office/drawing/2014/main" id="{1C5E4324-D25F-4E65-A84A-1719907766CE}"/>
              </a:ext>
            </a:extLst>
          </p:cNvPr>
          <p:cNvSpPr>
            <a:spLocks noGrp="1"/>
          </p:cNvSpPr>
          <p:nvPr/>
        </p:nvSpPr>
        <p:spPr>
          <a:xfrm>
            <a:off x="548640" y="4480560"/>
            <a:ext cx="6949440" cy="548640"/>
          </a:xfrm>
          <a:prstGeom prst="rect">
            <a:avLst/>
          </a:prstGeom>
          <a:noFill/>
        </p:spPr>
        <p:txBody>
          <a:bodyPr wrap="square" lIns="0" tIns="0" rIns="0" bIns="0" anchor="t"/>
          <a:lstStyle/>
          <a:p>
            <a:pPr marL="0" indent="0">
              <a:buNone/>
            </a:pPr>
            <a:r>
              <a:rPr sz="1500" i="1">
                <a:solidFill>
                  <a:srgbClr val="5B6178"/>
                </a:solidFill>
                <a:latin typeface="Calibri"/>
                <a:ea typeface="Calibri"/>
                <a:cs typeface="Calibri"/>
              </a:rPr>
              <a:t>Villages with reserved councils averaged 24.0 new water projects vs. 14.7 elsewhere (N = 322 villages).</a:t>
            </a:r>
            <a:endParaRPr sz="1500"/>
          </a:p>
        </p:txBody>
      </p:sp>
    </p:spTree>
    <p:extLst>
      <p:ext uri="{BB962C8B-B14F-4D97-AF65-F5344CB8AC3E}">
        <p14:creationId xmlns:p14="http://schemas.microsoft.com/office/powerpoint/2010/main" val="306889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274D"/>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FD86634-F103-425D-9BC3-94F3495A57E6}"/>
              </a:ext>
            </a:extLst>
          </p:cNvPr>
          <p:cNvSpPr>
            <a:spLocks noGrp="1"/>
          </p:cNvSpPr>
          <p:nvPr/>
        </p:nvSpPr>
        <p:spPr>
          <a:xfrm>
            <a:off x="731520" y="2468880"/>
            <a:ext cx="10058400" cy="457200"/>
          </a:xfrm>
          <a:prstGeom prst="rect">
            <a:avLst/>
          </a:prstGeom>
          <a:noFill/>
        </p:spPr>
        <p:txBody>
          <a:bodyPr wrap="square" lIns="0" tIns="0" rIns="0" bIns="0" anchor="t"/>
          <a:lstStyle/>
          <a:p>
            <a:pPr marL="0" indent="0">
              <a:buNone/>
            </a:pPr>
            <a:r>
              <a:rPr sz="1600" b="1" spc="200">
                <a:solidFill>
                  <a:srgbClr val="BFD7EA"/>
                </a:solidFill>
                <a:latin typeface="Calibri"/>
                <a:ea typeface="Calibri"/>
                <a:cs typeface="Calibri"/>
              </a:rPr>
              <a:t>PART 5</a:t>
            </a:r>
            <a:endParaRPr sz="1600"/>
          </a:p>
        </p:txBody>
      </p:sp>
      <p:sp>
        <p:nvSpPr>
          <p:cNvPr id="3" name="Text 1">
            <a:extLst>
              <a:ext uri="{FF2B5EF4-FFF2-40B4-BE49-F238E27FC236}">
                <a16:creationId xmlns:a16="http://schemas.microsoft.com/office/drawing/2014/main" id="{9D58CA2B-5169-498B-9E8D-E8D53B0B8C71}"/>
              </a:ext>
            </a:extLst>
          </p:cNvPr>
          <p:cNvSpPr>
            <a:spLocks noGrp="1"/>
          </p:cNvSpPr>
          <p:nvPr/>
        </p:nvSpPr>
        <p:spPr>
          <a:xfrm>
            <a:off x="731520" y="2926080"/>
            <a:ext cx="10515600" cy="1097280"/>
          </a:xfrm>
          <a:prstGeom prst="rect">
            <a:avLst/>
          </a:prstGeom>
          <a:noFill/>
        </p:spPr>
        <p:txBody>
          <a:bodyPr wrap="square" lIns="0" tIns="0" rIns="0" bIns="0" anchor="t"/>
          <a:lstStyle/>
          <a:p>
            <a:pPr marL="0" indent="0">
              <a:buNone/>
            </a:pPr>
            <a:r>
              <a:rPr sz="3800" b="1">
                <a:solidFill>
                  <a:srgbClr val="FFFFFF"/>
                </a:solidFill>
                <a:latin typeface="Cambria"/>
                <a:ea typeface="Cambria"/>
                <a:cs typeface="Cambria"/>
              </a:rPr>
              <a:t>When experiments go wrong</a:t>
            </a:r>
            <a:endParaRPr sz="3800"/>
          </a:p>
        </p:txBody>
      </p:sp>
      <p:sp>
        <p:nvSpPr>
          <p:cNvPr id="4" name="Text 2">
            <a:extLst>
              <a:ext uri="{FF2B5EF4-FFF2-40B4-BE49-F238E27FC236}">
                <a16:creationId xmlns:a16="http://schemas.microsoft.com/office/drawing/2014/main" id="{A3A37F42-19BF-4AD8-8178-F7F2FB94FC71}"/>
              </a:ext>
            </a:extLst>
          </p:cNvPr>
          <p:cNvSpPr>
            <a:spLocks noGrp="1"/>
          </p:cNvSpPr>
          <p:nvPr/>
        </p:nvSpPr>
        <p:spPr>
          <a:xfrm>
            <a:off x="731520" y="4023360"/>
            <a:ext cx="10058400" cy="731520"/>
          </a:xfrm>
          <a:prstGeom prst="rect">
            <a:avLst/>
          </a:prstGeom>
          <a:noFill/>
        </p:spPr>
        <p:txBody>
          <a:bodyPr wrap="square" lIns="0" tIns="0" rIns="0" bIns="0" anchor="t"/>
          <a:lstStyle/>
          <a:p>
            <a:pPr marL="0" indent="0">
              <a:buNone/>
            </a:pPr>
            <a:r>
              <a:rPr sz="1800" i="1">
                <a:solidFill>
                  <a:srgbClr val="BFD7EA"/>
                </a:solidFill>
                <a:latin typeface="Calibri"/>
                <a:ea typeface="Calibri"/>
                <a:cs typeface="Calibri"/>
              </a:rPr>
              <a:t>Implementation and analysis must preserve the randomized comparison</a:t>
            </a:r>
            <a:endParaRPr sz="1800"/>
          </a:p>
        </p:txBody>
      </p:sp>
    </p:spTree>
    <p:extLst>
      <p:ext uri="{BB962C8B-B14F-4D97-AF65-F5344CB8AC3E}">
        <p14:creationId xmlns:p14="http://schemas.microsoft.com/office/powerpoint/2010/main" val="1199799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56C1DFC-4A68-4E2E-AE06-43B265FFF816}"/>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NONCOMPLIANCE</a:t>
            </a:r>
            <a:endParaRPr sz="1200"/>
          </a:p>
        </p:txBody>
      </p:sp>
      <p:sp>
        <p:nvSpPr>
          <p:cNvPr id="3" name="Text 1">
            <a:extLst>
              <a:ext uri="{FF2B5EF4-FFF2-40B4-BE49-F238E27FC236}">
                <a16:creationId xmlns:a16="http://schemas.microsoft.com/office/drawing/2014/main" id="{B030597A-6CE0-4A87-9417-403EF98A44A4}"/>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Assigned treatment is not always received treatment</a:t>
            </a:r>
            <a:endParaRPr sz="3000"/>
          </a:p>
        </p:txBody>
      </p:sp>
      <p:sp>
        <p:nvSpPr>
          <p:cNvPr id="4" name="Text 2">
            <a:extLst>
              <a:ext uri="{FF2B5EF4-FFF2-40B4-BE49-F238E27FC236}">
                <a16:creationId xmlns:a16="http://schemas.microsoft.com/office/drawing/2014/main" id="{F95DCA12-DE0A-4386-9313-AC92CF6C9E09}"/>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31</a:t>
            </a:r>
            <a:endParaRPr sz="1000"/>
          </a:p>
        </p:txBody>
      </p:sp>
      <p:sp>
        <p:nvSpPr>
          <p:cNvPr id="5" name="Shape 3">
            <a:extLst>
              <a:ext uri="{FF2B5EF4-FFF2-40B4-BE49-F238E27FC236}">
                <a16:creationId xmlns:a16="http://schemas.microsoft.com/office/drawing/2014/main" id="{F69D5AA4-6C77-4FA1-980A-36E3B9B323F3}"/>
              </a:ext>
            </a:extLst>
          </p:cNvPr>
          <p:cNvSpPr>
            <a:spLocks noGrp="1"/>
          </p:cNvSpPr>
          <p:nvPr/>
        </p:nvSpPr>
        <p:spPr>
          <a:xfrm>
            <a:off x="548640" y="1554480"/>
            <a:ext cx="2743200" cy="2651760"/>
          </a:xfrm>
          <a:prstGeom prst="roundRect">
            <a:avLst>
              <a:gd name="adj" fmla="val 3448"/>
            </a:avLst>
          </a:prstGeom>
          <a:solidFill>
            <a:srgbClr val="EEF3F8"/>
          </a:solidFill>
          <a:ln w="12700">
            <a:solidFill>
              <a:srgbClr val="EEF3F8"/>
            </a:solidFill>
            <a:prstDash val="solid"/>
          </a:ln>
        </p:spPr>
        <p:txBody>
          <a:bodyPr/>
          <a:lstStyle/>
          <a:p>
            <a:endParaRPr lang="en-US"/>
          </a:p>
        </p:txBody>
      </p:sp>
      <p:sp>
        <p:nvSpPr>
          <p:cNvPr id="6" name="Text 4">
            <a:extLst>
              <a:ext uri="{FF2B5EF4-FFF2-40B4-BE49-F238E27FC236}">
                <a16:creationId xmlns:a16="http://schemas.microsoft.com/office/drawing/2014/main" id="{32263188-BC36-416C-8243-428000CA3D47}"/>
              </a:ext>
            </a:extLst>
          </p:cNvPr>
          <p:cNvSpPr>
            <a:spLocks noGrp="1"/>
          </p:cNvSpPr>
          <p:nvPr/>
        </p:nvSpPr>
        <p:spPr>
          <a:xfrm>
            <a:off x="777240" y="1691640"/>
            <a:ext cx="2286000" cy="457200"/>
          </a:xfrm>
          <a:prstGeom prst="rect">
            <a:avLst/>
          </a:prstGeom>
          <a:noFill/>
        </p:spPr>
        <p:txBody>
          <a:bodyPr wrap="square" lIns="0" tIns="0" rIns="0" bIns="0" anchor="t"/>
          <a:lstStyle/>
          <a:p>
            <a:pPr marL="0" indent="0">
              <a:buNone/>
            </a:pPr>
            <a:r>
              <a:rPr sz="1600" b="1">
                <a:solidFill>
                  <a:srgbClr val="00274D"/>
                </a:solidFill>
                <a:latin typeface="Calibri"/>
                <a:ea typeface="Calibri"/>
                <a:cs typeface="Calibri"/>
              </a:rPr>
              <a:t>Villages, reserved councils</a:t>
            </a:r>
            <a:endParaRPr sz="1600"/>
          </a:p>
        </p:txBody>
      </p:sp>
      <p:sp>
        <p:nvSpPr>
          <p:cNvPr id="7" name="Text 5">
            <a:extLst>
              <a:ext uri="{FF2B5EF4-FFF2-40B4-BE49-F238E27FC236}">
                <a16:creationId xmlns:a16="http://schemas.microsoft.com/office/drawing/2014/main" id="{A4E68BF9-A5FE-4328-BA35-788E5CB10FD6}"/>
              </a:ext>
            </a:extLst>
          </p:cNvPr>
          <p:cNvSpPr>
            <a:spLocks noGrp="1"/>
          </p:cNvSpPr>
          <p:nvPr/>
        </p:nvSpPr>
        <p:spPr>
          <a:xfrm>
            <a:off x="777240" y="2148840"/>
            <a:ext cx="2286000" cy="914400"/>
          </a:xfrm>
          <a:prstGeom prst="rect">
            <a:avLst/>
          </a:prstGeom>
          <a:noFill/>
        </p:spPr>
        <p:txBody>
          <a:bodyPr wrap="square" lIns="0" tIns="0" rIns="0" bIns="0" anchor="t"/>
          <a:lstStyle/>
          <a:p>
            <a:pPr marL="0" indent="0">
              <a:buNone/>
            </a:pPr>
            <a:r>
              <a:rPr sz="4400" b="1">
                <a:solidFill>
                  <a:srgbClr val="1E7A46"/>
                </a:solidFill>
                <a:latin typeface="Cambria"/>
                <a:ea typeface="Cambria"/>
                <a:cs typeface="Cambria"/>
              </a:rPr>
              <a:t>108</a:t>
            </a:r>
            <a:endParaRPr sz="4400"/>
          </a:p>
        </p:txBody>
      </p:sp>
      <p:sp>
        <p:nvSpPr>
          <p:cNvPr id="8" name="Text 6">
            <a:extLst>
              <a:ext uri="{FF2B5EF4-FFF2-40B4-BE49-F238E27FC236}">
                <a16:creationId xmlns:a16="http://schemas.microsoft.com/office/drawing/2014/main" id="{7751361F-E779-48D0-BE87-11627BDCE19A}"/>
              </a:ext>
            </a:extLst>
          </p:cNvPr>
          <p:cNvSpPr>
            <a:spLocks noGrp="1"/>
          </p:cNvSpPr>
          <p:nvPr/>
        </p:nvSpPr>
        <p:spPr>
          <a:xfrm>
            <a:off x="777240" y="3108960"/>
            <a:ext cx="2286000" cy="91440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100% had a female leader</a:t>
            </a:r>
            <a:endParaRPr sz="1500"/>
          </a:p>
        </p:txBody>
      </p:sp>
      <p:sp>
        <p:nvSpPr>
          <p:cNvPr id="9" name="Shape 7">
            <a:extLst>
              <a:ext uri="{FF2B5EF4-FFF2-40B4-BE49-F238E27FC236}">
                <a16:creationId xmlns:a16="http://schemas.microsoft.com/office/drawing/2014/main" id="{1FAE061A-0B1F-4B63-830E-C0429089BABB}"/>
              </a:ext>
            </a:extLst>
          </p:cNvPr>
          <p:cNvSpPr>
            <a:spLocks noGrp="1"/>
          </p:cNvSpPr>
          <p:nvPr/>
        </p:nvSpPr>
        <p:spPr>
          <a:xfrm>
            <a:off x="3474720" y="1554480"/>
            <a:ext cx="2743200" cy="2651760"/>
          </a:xfrm>
          <a:prstGeom prst="roundRect">
            <a:avLst>
              <a:gd name="adj" fmla="val 3448"/>
            </a:avLst>
          </a:prstGeom>
          <a:solidFill>
            <a:srgbClr val="EEF3F8"/>
          </a:solidFill>
          <a:ln w="12700">
            <a:solidFill>
              <a:srgbClr val="EEF3F8"/>
            </a:solidFill>
            <a:prstDash val="solid"/>
          </a:ln>
        </p:spPr>
        <p:txBody>
          <a:bodyPr/>
          <a:lstStyle/>
          <a:p>
            <a:endParaRPr lang="en-US"/>
          </a:p>
        </p:txBody>
      </p:sp>
      <p:sp>
        <p:nvSpPr>
          <p:cNvPr id="10" name="Text 8">
            <a:extLst>
              <a:ext uri="{FF2B5EF4-FFF2-40B4-BE49-F238E27FC236}">
                <a16:creationId xmlns:a16="http://schemas.microsoft.com/office/drawing/2014/main" id="{C919CFC7-7DE6-4D78-99CA-BECFB8DF3C0F}"/>
              </a:ext>
            </a:extLst>
          </p:cNvPr>
          <p:cNvSpPr>
            <a:spLocks noGrp="1"/>
          </p:cNvSpPr>
          <p:nvPr/>
        </p:nvSpPr>
        <p:spPr>
          <a:xfrm>
            <a:off x="3703320" y="1691640"/>
            <a:ext cx="2286000" cy="457200"/>
          </a:xfrm>
          <a:prstGeom prst="rect">
            <a:avLst/>
          </a:prstGeom>
          <a:noFill/>
        </p:spPr>
        <p:txBody>
          <a:bodyPr wrap="square" lIns="0" tIns="0" rIns="0" bIns="0" anchor="t"/>
          <a:lstStyle/>
          <a:p>
            <a:pPr marL="0" indent="0">
              <a:buNone/>
            </a:pPr>
            <a:r>
              <a:rPr sz="1600" b="1">
                <a:solidFill>
                  <a:srgbClr val="00274D"/>
                </a:solidFill>
                <a:latin typeface="Calibri"/>
                <a:ea typeface="Calibri"/>
                <a:cs typeface="Calibri"/>
              </a:rPr>
              <a:t>Villages, unreserved</a:t>
            </a:r>
            <a:endParaRPr sz="1600"/>
          </a:p>
        </p:txBody>
      </p:sp>
      <p:sp>
        <p:nvSpPr>
          <p:cNvPr id="11" name="Text 9">
            <a:extLst>
              <a:ext uri="{FF2B5EF4-FFF2-40B4-BE49-F238E27FC236}">
                <a16:creationId xmlns:a16="http://schemas.microsoft.com/office/drawing/2014/main" id="{209A3C15-5B48-421E-B2AC-8DB14A3BE833}"/>
              </a:ext>
            </a:extLst>
          </p:cNvPr>
          <p:cNvSpPr>
            <a:spLocks noGrp="1"/>
          </p:cNvSpPr>
          <p:nvPr/>
        </p:nvSpPr>
        <p:spPr>
          <a:xfrm>
            <a:off x="3703320" y="2148840"/>
            <a:ext cx="2286000" cy="914400"/>
          </a:xfrm>
          <a:prstGeom prst="rect">
            <a:avLst/>
          </a:prstGeom>
          <a:noFill/>
        </p:spPr>
        <p:txBody>
          <a:bodyPr wrap="square" lIns="0" tIns="0" rIns="0" bIns="0" anchor="t"/>
          <a:lstStyle/>
          <a:p>
            <a:pPr marL="0" indent="0">
              <a:buNone/>
            </a:pPr>
            <a:r>
              <a:rPr sz="4400" b="1">
                <a:solidFill>
                  <a:srgbClr val="A13A2F"/>
                </a:solidFill>
                <a:latin typeface="Cambria"/>
                <a:ea typeface="Cambria"/>
                <a:cs typeface="Cambria"/>
              </a:rPr>
              <a:t>214</a:t>
            </a:r>
            <a:endParaRPr sz="4400"/>
          </a:p>
        </p:txBody>
      </p:sp>
      <p:sp>
        <p:nvSpPr>
          <p:cNvPr id="12" name="Text 10">
            <a:extLst>
              <a:ext uri="{FF2B5EF4-FFF2-40B4-BE49-F238E27FC236}">
                <a16:creationId xmlns:a16="http://schemas.microsoft.com/office/drawing/2014/main" id="{B6978E79-8ACD-4906-B1FF-FB566A788DD7}"/>
              </a:ext>
            </a:extLst>
          </p:cNvPr>
          <p:cNvSpPr>
            <a:spLocks noGrp="1"/>
          </p:cNvSpPr>
          <p:nvPr/>
        </p:nvSpPr>
        <p:spPr>
          <a:xfrm>
            <a:off x="3703320" y="3108960"/>
            <a:ext cx="2286000" cy="914400"/>
          </a:xfrm>
          <a:prstGeom prst="rect">
            <a:avLst/>
          </a:prstGeom>
          <a:noFill/>
        </p:spPr>
        <p:txBody>
          <a:bodyPr wrap="square" lIns="0" tIns="0" rIns="0" bIns="0" anchor="t"/>
          <a:lstStyle/>
          <a:p>
            <a:pPr marL="0" indent="0">
              <a:buNone/>
            </a:pPr>
            <a:r>
              <a:rPr sz="1500">
                <a:solidFill>
                  <a:srgbClr val="1A1A2E"/>
                </a:solidFill>
                <a:latin typeface="Calibri"/>
                <a:ea typeface="Calibri"/>
                <a:cs typeface="Calibri"/>
              </a:rPr>
              <a:t>7.5% (16) had a female leader anyway</a:t>
            </a:r>
            <a:endParaRPr sz="1500"/>
          </a:p>
        </p:txBody>
      </p:sp>
      <p:sp>
        <p:nvSpPr>
          <p:cNvPr id="13" name="Shape 11">
            <a:extLst>
              <a:ext uri="{FF2B5EF4-FFF2-40B4-BE49-F238E27FC236}">
                <a16:creationId xmlns:a16="http://schemas.microsoft.com/office/drawing/2014/main" id="{9A00C445-7BB0-4A7B-8608-3D8F9E24887E}"/>
              </a:ext>
            </a:extLst>
          </p:cNvPr>
          <p:cNvSpPr>
            <a:spLocks noGrp="1"/>
          </p:cNvSpPr>
          <p:nvPr/>
        </p:nvSpPr>
        <p:spPr>
          <a:xfrm>
            <a:off x="6583680" y="1554480"/>
            <a:ext cx="5029200" cy="2651760"/>
          </a:xfrm>
          <a:prstGeom prst="roundRect">
            <a:avLst>
              <a:gd name="adj" fmla="val 3448"/>
            </a:avLst>
          </a:prstGeom>
          <a:solidFill>
            <a:srgbClr val="00274D"/>
          </a:solidFill>
          <a:ln w="12700">
            <a:solidFill>
              <a:srgbClr val="00274D"/>
            </a:solidFill>
            <a:prstDash val="solid"/>
          </a:ln>
        </p:spPr>
        <p:txBody>
          <a:bodyPr/>
          <a:lstStyle/>
          <a:p>
            <a:endParaRPr lang="en-US"/>
          </a:p>
        </p:txBody>
      </p:sp>
      <p:sp>
        <p:nvSpPr>
          <p:cNvPr id="14" name="Text 12">
            <a:extLst>
              <a:ext uri="{FF2B5EF4-FFF2-40B4-BE49-F238E27FC236}">
                <a16:creationId xmlns:a16="http://schemas.microsoft.com/office/drawing/2014/main" id="{AEC32EB0-DD53-4F51-8279-F973EC7E3110}"/>
              </a:ext>
            </a:extLst>
          </p:cNvPr>
          <p:cNvSpPr>
            <a:spLocks noGrp="1"/>
          </p:cNvSpPr>
          <p:nvPr/>
        </p:nvSpPr>
        <p:spPr>
          <a:xfrm>
            <a:off x="6858000" y="1691640"/>
            <a:ext cx="4480560" cy="2377440"/>
          </a:xfrm>
          <a:prstGeom prst="rect">
            <a:avLst/>
          </a:prstGeom>
          <a:noFill/>
        </p:spPr>
        <p:txBody>
          <a:bodyPr wrap="square" lIns="0" tIns="0" rIns="0" bIns="0" anchor="t"/>
          <a:lstStyle/>
          <a:p>
            <a:pPr marL="0" indent="0">
              <a:buNone/>
            </a:pPr>
            <a:r>
              <a:rPr sz="1600" b="1">
                <a:solidFill>
                  <a:srgbClr val="BFD7EA"/>
                </a:solidFill>
                <a:latin typeface="Calibri"/>
                <a:ea typeface="Calibri"/>
                <a:cs typeface="Calibri"/>
              </a:rPr>
              <a:t>What did we estimate?</a:t>
            </a:r>
            <a:endParaRPr sz="1600"/>
          </a:p>
          <a:p>
            <a:pPr marL="0" indent="0">
              <a:buNone/>
            </a:pPr>
            <a:r>
              <a:rPr sz="1600">
                <a:solidFill>
                  <a:srgbClr val="FFFFFF"/>
                </a:solidFill>
                <a:latin typeface="Calibri"/>
                <a:ea typeface="Calibri"/>
                <a:cs typeface="Calibri"/>
              </a:rPr>
              <a:t>The effect of reservation (intent-to-treat), not the effect of having a female leader. </a:t>
            </a:r>
            <a:endParaRPr sz="1600"/>
          </a:p>
          <a:p>
            <a:pPr marL="0" indent="0">
              <a:buNone/>
            </a:pPr>
            <a:r>
              <a:rPr sz="800">
                <a:solidFill>
                  <a:srgbClr val="1A1A2E"/>
                </a:solidFill>
                <a:latin typeface="Calibri"/>
                <a:ea typeface="Calibri"/>
                <a:cs typeface="Calibri"/>
              </a:rPr>
              <a:t> </a:t>
            </a:r>
            <a:endParaRPr sz="1600"/>
          </a:p>
          <a:p>
            <a:pPr marL="0" indent="0">
              <a:buNone/>
            </a:pPr>
            <a:r>
              <a:rPr sz="1600">
                <a:solidFill>
                  <a:srgbClr val="FFFFFF"/>
                </a:solidFill>
                <a:latin typeface="Calibri"/>
                <a:ea typeface="Calibri"/>
                <a:cs typeface="Calibri"/>
              </a:rPr>
              <a:t>IV preview: 9.25 ÷ (1.00 − 0.075) ≈ 10.0. A complier effect only if IV assumptions hold, including exclusion.</a:t>
            </a:r>
            <a:endParaRPr sz="1600"/>
          </a:p>
        </p:txBody>
      </p:sp>
      <p:sp>
        <p:nvSpPr>
          <p:cNvPr id="15" name="Text 13">
            <a:extLst>
              <a:ext uri="{FF2B5EF4-FFF2-40B4-BE49-F238E27FC236}">
                <a16:creationId xmlns:a16="http://schemas.microsoft.com/office/drawing/2014/main" id="{C5C264C0-91A9-43FA-B985-035452ED7909}"/>
              </a:ext>
            </a:extLst>
          </p:cNvPr>
          <p:cNvSpPr>
            <a:spLocks noGrp="1"/>
          </p:cNvSpPr>
          <p:nvPr/>
        </p:nvSpPr>
        <p:spPr>
          <a:xfrm>
            <a:off x="548640" y="4480560"/>
            <a:ext cx="11064240" cy="731520"/>
          </a:xfrm>
          <a:prstGeom prst="rect">
            <a:avLst/>
          </a:prstGeom>
          <a:noFill/>
        </p:spPr>
        <p:txBody>
          <a:bodyPr wrap="square" lIns="0" tIns="0" rIns="0" bIns="0" anchor="t"/>
          <a:lstStyle/>
          <a:p>
            <a:pPr marL="0" indent="0">
              <a:buNone/>
            </a:pPr>
            <a:r>
              <a:rPr sz="1700" i="1">
                <a:solidFill>
                  <a:srgbClr val="5B6178"/>
                </a:solidFill>
                <a:latin typeface="Calibri"/>
                <a:ea typeface="Calibri"/>
                <a:cs typeface="Calibri"/>
              </a:rPr>
              <a:t>ITT compares assignment groups, including nonparticipants. It estimates the effect of the offer when outcomes remain observed.</a:t>
            </a:r>
            <a:endParaRPr sz="1700"/>
          </a:p>
        </p:txBody>
      </p:sp>
    </p:spTree>
    <p:extLst>
      <p:ext uri="{BB962C8B-B14F-4D97-AF65-F5344CB8AC3E}">
        <p14:creationId xmlns:p14="http://schemas.microsoft.com/office/powerpoint/2010/main" val="339171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370D370-55AB-4611-8F15-F9B2ECE32AEC}"/>
              </a:ext>
            </a:extLst>
          </p:cNvPr>
          <p:cNvSpPr>
            <a:spLocks noGrp="1"/>
          </p:cNvSpPr>
          <p:nvPr/>
        </p:nvSpPr>
        <p:spPr>
          <a:xfrm>
            <a:off x="548640" y="320040"/>
            <a:ext cx="9525000" cy="320040"/>
          </a:xfrm>
          <a:prstGeom prst="rect">
            <a:avLst/>
          </a:prstGeom>
          <a:noFill/>
          <a:ln w="0">
            <a:noFill/>
          </a:ln>
        </p:spPr>
        <p:txBody>
          <a:bodyPr>
            <a:noAutofit/>
          </a:bodyPr>
          <a:lstStyle/>
          <a:p>
            <a:pPr>
              <a:defRPr sz="1200" b="1">
                <a:solidFill>
                  <a:srgbClr val="1B4F8C"/>
                </a:solidFill>
                <a:latin typeface="Calibri"/>
                <a:ea typeface="Calibri"/>
                <a:cs typeface="Calibri"/>
              </a:defRPr>
            </a:pPr>
            <a:r>
              <a:rPr sz="1200" b="1">
                <a:solidFill>
                  <a:srgbClr val="1B4F8C"/>
                </a:solidFill>
                <a:latin typeface="Calibri"/>
                <a:ea typeface="Calibri"/>
                <a:cs typeface="Calibri"/>
              </a:rPr>
              <a:t>ROSENBAUM</a:t>
            </a:r>
          </a:p>
        </p:txBody>
      </p:sp>
      <p:sp>
        <p:nvSpPr>
          <p:cNvPr id="2" name="Rectangle 1">
            <a:extLst>
              <a:ext uri="{FF2B5EF4-FFF2-40B4-BE49-F238E27FC236}">
                <a16:creationId xmlns:a16="http://schemas.microsoft.com/office/drawing/2014/main" id="{BA4AB0DF-6A38-4809-BD69-DDD85FB566E8}"/>
              </a:ext>
            </a:extLst>
          </p:cNvPr>
          <p:cNvSpPr>
            <a:spLocks noGrp="1"/>
          </p:cNvSpPr>
          <p:nvPr/>
        </p:nvSpPr>
        <p:spPr>
          <a:xfrm>
            <a:off x="548640" y="685800"/>
            <a:ext cx="11058525" cy="723900"/>
          </a:xfrm>
          <a:prstGeom prst="rect">
            <a:avLst/>
          </a:prstGeom>
          <a:noFill/>
          <a:ln w="0">
            <a:noFill/>
          </a:ln>
        </p:spPr>
        <p:txBody>
          <a:bodyPr>
            <a:noAutofit/>
          </a:bodyPr>
          <a:lstStyle/>
          <a:p>
            <a:pPr>
              <a:defRPr sz="3000" b="1">
                <a:solidFill>
                  <a:srgbClr val="00274D"/>
                </a:solidFill>
                <a:latin typeface="Cambria"/>
                <a:ea typeface="Cambria"/>
                <a:cs typeface="Cambria"/>
              </a:defRPr>
            </a:pPr>
            <a:r>
              <a:rPr sz="3000" b="1">
                <a:solidFill>
                  <a:srgbClr val="00274D"/>
                </a:solidFill>
                <a:latin typeface="Cambria"/>
                <a:ea typeface="Cambria"/>
                <a:cs typeface="Cambria"/>
              </a:rPr>
              <a:t>Randomized offers and treatment received</a:t>
            </a:r>
          </a:p>
        </p:txBody>
      </p:sp>
      <p:sp>
        <p:nvSpPr>
          <p:cNvPr id="3" name="Rectangle 2">
            <a:extLst>
              <a:ext uri="{FF2B5EF4-FFF2-40B4-BE49-F238E27FC236}">
                <a16:creationId xmlns:a16="http://schemas.microsoft.com/office/drawing/2014/main" id="{01E062C2-828D-4CC5-BFF3-58C42F9E4DE2}"/>
              </a:ext>
            </a:extLst>
          </p:cNvPr>
          <p:cNvSpPr>
            <a:spLocks noGrp="1"/>
          </p:cNvSpPr>
          <p:nvPr/>
        </p:nvSpPr>
        <p:spPr>
          <a:xfrm>
            <a:off x="548640" y="6038850"/>
            <a:ext cx="11058525" cy="285750"/>
          </a:xfrm>
          <a:prstGeom prst="rect">
            <a:avLst/>
          </a:prstGeom>
          <a:noFill/>
          <a:ln w="0">
            <a:noFill/>
          </a:ln>
        </p:spPr>
        <p:txBody>
          <a:bodyPr>
            <a:noAutofit/>
          </a:bodyPr>
          <a:lstStyle/>
          <a:p>
            <a:pPr>
              <a:defRPr sz="1275" b="0">
                <a:solidFill>
                  <a:srgbClr val="5B6178"/>
                </a:solidFill>
                <a:latin typeface="Calibri"/>
                <a:ea typeface="Calibri"/>
                <a:cs typeface="Calibri"/>
              </a:defRPr>
            </a:pPr>
            <a:r>
              <a:rPr sz="1275" b="0">
                <a:solidFill>
                  <a:srgbClr val="5B6178"/>
                </a:solidFill>
                <a:latin typeface="Calibri"/>
                <a:ea typeface="Calibri"/>
                <a:cs typeface="Calibri"/>
              </a:rPr>
              <a:t>Rosenbaum (2023), ch. 7, pp. 137–146. Preview of instrumental variables</a:t>
            </a:r>
          </a:p>
        </p:txBody>
      </p:sp>
      <p:sp>
        <p:nvSpPr>
          <p:cNvPr id="4" name="Rectangle 3">
            <a:extLst>
              <a:ext uri="{FF2B5EF4-FFF2-40B4-BE49-F238E27FC236}">
                <a16:creationId xmlns:a16="http://schemas.microsoft.com/office/drawing/2014/main" id="{FD63488F-0175-4452-8095-6AE9399EB47C}"/>
              </a:ext>
            </a:extLst>
          </p:cNvPr>
          <p:cNvSpPr>
            <a:spLocks noGrp="1"/>
          </p:cNvSpPr>
          <p:nvPr/>
        </p:nvSpPr>
        <p:spPr>
          <a:xfrm>
            <a:off x="548640" y="6400800"/>
            <a:ext cx="6667500" cy="276225"/>
          </a:xfrm>
          <a:prstGeom prst="rect">
            <a:avLst/>
          </a:prstGeom>
          <a:noFill/>
          <a:ln w="0">
            <a:noFill/>
          </a:ln>
        </p:spPr>
        <p:txBody>
          <a:bodyPr>
            <a:noAutofit/>
          </a:bodyPr>
          <a:lstStyle/>
          <a:p>
            <a:pPr>
              <a:defRPr sz="1000" b="0">
                <a:solidFill>
                  <a:srgbClr val="5B6178"/>
                </a:solidFill>
                <a:latin typeface="Calibri"/>
                <a:ea typeface="Calibri"/>
                <a:cs typeface="Calibri"/>
              </a:defRPr>
            </a:pPr>
            <a:r>
              <a:rPr sz="1000" b="0">
                <a:solidFill>
                  <a:srgbClr val="5B6178"/>
                </a:solidFill>
                <a:latin typeface="Calibri"/>
                <a:ea typeface="Calibri"/>
                <a:cs typeface="Calibri"/>
              </a:rPr>
              <a:t>Week 4 · Randomized Controlled Trials  |  32</a:t>
            </a:r>
          </a:p>
        </p:txBody>
      </p:sp>
      <p:sp>
        <p:nvSpPr>
          <p:cNvPr id="5" name="Rectangle 4">
            <a:extLst>
              <a:ext uri="{FF2B5EF4-FFF2-40B4-BE49-F238E27FC236}">
                <a16:creationId xmlns:a16="http://schemas.microsoft.com/office/drawing/2014/main" id="{EF712286-4C56-43C2-B8DD-D4934FC25759}"/>
              </a:ext>
            </a:extLst>
          </p:cNvPr>
          <p:cNvSpPr>
            <a:spLocks noGrp="1"/>
          </p:cNvSpPr>
          <p:nvPr/>
        </p:nvSpPr>
        <p:spPr>
          <a:xfrm>
            <a:off x="571500" y="1609725"/>
            <a:ext cx="11049000" cy="561975"/>
          </a:xfrm>
          <a:prstGeom prst="rect">
            <a:avLst/>
          </a:prstGeom>
          <a:noFill/>
          <a:ln w="0">
            <a:noFill/>
          </a:ln>
        </p:spPr>
        <p:txBody>
          <a:bodyPr>
            <a:noAutofit/>
          </a:bodyPr>
          <a:lstStyle/>
          <a:p>
            <a:pPr>
              <a:defRPr sz="2100" b="1">
                <a:solidFill>
                  <a:srgbClr val="00274D"/>
                </a:solidFill>
                <a:latin typeface="Calibri"/>
                <a:ea typeface="Calibri"/>
                <a:cs typeface="Calibri"/>
              </a:defRPr>
            </a:pPr>
            <a:r>
              <a:rPr sz="2100" b="1">
                <a:solidFill>
                  <a:srgbClr val="00274D"/>
                </a:solidFill>
                <a:latin typeface="Calibri"/>
                <a:ea typeface="Calibri"/>
                <a:cs typeface="Calibri"/>
              </a:rPr>
              <a:t>Z = randomized offer or encouragement     D = actual participation</a:t>
            </a:r>
          </a:p>
        </p:txBody>
      </p:sp>
      <p:sp>
        <p:nvSpPr>
          <p:cNvPr id="6" name="Rectangle 5">
            <a:extLst>
              <a:ext uri="{FF2B5EF4-FFF2-40B4-BE49-F238E27FC236}">
                <a16:creationId xmlns:a16="http://schemas.microsoft.com/office/drawing/2014/main" id="{2FBD8F97-0C68-4E19-9B85-56EAC332A35E}"/>
              </a:ext>
            </a:extLst>
          </p:cNvPr>
          <p:cNvSpPr>
            <a:spLocks noGrp="1"/>
          </p:cNvSpPr>
          <p:nvPr/>
        </p:nvSpPr>
        <p:spPr>
          <a:xfrm>
            <a:off x="571500" y="2457450"/>
            <a:ext cx="11049000" cy="857250"/>
          </a:xfrm>
          <a:prstGeom prst="rect">
            <a:avLst/>
          </a:prstGeom>
          <a:noFill/>
          <a:ln w="0">
            <a:noFill/>
          </a:ln>
        </p:spPr>
        <p:txBody>
          <a:bodyPr>
            <a:noAutofit/>
          </a:bodyPr>
          <a:lstStyle/>
          <a:p>
            <a:pPr>
              <a:defRPr sz="2100" b="0">
                <a:solidFill>
                  <a:srgbClr val="1A1A2E"/>
                </a:solidFill>
                <a:latin typeface="Calibri"/>
                <a:ea typeface="Calibri"/>
                <a:cs typeface="Calibri"/>
              </a:defRPr>
            </a:pPr>
            <a:r>
              <a:rPr sz="2100" b="0">
                <a:solidFill>
                  <a:srgbClr val="1A1A2E"/>
                </a:solidFill>
                <a:latin typeface="Calibri"/>
                <a:ea typeface="Calibri"/>
                <a:cs typeface="Calibri"/>
              </a:rPr>
              <a:t>ITT compares outcomes by Z, including people who decline the offer.</a:t>
            </a:r>
          </a:p>
          <a:p>
            <a:pPr>
              <a:defRPr sz="2100" b="0">
                <a:solidFill>
                  <a:srgbClr val="1A1A2E"/>
                </a:solidFill>
                <a:latin typeface="Calibri"/>
                <a:ea typeface="Calibri"/>
                <a:cs typeface="Calibri"/>
              </a:defRPr>
            </a:pPr>
            <a:r>
              <a:rPr sz="2100" b="0">
                <a:solidFill>
                  <a:srgbClr val="1A1A2E"/>
                </a:solidFill>
                <a:latin typeface="Calibri"/>
                <a:ea typeface="Calibri"/>
                <a:cs typeface="Calibri"/>
              </a:rPr>
              <a:t>Comparing participants with nonparticipants can restore selection bias.</a:t>
            </a:r>
          </a:p>
        </p:txBody>
      </p:sp>
      <p:sp>
        <p:nvSpPr>
          <p:cNvPr id="7" name="Rectangle 6">
            <a:extLst>
              <a:ext uri="{FF2B5EF4-FFF2-40B4-BE49-F238E27FC236}">
                <a16:creationId xmlns:a16="http://schemas.microsoft.com/office/drawing/2014/main" id="{5304322D-7FE0-4198-AF1C-355A0E872DDC}"/>
              </a:ext>
            </a:extLst>
          </p:cNvPr>
          <p:cNvSpPr>
            <a:spLocks noGrp="1"/>
          </p:cNvSpPr>
          <p:nvPr/>
        </p:nvSpPr>
        <p:spPr>
          <a:xfrm>
            <a:off x="571500" y="3695700"/>
            <a:ext cx="11049000" cy="590550"/>
          </a:xfrm>
          <a:prstGeom prst="rect">
            <a:avLst/>
          </a:prstGeom>
          <a:noFill/>
          <a:ln w="0">
            <a:noFill/>
          </a:ln>
        </p:spPr>
        <p:txBody>
          <a:bodyPr>
            <a:noAutofit/>
          </a:bodyPr>
          <a:lstStyle/>
          <a:p>
            <a:pPr>
              <a:defRPr sz="2475" b="1">
                <a:solidFill>
                  <a:srgbClr val="1E7A46"/>
                </a:solidFill>
                <a:latin typeface="Calibri"/>
                <a:ea typeface="Calibri"/>
                <a:cs typeface="Calibri"/>
              </a:defRPr>
            </a:pPr>
            <a:r>
              <a:rPr sz="2475" b="1">
                <a:solidFill>
                  <a:srgbClr val="1E7A46"/>
                </a:solidFill>
                <a:latin typeface="Calibri"/>
                <a:ea typeface="Calibri"/>
                <a:cs typeface="Calibri"/>
              </a:rPr>
              <a:t>Complier effect = ITT on outcome ÷ ITT on participation</a:t>
            </a:r>
          </a:p>
        </p:txBody>
      </p:sp>
      <p:sp>
        <p:nvSpPr>
          <p:cNvPr id="8" name="Rectangle 7">
            <a:extLst>
              <a:ext uri="{FF2B5EF4-FFF2-40B4-BE49-F238E27FC236}">
                <a16:creationId xmlns:a16="http://schemas.microsoft.com/office/drawing/2014/main" id="{48B99139-A3DD-4B2D-A5D7-E97D239F8837}"/>
              </a:ext>
            </a:extLst>
          </p:cNvPr>
          <p:cNvSpPr>
            <a:spLocks noGrp="1"/>
          </p:cNvSpPr>
          <p:nvPr/>
        </p:nvSpPr>
        <p:spPr>
          <a:xfrm>
            <a:off x="571500" y="4552950"/>
            <a:ext cx="11049000" cy="781050"/>
          </a:xfrm>
          <a:prstGeom prst="rect">
            <a:avLst/>
          </a:prstGeom>
          <a:noFill/>
          <a:ln w="0">
            <a:noFill/>
          </a:ln>
        </p:spPr>
        <p:txBody>
          <a:bodyPr>
            <a:noAutofit/>
          </a:bodyPr>
          <a:lstStyle/>
          <a:p>
            <a:pPr>
              <a:defRPr sz="2100" b="0">
                <a:solidFill>
                  <a:srgbClr val="1A1A2E"/>
                </a:solidFill>
                <a:latin typeface="Calibri"/>
                <a:ea typeface="Calibri"/>
                <a:cs typeface="Calibri"/>
              </a:defRPr>
            </a:pPr>
            <a:r>
              <a:rPr sz="2100" b="0">
                <a:solidFill>
                  <a:srgbClr val="1A1A2E"/>
                </a:solidFill>
                <a:latin typeface="Calibri"/>
                <a:ea typeface="Calibri"/>
                <a:cs typeface="Calibri"/>
              </a:rPr>
              <a:t>Requires a relevant randomized offer, exclusion, monotonicity,</a:t>
            </a:r>
          </a:p>
          <a:p>
            <a:pPr>
              <a:defRPr sz="2100" b="0">
                <a:solidFill>
                  <a:srgbClr val="1A1A2E"/>
                </a:solidFill>
                <a:latin typeface="Calibri"/>
                <a:ea typeface="Calibri"/>
                <a:cs typeface="Calibri"/>
              </a:defRPr>
            </a:pPr>
            <a:r>
              <a:rPr sz="2100" b="0">
                <a:solidFill>
                  <a:srgbClr val="1A1A2E"/>
                </a:solidFill>
                <a:latin typeface="Calibri"/>
                <a:ea typeface="Calibri"/>
                <a:cs typeface="Calibri"/>
              </a:rPr>
              <a:t>and appropriate no-interference / consistency conditions.</a:t>
            </a:r>
          </a:p>
        </p:txBody>
      </p:sp>
      <p:sp>
        <p:nvSpPr>
          <p:cNvPr id="9" name="Rectangle 8">
            <a:extLst>
              <a:ext uri="{FF2B5EF4-FFF2-40B4-BE49-F238E27FC236}">
                <a16:creationId xmlns:a16="http://schemas.microsoft.com/office/drawing/2014/main" id="{EFFEB67C-7306-4625-A6E2-2ABC80DD3BE9}"/>
              </a:ext>
            </a:extLst>
          </p:cNvPr>
          <p:cNvSpPr>
            <a:spLocks noGrp="1"/>
          </p:cNvSpPr>
          <p:nvPr/>
        </p:nvSpPr>
        <p:spPr>
          <a:xfrm>
            <a:off x="571500" y="5429250"/>
            <a:ext cx="11049000" cy="523875"/>
          </a:xfrm>
          <a:prstGeom prst="rect">
            <a:avLst/>
          </a:prstGeom>
          <a:noFill/>
          <a:ln w="0">
            <a:noFill/>
          </a:ln>
        </p:spPr>
        <p:txBody>
          <a:bodyPr>
            <a:noAutofit/>
          </a:bodyPr>
          <a:lstStyle/>
          <a:p>
            <a:pPr>
              <a:defRPr sz="2025" b="1">
                <a:solidFill>
                  <a:srgbClr val="1B4F8C"/>
                </a:solidFill>
                <a:latin typeface="Calibri"/>
                <a:ea typeface="Calibri"/>
                <a:cs typeface="Calibri"/>
              </a:defRPr>
            </a:pPr>
            <a:r>
              <a:rPr sz="2025" b="1">
                <a:solidFill>
                  <a:srgbClr val="1B4F8C"/>
                </a:solidFill>
                <a:latin typeface="Calibri"/>
                <a:ea typeface="Calibri"/>
                <a:cs typeface="Calibri"/>
              </a:rPr>
              <a:t>The effect applies to people whose participation the offer changes.</a:t>
            </a:r>
          </a:p>
        </p:txBody>
      </p:sp>
    </p:spTree>
    <p:extLst>
      <p:ext uri="{BB962C8B-B14F-4D97-AF65-F5344CB8AC3E}">
        <p14:creationId xmlns:p14="http://schemas.microsoft.com/office/powerpoint/2010/main" val="632366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8C166BA-F0A4-49BB-9D88-E70CB05A07FB}"/>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WHEN EXPERIMENTS GO WRONG</a:t>
            </a:r>
            <a:endParaRPr sz="1200"/>
          </a:p>
        </p:txBody>
      </p:sp>
      <p:sp>
        <p:nvSpPr>
          <p:cNvPr id="3" name="Text 1">
            <a:extLst>
              <a:ext uri="{FF2B5EF4-FFF2-40B4-BE49-F238E27FC236}">
                <a16:creationId xmlns:a16="http://schemas.microsoft.com/office/drawing/2014/main" id="{0805CDA0-9934-4873-ACDA-F741762C2D13}"/>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Other threats to watch for</a:t>
            </a:r>
            <a:endParaRPr sz="3000"/>
          </a:p>
        </p:txBody>
      </p:sp>
      <p:sp>
        <p:nvSpPr>
          <p:cNvPr id="4" name="Text 2">
            <a:extLst>
              <a:ext uri="{FF2B5EF4-FFF2-40B4-BE49-F238E27FC236}">
                <a16:creationId xmlns:a16="http://schemas.microsoft.com/office/drawing/2014/main" id="{68441098-22A2-4A8E-86AD-05F678C06EC0}"/>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33</a:t>
            </a:r>
            <a:endParaRPr sz="1000"/>
          </a:p>
        </p:txBody>
      </p:sp>
      <p:sp>
        <p:nvSpPr>
          <p:cNvPr id="5" name="Shape 3">
            <a:extLst>
              <a:ext uri="{FF2B5EF4-FFF2-40B4-BE49-F238E27FC236}">
                <a16:creationId xmlns:a16="http://schemas.microsoft.com/office/drawing/2014/main" id="{97336DE1-317A-4A4B-9603-020FC27FEA1E}"/>
              </a:ext>
            </a:extLst>
          </p:cNvPr>
          <p:cNvSpPr>
            <a:spLocks noGrp="1"/>
          </p:cNvSpPr>
          <p:nvPr/>
        </p:nvSpPr>
        <p:spPr>
          <a:xfrm>
            <a:off x="548640" y="1371600"/>
            <a:ext cx="5440680" cy="1965960"/>
          </a:xfrm>
          <a:prstGeom prst="roundRect">
            <a:avLst>
              <a:gd name="adj" fmla="val 4651"/>
            </a:avLst>
          </a:prstGeom>
          <a:solidFill>
            <a:srgbClr val="EEF3F8"/>
          </a:solidFill>
          <a:ln w="12700">
            <a:solidFill>
              <a:srgbClr val="EEF3F8"/>
            </a:solidFill>
            <a:prstDash val="solid"/>
          </a:ln>
        </p:spPr>
        <p:txBody>
          <a:bodyPr/>
          <a:lstStyle/>
          <a:p>
            <a:endParaRPr lang="en-US"/>
          </a:p>
        </p:txBody>
      </p:sp>
      <p:sp>
        <p:nvSpPr>
          <p:cNvPr id="6" name="Shape 4">
            <a:extLst>
              <a:ext uri="{FF2B5EF4-FFF2-40B4-BE49-F238E27FC236}">
                <a16:creationId xmlns:a16="http://schemas.microsoft.com/office/drawing/2014/main" id="{2D7CEA09-2B06-491B-A8F3-B366B8FF30B3}"/>
              </a:ext>
            </a:extLst>
          </p:cNvPr>
          <p:cNvSpPr>
            <a:spLocks noGrp="1"/>
          </p:cNvSpPr>
          <p:nvPr/>
        </p:nvSpPr>
        <p:spPr>
          <a:xfrm>
            <a:off x="822960" y="1645920"/>
            <a:ext cx="502920" cy="502920"/>
          </a:xfrm>
          <a:prstGeom prst="ellipse">
            <a:avLst/>
          </a:prstGeom>
          <a:solidFill>
            <a:srgbClr val="00274D"/>
          </a:solidFill>
          <a:ln w="12700">
            <a:solidFill>
              <a:srgbClr val="00274D"/>
            </a:solidFill>
            <a:prstDash val="solid"/>
          </a:ln>
        </p:spPr>
        <p:txBody>
          <a:bodyPr/>
          <a:lstStyle/>
          <a:p>
            <a:endParaRPr lang="en-US"/>
          </a:p>
        </p:txBody>
      </p:sp>
      <p:sp>
        <p:nvSpPr>
          <p:cNvPr id="7" name="Text 5">
            <a:extLst>
              <a:ext uri="{FF2B5EF4-FFF2-40B4-BE49-F238E27FC236}">
                <a16:creationId xmlns:a16="http://schemas.microsoft.com/office/drawing/2014/main" id="{5E0D1874-7852-4A9D-BE8A-37B091D21A36}"/>
              </a:ext>
            </a:extLst>
          </p:cNvPr>
          <p:cNvSpPr>
            <a:spLocks noGrp="1"/>
          </p:cNvSpPr>
          <p:nvPr/>
        </p:nvSpPr>
        <p:spPr>
          <a:xfrm>
            <a:off x="822960" y="164592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1</a:t>
            </a:r>
            <a:endParaRPr sz="1500"/>
          </a:p>
        </p:txBody>
      </p:sp>
      <p:sp>
        <p:nvSpPr>
          <p:cNvPr id="8" name="Text 6">
            <a:extLst>
              <a:ext uri="{FF2B5EF4-FFF2-40B4-BE49-F238E27FC236}">
                <a16:creationId xmlns:a16="http://schemas.microsoft.com/office/drawing/2014/main" id="{3D7C53FF-D61B-458D-93D5-FBF7FDB03F07}"/>
              </a:ext>
            </a:extLst>
          </p:cNvPr>
          <p:cNvSpPr>
            <a:spLocks noGrp="1"/>
          </p:cNvSpPr>
          <p:nvPr/>
        </p:nvSpPr>
        <p:spPr>
          <a:xfrm>
            <a:off x="1508760" y="162763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Attrition</a:t>
            </a:r>
            <a:endParaRPr sz="2000"/>
          </a:p>
        </p:txBody>
      </p:sp>
      <p:sp>
        <p:nvSpPr>
          <p:cNvPr id="9" name="Text 7">
            <a:extLst>
              <a:ext uri="{FF2B5EF4-FFF2-40B4-BE49-F238E27FC236}">
                <a16:creationId xmlns:a16="http://schemas.microsoft.com/office/drawing/2014/main" id="{C9DC510B-E2F7-45C7-941D-490CEC150489}"/>
              </a:ext>
            </a:extLst>
          </p:cNvPr>
          <p:cNvSpPr>
            <a:spLocks noGrp="1"/>
          </p:cNvSpPr>
          <p:nvPr/>
        </p:nvSpPr>
        <p:spPr>
          <a:xfrm>
            <a:off x="1508760" y="2240280"/>
            <a:ext cx="4206240" cy="100584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Missing outcomes can select unlike groups. Equal attrition rates also need scrutiny.</a:t>
            </a:r>
            <a:endParaRPr sz="1600"/>
          </a:p>
        </p:txBody>
      </p:sp>
      <p:sp>
        <p:nvSpPr>
          <p:cNvPr id="10" name="Shape 8">
            <a:extLst>
              <a:ext uri="{FF2B5EF4-FFF2-40B4-BE49-F238E27FC236}">
                <a16:creationId xmlns:a16="http://schemas.microsoft.com/office/drawing/2014/main" id="{3F0FD112-6370-40DC-BB78-8F7AE7239A3E}"/>
              </a:ext>
            </a:extLst>
          </p:cNvPr>
          <p:cNvSpPr>
            <a:spLocks noGrp="1"/>
          </p:cNvSpPr>
          <p:nvPr/>
        </p:nvSpPr>
        <p:spPr>
          <a:xfrm>
            <a:off x="6172200" y="1371600"/>
            <a:ext cx="5440680" cy="1965960"/>
          </a:xfrm>
          <a:prstGeom prst="roundRect">
            <a:avLst>
              <a:gd name="adj" fmla="val 4651"/>
            </a:avLst>
          </a:prstGeom>
          <a:solidFill>
            <a:srgbClr val="EEF3F8"/>
          </a:solidFill>
          <a:ln w="12700">
            <a:solidFill>
              <a:srgbClr val="EEF3F8"/>
            </a:solidFill>
            <a:prstDash val="solid"/>
          </a:ln>
        </p:spPr>
        <p:txBody>
          <a:bodyPr/>
          <a:lstStyle/>
          <a:p>
            <a:endParaRPr lang="en-US"/>
          </a:p>
        </p:txBody>
      </p:sp>
      <p:sp>
        <p:nvSpPr>
          <p:cNvPr id="11" name="Shape 9">
            <a:extLst>
              <a:ext uri="{FF2B5EF4-FFF2-40B4-BE49-F238E27FC236}">
                <a16:creationId xmlns:a16="http://schemas.microsoft.com/office/drawing/2014/main" id="{EE50EDF2-1FC8-4D8E-A56E-2D4DB4F43BD3}"/>
              </a:ext>
            </a:extLst>
          </p:cNvPr>
          <p:cNvSpPr>
            <a:spLocks noGrp="1"/>
          </p:cNvSpPr>
          <p:nvPr/>
        </p:nvSpPr>
        <p:spPr>
          <a:xfrm>
            <a:off x="6446520" y="1645920"/>
            <a:ext cx="502920" cy="502920"/>
          </a:xfrm>
          <a:prstGeom prst="ellipse">
            <a:avLst/>
          </a:prstGeom>
          <a:solidFill>
            <a:srgbClr val="1B4F8C"/>
          </a:solidFill>
          <a:ln w="12700">
            <a:solidFill>
              <a:srgbClr val="1B4F8C"/>
            </a:solidFill>
            <a:prstDash val="solid"/>
          </a:ln>
        </p:spPr>
        <p:txBody>
          <a:bodyPr/>
          <a:lstStyle/>
          <a:p>
            <a:endParaRPr lang="en-US"/>
          </a:p>
        </p:txBody>
      </p:sp>
      <p:sp>
        <p:nvSpPr>
          <p:cNvPr id="12" name="Text 10">
            <a:extLst>
              <a:ext uri="{FF2B5EF4-FFF2-40B4-BE49-F238E27FC236}">
                <a16:creationId xmlns:a16="http://schemas.microsoft.com/office/drawing/2014/main" id="{339ECC66-0194-4A7F-9B38-D06EF7A93BFF}"/>
              </a:ext>
            </a:extLst>
          </p:cNvPr>
          <p:cNvSpPr>
            <a:spLocks noGrp="1"/>
          </p:cNvSpPr>
          <p:nvPr/>
        </p:nvSpPr>
        <p:spPr>
          <a:xfrm>
            <a:off x="6446520" y="164592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2</a:t>
            </a:r>
            <a:endParaRPr sz="1500"/>
          </a:p>
        </p:txBody>
      </p:sp>
      <p:sp>
        <p:nvSpPr>
          <p:cNvPr id="13" name="Text 11">
            <a:extLst>
              <a:ext uri="{FF2B5EF4-FFF2-40B4-BE49-F238E27FC236}">
                <a16:creationId xmlns:a16="http://schemas.microsoft.com/office/drawing/2014/main" id="{7EB35DE3-78EA-4F30-B7BE-76793B9F146E}"/>
              </a:ext>
            </a:extLst>
          </p:cNvPr>
          <p:cNvSpPr>
            <a:spLocks noGrp="1"/>
          </p:cNvSpPr>
          <p:nvPr/>
        </p:nvSpPr>
        <p:spPr>
          <a:xfrm>
            <a:off x="7132320" y="162763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Interference / SUTVA</a:t>
            </a:r>
            <a:endParaRPr sz="2000"/>
          </a:p>
        </p:txBody>
      </p:sp>
      <p:sp>
        <p:nvSpPr>
          <p:cNvPr id="14" name="Text 12">
            <a:extLst>
              <a:ext uri="{FF2B5EF4-FFF2-40B4-BE49-F238E27FC236}">
                <a16:creationId xmlns:a16="http://schemas.microsoft.com/office/drawing/2014/main" id="{C2ACEA35-4A5B-4EB2-B8DC-6F9F1C554019}"/>
              </a:ext>
            </a:extLst>
          </p:cNvPr>
          <p:cNvSpPr>
            <a:spLocks noGrp="1"/>
          </p:cNvSpPr>
          <p:nvPr/>
        </p:nvSpPr>
        <p:spPr>
          <a:xfrm>
            <a:off x="7132320" y="2240280"/>
            <a:ext cx="4206240" cy="100584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One person’s outcome depends on others’ assignment. SUTVA also requires well-defined treatment versions.</a:t>
            </a:r>
            <a:endParaRPr sz="1600"/>
          </a:p>
        </p:txBody>
      </p:sp>
      <p:sp>
        <p:nvSpPr>
          <p:cNvPr id="15" name="Shape 13">
            <a:extLst>
              <a:ext uri="{FF2B5EF4-FFF2-40B4-BE49-F238E27FC236}">
                <a16:creationId xmlns:a16="http://schemas.microsoft.com/office/drawing/2014/main" id="{08C900FB-943F-4C4C-8F5A-3CA82F152950}"/>
              </a:ext>
            </a:extLst>
          </p:cNvPr>
          <p:cNvSpPr>
            <a:spLocks noGrp="1"/>
          </p:cNvSpPr>
          <p:nvPr/>
        </p:nvSpPr>
        <p:spPr>
          <a:xfrm>
            <a:off x="548640" y="3520440"/>
            <a:ext cx="5440680" cy="1965960"/>
          </a:xfrm>
          <a:prstGeom prst="roundRect">
            <a:avLst>
              <a:gd name="adj" fmla="val 4651"/>
            </a:avLst>
          </a:prstGeom>
          <a:solidFill>
            <a:srgbClr val="EEF3F8"/>
          </a:solidFill>
          <a:ln w="12700">
            <a:solidFill>
              <a:srgbClr val="EEF3F8"/>
            </a:solidFill>
            <a:prstDash val="solid"/>
          </a:ln>
        </p:spPr>
        <p:txBody>
          <a:bodyPr/>
          <a:lstStyle/>
          <a:p>
            <a:endParaRPr lang="en-US"/>
          </a:p>
        </p:txBody>
      </p:sp>
      <p:sp>
        <p:nvSpPr>
          <p:cNvPr id="16" name="Shape 14">
            <a:extLst>
              <a:ext uri="{FF2B5EF4-FFF2-40B4-BE49-F238E27FC236}">
                <a16:creationId xmlns:a16="http://schemas.microsoft.com/office/drawing/2014/main" id="{1B22EC04-E9E7-4587-BD82-9A54CAD53ECB}"/>
              </a:ext>
            </a:extLst>
          </p:cNvPr>
          <p:cNvSpPr>
            <a:spLocks noGrp="1"/>
          </p:cNvSpPr>
          <p:nvPr/>
        </p:nvSpPr>
        <p:spPr>
          <a:xfrm>
            <a:off x="822960" y="3794760"/>
            <a:ext cx="502920" cy="502920"/>
          </a:xfrm>
          <a:prstGeom prst="ellipse">
            <a:avLst/>
          </a:prstGeom>
          <a:solidFill>
            <a:srgbClr val="00274D"/>
          </a:solidFill>
          <a:ln w="12700">
            <a:solidFill>
              <a:srgbClr val="00274D"/>
            </a:solidFill>
            <a:prstDash val="solid"/>
          </a:ln>
        </p:spPr>
        <p:txBody>
          <a:bodyPr/>
          <a:lstStyle/>
          <a:p>
            <a:endParaRPr lang="en-US"/>
          </a:p>
        </p:txBody>
      </p:sp>
      <p:sp>
        <p:nvSpPr>
          <p:cNvPr id="17" name="Text 15">
            <a:extLst>
              <a:ext uri="{FF2B5EF4-FFF2-40B4-BE49-F238E27FC236}">
                <a16:creationId xmlns:a16="http://schemas.microsoft.com/office/drawing/2014/main" id="{E9E81571-7DF7-4B71-A874-193A5849CAB8}"/>
              </a:ext>
            </a:extLst>
          </p:cNvPr>
          <p:cNvSpPr>
            <a:spLocks noGrp="1"/>
          </p:cNvSpPr>
          <p:nvPr/>
        </p:nvSpPr>
        <p:spPr>
          <a:xfrm>
            <a:off x="822960" y="37947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3</a:t>
            </a:r>
            <a:endParaRPr sz="1500"/>
          </a:p>
        </p:txBody>
      </p:sp>
      <p:sp>
        <p:nvSpPr>
          <p:cNvPr id="18" name="Text 16">
            <a:extLst>
              <a:ext uri="{FF2B5EF4-FFF2-40B4-BE49-F238E27FC236}">
                <a16:creationId xmlns:a16="http://schemas.microsoft.com/office/drawing/2014/main" id="{9C228167-5FCA-44D3-9D2B-FF04117350C8}"/>
              </a:ext>
            </a:extLst>
          </p:cNvPr>
          <p:cNvSpPr>
            <a:spLocks noGrp="1"/>
          </p:cNvSpPr>
          <p:nvPr/>
        </p:nvSpPr>
        <p:spPr>
          <a:xfrm>
            <a:off x="1508760" y="377647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Hawthorne effects</a:t>
            </a:r>
            <a:endParaRPr sz="2000"/>
          </a:p>
        </p:txBody>
      </p:sp>
      <p:sp>
        <p:nvSpPr>
          <p:cNvPr id="19" name="Text 17">
            <a:extLst>
              <a:ext uri="{FF2B5EF4-FFF2-40B4-BE49-F238E27FC236}">
                <a16:creationId xmlns:a16="http://schemas.microsoft.com/office/drawing/2014/main" id="{905A101D-FFEE-429D-B263-4C231FAF1E26}"/>
              </a:ext>
            </a:extLst>
          </p:cNvPr>
          <p:cNvSpPr>
            <a:spLocks noGrp="1"/>
          </p:cNvSpPr>
          <p:nvPr/>
        </p:nvSpPr>
        <p:spPr>
          <a:xfrm>
            <a:off x="1508760" y="4389120"/>
            <a:ext cx="4206240" cy="100584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Being studied changes behavior. GGL made this an arm of the experiment.</a:t>
            </a:r>
            <a:endParaRPr sz="1600"/>
          </a:p>
        </p:txBody>
      </p:sp>
      <p:sp>
        <p:nvSpPr>
          <p:cNvPr id="20" name="Shape 18">
            <a:extLst>
              <a:ext uri="{FF2B5EF4-FFF2-40B4-BE49-F238E27FC236}">
                <a16:creationId xmlns:a16="http://schemas.microsoft.com/office/drawing/2014/main" id="{5B50CF46-00F0-486B-A35F-FD0F6E5FE5C6}"/>
              </a:ext>
            </a:extLst>
          </p:cNvPr>
          <p:cNvSpPr>
            <a:spLocks noGrp="1"/>
          </p:cNvSpPr>
          <p:nvPr/>
        </p:nvSpPr>
        <p:spPr>
          <a:xfrm>
            <a:off x="6172200" y="3520440"/>
            <a:ext cx="5440680" cy="1965960"/>
          </a:xfrm>
          <a:prstGeom prst="roundRect">
            <a:avLst>
              <a:gd name="adj" fmla="val 4651"/>
            </a:avLst>
          </a:prstGeom>
          <a:solidFill>
            <a:srgbClr val="EEF3F8"/>
          </a:solidFill>
          <a:ln w="12700">
            <a:solidFill>
              <a:srgbClr val="EEF3F8"/>
            </a:solidFill>
            <a:prstDash val="solid"/>
          </a:ln>
        </p:spPr>
        <p:txBody>
          <a:bodyPr/>
          <a:lstStyle/>
          <a:p>
            <a:endParaRPr lang="en-US"/>
          </a:p>
        </p:txBody>
      </p:sp>
      <p:sp>
        <p:nvSpPr>
          <p:cNvPr id="21" name="Shape 19">
            <a:extLst>
              <a:ext uri="{FF2B5EF4-FFF2-40B4-BE49-F238E27FC236}">
                <a16:creationId xmlns:a16="http://schemas.microsoft.com/office/drawing/2014/main" id="{B62E7DFB-C0FC-4261-B955-EE9C64C81902}"/>
              </a:ext>
            </a:extLst>
          </p:cNvPr>
          <p:cNvSpPr>
            <a:spLocks noGrp="1"/>
          </p:cNvSpPr>
          <p:nvPr/>
        </p:nvSpPr>
        <p:spPr>
          <a:xfrm>
            <a:off x="6446520" y="3794760"/>
            <a:ext cx="502920" cy="502920"/>
          </a:xfrm>
          <a:prstGeom prst="ellipse">
            <a:avLst/>
          </a:prstGeom>
          <a:solidFill>
            <a:srgbClr val="1B4F8C"/>
          </a:solidFill>
          <a:ln w="12700">
            <a:solidFill>
              <a:srgbClr val="1B4F8C"/>
            </a:solidFill>
            <a:prstDash val="solid"/>
          </a:ln>
        </p:spPr>
        <p:txBody>
          <a:bodyPr/>
          <a:lstStyle/>
          <a:p>
            <a:endParaRPr lang="en-US"/>
          </a:p>
        </p:txBody>
      </p:sp>
      <p:sp>
        <p:nvSpPr>
          <p:cNvPr id="22" name="Text 20">
            <a:extLst>
              <a:ext uri="{FF2B5EF4-FFF2-40B4-BE49-F238E27FC236}">
                <a16:creationId xmlns:a16="http://schemas.microsoft.com/office/drawing/2014/main" id="{6626560F-A319-4512-A5B3-6AF78625DABA}"/>
              </a:ext>
            </a:extLst>
          </p:cNvPr>
          <p:cNvSpPr>
            <a:spLocks noGrp="1"/>
          </p:cNvSpPr>
          <p:nvPr/>
        </p:nvSpPr>
        <p:spPr>
          <a:xfrm>
            <a:off x="6446520" y="3794760"/>
            <a:ext cx="502920" cy="50292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4</a:t>
            </a:r>
            <a:endParaRPr sz="1500"/>
          </a:p>
        </p:txBody>
      </p:sp>
      <p:sp>
        <p:nvSpPr>
          <p:cNvPr id="23" name="Text 21">
            <a:extLst>
              <a:ext uri="{FF2B5EF4-FFF2-40B4-BE49-F238E27FC236}">
                <a16:creationId xmlns:a16="http://schemas.microsoft.com/office/drawing/2014/main" id="{517C60B7-04CA-4998-9F41-EA022ECAD969}"/>
              </a:ext>
            </a:extLst>
          </p:cNvPr>
          <p:cNvSpPr>
            <a:spLocks noGrp="1"/>
          </p:cNvSpPr>
          <p:nvPr/>
        </p:nvSpPr>
        <p:spPr>
          <a:xfrm>
            <a:off x="7132320" y="3776472"/>
            <a:ext cx="4206240" cy="548640"/>
          </a:xfrm>
          <a:prstGeom prst="rect">
            <a:avLst/>
          </a:prstGeom>
          <a:noFill/>
        </p:spPr>
        <p:txBody>
          <a:bodyPr wrap="square" lIns="0" tIns="0" rIns="0" bIns="0" anchor="ctr"/>
          <a:lstStyle/>
          <a:p>
            <a:pPr marL="0" indent="0">
              <a:buNone/>
            </a:pPr>
            <a:r>
              <a:rPr sz="2000" b="1">
                <a:solidFill>
                  <a:srgbClr val="00274D"/>
                </a:solidFill>
                <a:latin typeface="Cambria"/>
                <a:ea typeface="Cambria"/>
                <a:cs typeface="Cambria"/>
              </a:rPr>
              <a:t>Ethics &amp; feasibility</a:t>
            </a:r>
            <a:endParaRPr sz="2000"/>
          </a:p>
        </p:txBody>
      </p:sp>
      <p:sp>
        <p:nvSpPr>
          <p:cNvPr id="24" name="Text 22">
            <a:extLst>
              <a:ext uri="{FF2B5EF4-FFF2-40B4-BE49-F238E27FC236}">
                <a16:creationId xmlns:a16="http://schemas.microsoft.com/office/drawing/2014/main" id="{A3355383-9F46-49E7-BA26-E7B599F80267}"/>
              </a:ext>
            </a:extLst>
          </p:cNvPr>
          <p:cNvSpPr>
            <a:spLocks noGrp="1"/>
          </p:cNvSpPr>
          <p:nvPr/>
        </p:nvSpPr>
        <p:spPr>
          <a:xfrm>
            <a:off x="7132320" y="4389120"/>
            <a:ext cx="4206240" cy="100584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Many treatments cannot be withheld or assigned: incarceration, eviction, exposure to violence.</a:t>
            </a:r>
            <a:endParaRPr sz="1600"/>
          </a:p>
        </p:txBody>
      </p:sp>
    </p:spTree>
    <p:extLst>
      <p:ext uri="{BB962C8B-B14F-4D97-AF65-F5344CB8AC3E}">
        <p14:creationId xmlns:p14="http://schemas.microsoft.com/office/powerpoint/2010/main" val="1550161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1ED9DA-3593-4F53-8B10-E87024F0FB4F}"/>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INTERNAL VS. EXTERNAL VALIDITY</a:t>
            </a:r>
            <a:endParaRPr sz="1200"/>
          </a:p>
        </p:txBody>
      </p:sp>
      <p:sp>
        <p:nvSpPr>
          <p:cNvPr id="3" name="Text 1">
            <a:extLst>
              <a:ext uri="{FF2B5EF4-FFF2-40B4-BE49-F238E27FC236}">
                <a16:creationId xmlns:a16="http://schemas.microsoft.com/office/drawing/2014/main" id="{4A2DA541-571D-41AB-906E-0F16B871C35C}"/>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A clean answer to a narrow question</a:t>
            </a:r>
            <a:endParaRPr sz="3000"/>
          </a:p>
        </p:txBody>
      </p:sp>
      <p:sp>
        <p:nvSpPr>
          <p:cNvPr id="4" name="Text 2">
            <a:extLst>
              <a:ext uri="{FF2B5EF4-FFF2-40B4-BE49-F238E27FC236}">
                <a16:creationId xmlns:a16="http://schemas.microsoft.com/office/drawing/2014/main" id="{E64FE823-160E-46B7-831C-F72832559A46}"/>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34</a:t>
            </a:r>
            <a:endParaRPr sz="1000"/>
          </a:p>
        </p:txBody>
      </p:sp>
      <p:sp>
        <p:nvSpPr>
          <p:cNvPr id="5" name="Shape 3">
            <a:extLst>
              <a:ext uri="{FF2B5EF4-FFF2-40B4-BE49-F238E27FC236}">
                <a16:creationId xmlns:a16="http://schemas.microsoft.com/office/drawing/2014/main" id="{86E11F5B-78FF-4F43-862E-17BA88D78B52}"/>
              </a:ext>
            </a:extLst>
          </p:cNvPr>
          <p:cNvSpPr>
            <a:spLocks noGrp="1"/>
          </p:cNvSpPr>
          <p:nvPr/>
        </p:nvSpPr>
        <p:spPr>
          <a:xfrm>
            <a:off x="548640" y="1554480"/>
            <a:ext cx="5394960" cy="3291840"/>
          </a:xfrm>
          <a:prstGeom prst="roundRect">
            <a:avLst>
              <a:gd name="adj" fmla="val 2778"/>
            </a:avLst>
          </a:prstGeom>
          <a:solidFill>
            <a:srgbClr val="E8F5EC"/>
          </a:solidFill>
          <a:ln w="12700">
            <a:solidFill>
              <a:srgbClr val="E8F5EC"/>
            </a:solidFill>
            <a:prstDash val="solid"/>
          </a:ln>
        </p:spPr>
        <p:txBody>
          <a:bodyPr/>
          <a:lstStyle/>
          <a:p>
            <a:endParaRPr lang="en-US"/>
          </a:p>
        </p:txBody>
      </p:sp>
      <p:sp>
        <p:nvSpPr>
          <p:cNvPr id="6" name="Shape 4">
            <a:extLst>
              <a:ext uri="{FF2B5EF4-FFF2-40B4-BE49-F238E27FC236}">
                <a16:creationId xmlns:a16="http://schemas.microsoft.com/office/drawing/2014/main" id="{78F2F195-12D4-4526-B97A-7845FCBA8C22}"/>
              </a:ext>
            </a:extLst>
          </p:cNvPr>
          <p:cNvSpPr>
            <a:spLocks noGrp="1"/>
          </p:cNvSpPr>
          <p:nvPr/>
        </p:nvSpPr>
        <p:spPr>
          <a:xfrm>
            <a:off x="6217920" y="1554480"/>
            <a:ext cx="5394960" cy="3291840"/>
          </a:xfrm>
          <a:prstGeom prst="roundRect">
            <a:avLst>
              <a:gd name="adj" fmla="val 2778"/>
            </a:avLst>
          </a:prstGeom>
          <a:solidFill>
            <a:srgbClr val="FBEAE7"/>
          </a:solidFill>
          <a:ln w="12700">
            <a:solidFill>
              <a:srgbClr val="FBEAE7"/>
            </a:solidFill>
            <a:prstDash val="solid"/>
          </a:ln>
        </p:spPr>
        <p:txBody>
          <a:bodyPr/>
          <a:lstStyle/>
          <a:p>
            <a:endParaRPr lang="en-US"/>
          </a:p>
        </p:txBody>
      </p:sp>
      <p:sp>
        <p:nvSpPr>
          <p:cNvPr id="7" name="Text 5">
            <a:extLst>
              <a:ext uri="{FF2B5EF4-FFF2-40B4-BE49-F238E27FC236}">
                <a16:creationId xmlns:a16="http://schemas.microsoft.com/office/drawing/2014/main" id="{3DDD10A3-883E-4798-ADED-2AE2BEA8111C}"/>
              </a:ext>
            </a:extLst>
          </p:cNvPr>
          <p:cNvSpPr>
            <a:spLocks noGrp="1"/>
          </p:cNvSpPr>
          <p:nvPr/>
        </p:nvSpPr>
        <p:spPr>
          <a:xfrm>
            <a:off x="822960" y="1737360"/>
            <a:ext cx="4846320" cy="2926080"/>
          </a:xfrm>
          <a:prstGeom prst="rect">
            <a:avLst/>
          </a:prstGeom>
          <a:noFill/>
        </p:spPr>
        <p:txBody>
          <a:bodyPr wrap="square" lIns="0" tIns="0" rIns="0" bIns="0" anchor="t"/>
          <a:lstStyle/>
          <a:p>
            <a:pPr marL="0" indent="0">
              <a:buNone/>
            </a:pPr>
            <a:r>
              <a:rPr sz="2200" b="1">
                <a:solidFill>
                  <a:srgbClr val="1E7A46"/>
                </a:solidFill>
                <a:latin typeface="Cambria"/>
                <a:ea typeface="Cambria"/>
                <a:cs typeface="Cambria"/>
              </a:rPr>
              <a:t>Internal validity</a:t>
            </a:r>
            <a:endParaRPr sz="1700"/>
          </a:p>
          <a:p>
            <a:pPr marL="0" indent="0">
              <a:buNone/>
            </a:pPr>
            <a:r>
              <a:rPr sz="1700">
                <a:solidFill>
                  <a:srgbClr val="1A1A2E"/>
                </a:solidFill>
                <a:latin typeface="Calibri"/>
                <a:ea typeface="Calibri"/>
                <a:cs typeface="Calibri"/>
              </a:rPr>
              <a:t>Is the effect real for these units, in this setting? </a:t>
            </a:r>
            <a:endParaRPr sz="1700"/>
          </a:p>
          <a:p>
            <a:pPr marL="0" indent="0">
              <a:buNone/>
            </a:pPr>
            <a:r>
              <a:rPr sz="800">
                <a:solidFill>
                  <a:srgbClr val="1A1A2E"/>
                </a:solidFill>
                <a:latin typeface="Calibri"/>
                <a:ea typeface="Calibri"/>
                <a:cs typeface="Calibri"/>
              </a:rPr>
              <a:t> </a:t>
            </a:r>
            <a:endParaRPr sz="1700"/>
          </a:p>
          <a:p>
            <a:pPr marL="0" indent="0">
              <a:buNone/>
            </a:pPr>
            <a:r>
              <a:rPr sz="1700">
                <a:solidFill>
                  <a:srgbClr val="1A1A2E"/>
                </a:solidFill>
                <a:latin typeface="Calibri"/>
                <a:ea typeface="Calibri"/>
                <a:cs typeface="Calibri"/>
              </a:rPr>
              <a:t>Randomization is built to deliver this.</a:t>
            </a:r>
            <a:endParaRPr sz="1700"/>
          </a:p>
        </p:txBody>
      </p:sp>
      <p:sp>
        <p:nvSpPr>
          <p:cNvPr id="8" name="Text 6">
            <a:extLst>
              <a:ext uri="{FF2B5EF4-FFF2-40B4-BE49-F238E27FC236}">
                <a16:creationId xmlns:a16="http://schemas.microsoft.com/office/drawing/2014/main" id="{D5189553-25C6-4A09-948A-F360C6FF1159}"/>
              </a:ext>
            </a:extLst>
          </p:cNvPr>
          <p:cNvSpPr>
            <a:spLocks noGrp="1"/>
          </p:cNvSpPr>
          <p:nvPr/>
        </p:nvSpPr>
        <p:spPr>
          <a:xfrm>
            <a:off x="6492240" y="1737360"/>
            <a:ext cx="4846320" cy="2926080"/>
          </a:xfrm>
          <a:prstGeom prst="rect">
            <a:avLst/>
          </a:prstGeom>
          <a:noFill/>
        </p:spPr>
        <p:txBody>
          <a:bodyPr wrap="square" lIns="0" tIns="0" rIns="0" bIns="0" anchor="t"/>
          <a:lstStyle/>
          <a:p>
            <a:pPr marL="0" indent="0">
              <a:buNone/>
            </a:pPr>
            <a:r>
              <a:rPr sz="2200" b="1">
                <a:solidFill>
                  <a:srgbClr val="A13A2F"/>
                </a:solidFill>
                <a:latin typeface="Cambria"/>
                <a:ea typeface="Cambria"/>
                <a:cs typeface="Cambria"/>
              </a:rPr>
              <a:t>External validity</a:t>
            </a:r>
            <a:endParaRPr sz="1700"/>
          </a:p>
          <a:p>
            <a:pPr marL="0" indent="0">
              <a:buNone/>
            </a:pPr>
            <a:r>
              <a:rPr sz="1700">
                <a:solidFill>
                  <a:srgbClr val="1A1A2E"/>
                </a:solidFill>
                <a:latin typeface="Calibri"/>
                <a:ea typeface="Calibri"/>
                <a:cs typeface="Calibri"/>
              </a:rPr>
              <a:t>Would it hold elsewhere? A 2006 Michigan primary is not a presidential election; Indian village councils are not U.S. city councils.</a:t>
            </a:r>
            <a:endParaRPr sz="1700"/>
          </a:p>
          <a:p>
            <a:pPr marL="0" indent="0">
              <a:buNone/>
            </a:pPr>
            <a:r>
              <a:rPr sz="800">
                <a:solidFill>
                  <a:srgbClr val="1A1A2E"/>
                </a:solidFill>
                <a:latin typeface="Calibri"/>
                <a:ea typeface="Calibri"/>
                <a:cs typeface="Calibri"/>
              </a:rPr>
              <a:t> </a:t>
            </a:r>
            <a:endParaRPr sz="1700"/>
          </a:p>
          <a:p>
            <a:pPr marL="0" indent="0">
              <a:buNone/>
            </a:pPr>
            <a:r>
              <a:rPr sz="1700">
                <a:solidFill>
                  <a:srgbClr val="1A1A2E"/>
                </a:solidFill>
                <a:latin typeface="Calibri"/>
                <a:ea typeface="Calibri"/>
                <a:cs typeface="Calibri"/>
              </a:rPr>
              <a:t>Random assignment alone does not establish generalizability.</a:t>
            </a:r>
            <a:endParaRPr sz="1700"/>
          </a:p>
        </p:txBody>
      </p:sp>
      <p:sp>
        <p:nvSpPr>
          <p:cNvPr id="9" name="Text 7">
            <a:extLst>
              <a:ext uri="{FF2B5EF4-FFF2-40B4-BE49-F238E27FC236}">
                <a16:creationId xmlns:a16="http://schemas.microsoft.com/office/drawing/2014/main" id="{89522675-16F2-434A-902B-D0F0B1A29641}"/>
              </a:ext>
            </a:extLst>
          </p:cNvPr>
          <p:cNvSpPr>
            <a:spLocks noGrp="1"/>
          </p:cNvSpPr>
          <p:nvPr/>
        </p:nvSpPr>
        <p:spPr>
          <a:xfrm>
            <a:off x="548640" y="5074920"/>
            <a:ext cx="11064240" cy="548640"/>
          </a:xfrm>
          <a:prstGeom prst="rect">
            <a:avLst/>
          </a:prstGeom>
          <a:noFill/>
        </p:spPr>
        <p:txBody>
          <a:bodyPr wrap="square" lIns="0" tIns="0" rIns="0" bIns="0" anchor="t"/>
          <a:lstStyle/>
          <a:p>
            <a:pPr marL="0" indent="0">
              <a:buNone/>
            </a:pPr>
            <a:r>
              <a:rPr sz="1600" i="1">
                <a:solidFill>
                  <a:srgbClr val="5B6178"/>
                </a:solidFill>
                <a:latin typeface="Calibri"/>
                <a:ea typeface="Calibri"/>
                <a:cs typeface="Calibri"/>
              </a:rPr>
              <a:t>Low-salience primaries have low baseline turnout, which may be exactly why social pressure moved it so much.</a:t>
            </a:r>
            <a:endParaRPr sz="1600"/>
          </a:p>
        </p:txBody>
      </p:sp>
    </p:spTree>
    <p:extLst>
      <p:ext uri="{BB962C8B-B14F-4D97-AF65-F5344CB8AC3E}">
        <p14:creationId xmlns:p14="http://schemas.microsoft.com/office/powerpoint/2010/main" val="4682981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CD2840D-0347-4C7B-8EB4-E07173FD127F}"/>
              </a:ext>
            </a:extLst>
          </p:cNvPr>
          <p:cNvSpPr>
            <a:spLocks noGrp="1"/>
          </p:cNvSpPr>
          <p:nvPr/>
        </p:nvSpPr>
        <p:spPr>
          <a:xfrm>
            <a:off x="548640" y="320040"/>
            <a:ext cx="9525000" cy="320040"/>
          </a:xfrm>
          <a:prstGeom prst="rect">
            <a:avLst/>
          </a:prstGeom>
          <a:noFill/>
          <a:ln w="0">
            <a:noFill/>
          </a:ln>
        </p:spPr>
        <p:txBody>
          <a:bodyPr>
            <a:noAutofit/>
          </a:bodyPr>
          <a:lstStyle/>
          <a:p>
            <a:pPr>
              <a:defRPr sz="1200" b="1">
                <a:solidFill>
                  <a:srgbClr val="1B4F8C"/>
                </a:solidFill>
                <a:latin typeface="Calibri"/>
                <a:ea typeface="Calibri"/>
                <a:cs typeface="Calibri"/>
              </a:defRPr>
            </a:pPr>
            <a:r>
              <a:rPr sz="1200" b="1">
                <a:solidFill>
                  <a:srgbClr val="1B4F8C"/>
                </a:solidFill>
                <a:latin typeface="Calibri"/>
                <a:ea typeface="Calibri"/>
                <a:cs typeface="Calibri"/>
              </a:rPr>
              <a:t>ROSENBAUM</a:t>
            </a:r>
          </a:p>
        </p:txBody>
      </p:sp>
      <p:sp>
        <p:nvSpPr>
          <p:cNvPr id="2" name="Rectangle 1">
            <a:extLst>
              <a:ext uri="{FF2B5EF4-FFF2-40B4-BE49-F238E27FC236}">
                <a16:creationId xmlns:a16="http://schemas.microsoft.com/office/drawing/2014/main" id="{A446DEA6-DB80-4D23-94DD-2E30998490FF}"/>
              </a:ext>
            </a:extLst>
          </p:cNvPr>
          <p:cNvSpPr>
            <a:spLocks noGrp="1"/>
          </p:cNvSpPr>
          <p:nvPr/>
        </p:nvSpPr>
        <p:spPr>
          <a:xfrm>
            <a:off x="548640" y="685800"/>
            <a:ext cx="11058525" cy="723900"/>
          </a:xfrm>
          <a:prstGeom prst="rect">
            <a:avLst/>
          </a:prstGeom>
          <a:noFill/>
          <a:ln w="0">
            <a:noFill/>
          </a:ln>
        </p:spPr>
        <p:txBody>
          <a:bodyPr>
            <a:noAutofit/>
          </a:bodyPr>
          <a:lstStyle/>
          <a:p>
            <a:pPr>
              <a:defRPr sz="3000" b="1">
                <a:solidFill>
                  <a:srgbClr val="00274D"/>
                </a:solidFill>
                <a:latin typeface="Cambria"/>
                <a:ea typeface="Cambria"/>
                <a:cs typeface="Cambria"/>
              </a:defRPr>
            </a:pPr>
            <a:r>
              <a:rPr sz="3000" b="1">
                <a:solidFill>
                  <a:srgbClr val="00274D"/>
                </a:solidFill>
                <a:latin typeface="Cambria"/>
                <a:ea typeface="Cambria"/>
                <a:cs typeface="Cambria"/>
              </a:rPr>
              <a:t>Experiments and observational comparisons</a:t>
            </a:r>
          </a:p>
        </p:txBody>
      </p:sp>
      <p:sp>
        <p:nvSpPr>
          <p:cNvPr id="3" name="Rectangle 2">
            <a:extLst>
              <a:ext uri="{FF2B5EF4-FFF2-40B4-BE49-F238E27FC236}">
                <a16:creationId xmlns:a16="http://schemas.microsoft.com/office/drawing/2014/main" id="{BCC59E3A-DB13-4501-8B7F-DE661778C193}"/>
              </a:ext>
            </a:extLst>
          </p:cNvPr>
          <p:cNvSpPr>
            <a:spLocks noGrp="1"/>
          </p:cNvSpPr>
          <p:nvPr/>
        </p:nvSpPr>
        <p:spPr>
          <a:xfrm>
            <a:off x="548640" y="6038850"/>
            <a:ext cx="11058525" cy="285750"/>
          </a:xfrm>
          <a:prstGeom prst="rect">
            <a:avLst/>
          </a:prstGeom>
          <a:noFill/>
          <a:ln w="0">
            <a:noFill/>
          </a:ln>
        </p:spPr>
        <p:txBody>
          <a:bodyPr>
            <a:noAutofit/>
          </a:bodyPr>
          <a:lstStyle/>
          <a:p>
            <a:pPr>
              <a:defRPr sz="1275" b="0">
                <a:solidFill>
                  <a:srgbClr val="5B6178"/>
                </a:solidFill>
                <a:latin typeface="Calibri"/>
                <a:ea typeface="Calibri"/>
                <a:cs typeface="Calibri"/>
              </a:defRPr>
            </a:pPr>
            <a:r>
              <a:rPr sz="1275" b="0">
                <a:solidFill>
                  <a:srgbClr val="5B6178"/>
                </a:solidFill>
                <a:latin typeface="Calibri"/>
                <a:ea typeface="Calibri"/>
                <a:cs typeface="Calibri"/>
              </a:rPr>
              <a:t>Rosenbaum (2023), ch. 3, pp. 47–65 and ch. 7, pp. 117–120, 146–148</a:t>
            </a:r>
          </a:p>
        </p:txBody>
      </p:sp>
      <p:sp>
        <p:nvSpPr>
          <p:cNvPr id="4" name="Rectangle 3">
            <a:extLst>
              <a:ext uri="{FF2B5EF4-FFF2-40B4-BE49-F238E27FC236}">
                <a16:creationId xmlns:a16="http://schemas.microsoft.com/office/drawing/2014/main" id="{720BE122-98CE-4C34-A6FA-B25E9E36ADEC}"/>
              </a:ext>
            </a:extLst>
          </p:cNvPr>
          <p:cNvSpPr>
            <a:spLocks noGrp="1"/>
          </p:cNvSpPr>
          <p:nvPr/>
        </p:nvSpPr>
        <p:spPr>
          <a:xfrm>
            <a:off x="548640" y="6400800"/>
            <a:ext cx="6667500" cy="276225"/>
          </a:xfrm>
          <a:prstGeom prst="rect">
            <a:avLst/>
          </a:prstGeom>
          <a:noFill/>
          <a:ln w="0">
            <a:noFill/>
          </a:ln>
        </p:spPr>
        <p:txBody>
          <a:bodyPr>
            <a:noAutofit/>
          </a:bodyPr>
          <a:lstStyle/>
          <a:p>
            <a:pPr>
              <a:defRPr sz="1000" b="0">
                <a:solidFill>
                  <a:srgbClr val="5B6178"/>
                </a:solidFill>
                <a:latin typeface="Calibri"/>
                <a:ea typeface="Calibri"/>
                <a:cs typeface="Calibri"/>
              </a:defRPr>
            </a:pPr>
            <a:r>
              <a:rPr sz="1000" b="0">
                <a:solidFill>
                  <a:srgbClr val="5B6178"/>
                </a:solidFill>
                <a:latin typeface="Calibri"/>
                <a:ea typeface="Calibri"/>
                <a:cs typeface="Calibri"/>
              </a:rPr>
              <a:t>Week 4 · Randomized Controlled Trials  |  35</a:t>
            </a:r>
          </a:p>
        </p:txBody>
      </p:sp>
      <p:sp>
        <p:nvSpPr>
          <p:cNvPr id="5" name="Rectangle 4">
            <a:extLst>
              <a:ext uri="{FF2B5EF4-FFF2-40B4-BE49-F238E27FC236}">
                <a16:creationId xmlns:a16="http://schemas.microsoft.com/office/drawing/2014/main" id="{FF791428-387A-4D96-AA92-57A2132EA372}"/>
              </a:ext>
            </a:extLst>
          </p:cNvPr>
          <p:cNvSpPr>
            <a:spLocks noGrp="1"/>
          </p:cNvSpPr>
          <p:nvPr/>
        </p:nvSpPr>
        <p:spPr>
          <a:xfrm>
            <a:off x="571500" y="1666875"/>
            <a:ext cx="4095750" cy="457200"/>
          </a:xfrm>
          <a:prstGeom prst="rect">
            <a:avLst/>
          </a:prstGeom>
          <a:noFill/>
          <a:ln w="0">
            <a:noFill/>
          </a:ln>
        </p:spPr>
        <p:txBody>
          <a:bodyPr>
            <a:noAutofit/>
          </a:bodyPr>
          <a:lstStyle/>
          <a:p>
            <a:pPr>
              <a:defRPr sz="2325" b="1">
                <a:solidFill>
                  <a:srgbClr val="00274D"/>
                </a:solidFill>
                <a:latin typeface="Calibri"/>
                <a:ea typeface="Calibri"/>
                <a:cs typeface="Calibri"/>
              </a:defRPr>
            </a:pPr>
            <a:r>
              <a:rPr sz="2325" b="1">
                <a:solidFill>
                  <a:srgbClr val="00274D"/>
                </a:solidFill>
                <a:latin typeface="Calibri"/>
                <a:ea typeface="Calibri"/>
                <a:cs typeface="Calibri"/>
              </a:rPr>
              <a:t>Researcher-run RCT</a:t>
            </a:r>
          </a:p>
        </p:txBody>
      </p:sp>
      <p:sp>
        <p:nvSpPr>
          <p:cNvPr id="6" name="Rectangle 5">
            <a:extLst>
              <a:ext uri="{FF2B5EF4-FFF2-40B4-BE49-F238E27FC236}">
                <a16:creationId xmlns:a16="http://schemas.microsoft.com/office/drawing/2014/main" id="{56A30972-5F05-4396-9D7D-146C3B76BCAF}"/>
              </a:ext>
            </a:extLst>
          </p:cNvPr>
          <p:cNvSpPr>
            <a:spLocks noGrp="1"/>
          </p:cNvSpPr>
          <p:nvPr/>
        </p:nvSpPr>
        <p:spPr>
          <a:xfrm>
            <a:off x="4953000" y="1666875"/>
            <a:ext cx="6572250" cy="762000"/>
          </a:xfrm>
          <a:prstGeom prst="rect">
            <a:avLst/>
          </a:prstGeom>
          <a:noFill/>
          <a:ln w="0">
            <a:noFill/>
          </a:ln>
        </p:spPr>
        <p:txBody>
          <a:bodyPr>
            <a:noAutofit/>
          </a:bodyPr>
          <a:lstStyle/>
          <a:p>
            <a:pPr>
              <a:defRPr sz="2100" b="0">
                <a:solidFill>
                  <a:srgbClr val="1A1A2E"/>
                </a:solidFill>
                <a:latin typeface="Calibri"/>
                <a:ea typeface="Calibri"/>
                <a:cs typeface="Calibri"/>
              </a:defRPr>
            </a:pPr>
            <a:r>
              <a:rPr sz="2100" b="0">
                <a:solidFill>
                  <a:srgbClr val="1A1A2E"/>
                </a:solidFill>
                <a:latin typeface="Calibri"/>
                <a:ea typeface="Calibri"/>
                <a:cs typeface="Calibri"/>
              </a:rPr>
              <a:t>The study assigns treatment using a known random process.</a:t>
            </a:r>
          </a:p>
        </p:txBody>
      </p:sp>
      <p:sp>
        <p:nvSpPr>
          <p:cNvPr id="7" name="Rectangle 6">
            <a:extLst>
              <a:ext uri="{FF2B5EF4-FFF2-40B4-BE49-F238E27FC236}">
                <a16:creationId xmlns:a16="http://schemas.microsoft.com/office/drawing/2014/main" id="{CE961CC9-853B-40F0-8D68-6BAC3311CB68}"/>
              </a:ext>
            </a:extLst>
          </p:cNvPr>
          <p:cNvSpPr>
            <a:spLocks noGrp="1"/>
          </p:cNvSpPr>
          <p:nvPr/>
        </p:nvSpPr>
        <p:spPr>
          <a:xfrm>
            <a:off x="571500" y="2876550"/>
            <a:ext cx="4095750" cy="457200"/>
          </a:xfrm>
          <a:prstGeom prst="rect">
            <a:avLst/>
          </a:prstGeom>
          <a:noFill/>
          <a:ln w="0">
            <a:noFill/>
          </a:ln>
        </p:spPr>
        <p:txBody>
          <a:bodyPr>
            <a:noAutofit/>
          </a:bodyPr>
          <a:lstStyle/>
          <a:p>
            <a:pPr>
              <a:defRPr sz="2325" b="1">
                <a:solidFill>
                  <a:srgbClr val="00274D"/>
                </a:solidFill>
                <a:latin typeface="Calibri"/>
                <a:ea typeface="Calibri"/>
                <a:cs typeface="Calibri"/>
              </a:defRPr>
            </a:pPr>
            <a:r>
              <a:rPr sz="2325" b="1">
                <a:solidFill>
                  <a:srgbClr val="00274D"/>
                </a:solidFill>
                <a:latin typeface="Calibri"/>
                <a:ea typeface="Calibri"/>
                <a:cs typeface="Calibri"/>
              </a:rPr>
              <a:t>Natural experiment</a:t>
            </a:r>
          </a:p>
        </p:txBody>
      </p:sp>
      <p:sp>
        <p:nvSpPr>
          <p:cNvPr id="8" name="Rectangle 7">
            <a:extLst>
              <a:ext uri="{FF2B5EF4-FFF2-40B4-BE49-F238E27FC236}">
                <a16:creationId xmlns:a16="http://schemas.microsoft.com/office/drawing/2014/main" id="{B8F77976-245D-4858-B0BA-747517D2D821}"/>
              </a:ext>
            </a:extLst>
          </p:cNvPr>
          <p:cNvSpPr>
            <a:spLocks noGrp="1"/>
          </p:cNvSpPr>
          <p:nvPr/>
        </p:nvSpPr>
        <p:spPr>
          <a:xfrm>
            <a:off x="4953000" y="2876550"/>
            <a:ext cx="6572250" cy="1095375"/>
          </a:xfrm>
          <a:prstGeom prst="rect">
            <a:avLst/>
          </a:prstGeom>
          <a:noFill/>
          <a:ln w="0">
            <a:noFill/>
          </a:ln>
        </p:spPr>
        <p:txBody>
          <a:bodyPr>
            <a:noAutofit/>
          </a:bodyPr>
          <a:lstStyle/>
          <a:p>
            <a:pPr>
              <a:defRPr sz="2025" b="0">
                <a:solidFill>
                  <a:srgbClr val="1A1A2E"/>
                </a:solidFill>
                <a:latin typeface="Calibri"/>
                <a:ea typeface="Calibri"/>
                <a:cs typeface="Calibri"/>
              </a:defRPr>
            </a:pPr>
            <a:r>
              <a:rPr sz="2025" b="0">
                <a:solidFill>
                  <a:srgbClr val="1A1A2E"/>
                </a:solidFill>
                <a:latin typeface="Calibri"/>
                <a:ea typeface="Calibri"/>
                <a:cs typeface="Calibri"/>
              </a:rPr>
              <a:t>A lottery or institutional rule supplies plausibly random variation.</a:t>
            </a:r>
          </a:p>
          <a:p>
            <a:pPr>
              <a:defRPr sz="2025" b="0">
                <a:solidFill>
                  <a:srgbClr val="1A1A2E"/>
                </a:solidFill>
                <a:latin typeface="Calibri"/>
                <a:ea typeface="Calibri"/>
                <a:cs typeface="Calibri"/>
              </a:defRPr>
            </a:pPr>
            <a:r>
              <a:rPr sz="2025" b="0">
                <a:solidFill>
                  <a:srgbClr val="1A1A2E"/>
                </a:solidFill>
                <a:latin typeface="Calibri"/>
                <a:ea typeface="Calibri"/>
                <a:cs typeface="Calibri"/>
              </a:rPr>
              <a:t>The causal argument must establish how that rule works.</a:t>
            </a:r>
          </a:p>
        </p:txBody>
      </p:sp>
      <p:sp>
        <p:nvSpPr>
          <p:cNvPr id="9" name="Rectangle 8">
            <a:extLst>
              <a:ext uri="{FF2B5EF4-FFF2-40B4-BE49-F238E27FC236}">
                <a16:creationId xmlns:a16="http://schemas.microsoft.com/office/drawing/2014/main" id="{496DE573-23D5-4912-B1C1-B648C3CE197A}"/>
              </a:ext>
            </a:extLst>
          </p:cNvPr>
          <p:cNvSpPr>
            <a:spLocks noGrp="1"/>
          </p:cNvSpPr>
          <p:nvPr/>
        </p:nvSpPr>
        <p:spPr>
          <a:xfrm>
            <a:off x="571500" y="4419600"/>
            <a:ext cx="4095750" cy="523875"/>
          </a:xfrm>
          <a:prstGeom prst="rect">
            <a:avLst/>
          </a:prstGeom>
          <a:noFill/>
          <a:ln w="0">
            <a:noFill/>
          </a:ln>
        </p:spPr>
        <p:txBody>
          <a:bodyPr>
            <a:noAutofit/>
          </a:bodyPr>
          <a:lstStyle/>
          <a:p>
            <a:pPr>
              <a:defRPr sz="2325" b="1">
                <a:solidFill>
                  <a:srgbClr val="00274D"/>
                </a:solidFill>
                <a:latin typeface="Calibri"/>
                <a:ea typeface="Calibri"/>
                <a:cs typeface="Calibri"/>
              </a:defRPr>
            </a:pPr>
            <a:r>
              <a:rPr sz="2325" b="1">
                <a:solidFill>
                  <a:srgbClr val="00274D"/>
                </a:solidFill>
                <a:latin typeface="Calibri"/>
                <a:ea typeface="Calibri"/>
                <a:cs typeface="Calibri"/>
              </a:rPr>
              <a:t>Observational comparison</a:t>
            </a:r>
          </a:p>
        </p:txBody>
      </p:sp>
      <p:sp>
        <p:nvSpPr>
          <p:cNvPr id="10" name="Rectangle 9">
            <a:extLst>
              <a:ext uri="{FF2B5EF4-FFF2-40B4-BE49-F238E27FC236}">
                <a16:creationId xmlns:a16="http://schemas.microsoft.com/office/drawing/2014/main" id="{75C17933-3CA5-455F-A21B-80EE1405F11B}"/>
              </a:ext>
            </a:extLst>
          </p:cNvPr>
          <p:cNvSpPr>
            <a:spLocks noGrp="1"/>
          </p:cNvSpPr>
          <p:nvPr/>
        </p:nvSpPr>
        <p:spPr>
          <a:xfrm>
            <a:off x="4953000" y="4419600"/>
            <a:ext cx="6572250" cy="1095375"/>
          </a:xfrm>
          <a:prstGeom prst="rect">
            <a:avLst/>
          </a:prstGeom>
          <a:noFill/>
          <a:ln w="0">
            <a:noFill/>
          </a:ln>
        </p:spPr>
        <p:txBody>
          <a:bodyPr>
            <a:noAutofit/>
          </a:bodyPr>
          <a:lstStyle/>
          <a:p>
            <a:pPr>
              <a:defRPr sz="2025" b="0">
                <a:solidFill>
                  <a:srgbClr val="1A1A2E"/>
                </a:solidFill>
                <a:latin typeface="Calibri"/>
                <a:ea typeface="Calibri"/>
                <a:cs typeface="Calibri"/>
              </a:defRPr>
            </a:pPr>
            <a:r>
              <a:rPr sz="2025" b="0">
                <a:solidFill>
                  <a:srgbClr val="1A1A2E"/>
                </a:solidFill>
                <a:latin typeface="Calibri"/>
                <a:ea typeface="Calibri"/>
                <a:cs typeface="Calibri"/>
              </a:rPr>
              <a:t>Treatment selection can reflect measured and unmeasured causes</a:t>
            </a:r>
          </a:p>
          <a:p>
            <a:pPr>
              <a:defRPr sz="2025" b="0">
                <a:solidFill>
                  <a:srgbClr val="1A1A2E"/>
                </a:solidFill>
                <a:latin typeface="Calibri"/>
                <a:ea typeface="Calibri"/>
                <a:cs typeface="Calibri"/>
              </a:defRPr>
            </a:pPr>
            <a:r>
              <a:rPr sz="2025" b="0">
                <a:solidFill>
                  <a:srgbClr val="1A1A2E"/>
                </a:solidFill>
                <a:latin typeface="Calibri"/>
                <a:ea typeface="Calibri"/>
                <a:cs typeface="Calibri"/>
              </a:rPr>
              <a:t>of the outcome. Observed balance alone cannot rule out hidden bias.</a:t>
            </a:r>
          </a:p>
        </p:txBody>
      </p:sp>
    </p:spTree>
    <p:extLst>
      <p:ext uri="{BB962C8B-B14F-4D97-AF65-F5344CB8AC3E}">
        <p14:creationId xmlns:p14="http://schemas.microsoft.com/office/powerpoint/2010/main" val="1726434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9106724-4219-48CB-9FE3-F599F26AD955}"/>
              </a:ext>
            </a:extLst>
          </p:cNvPr>
          <p:cNvSpPr>
            <a:spLocks noGrp="1"/>
          </p:cNvSpPr>
          <p:nvPr/>
        </p:nvSpPr>
        <p:spPr>
          <a:xfrm>
            <a:off x="548640" y="320040"/>
            <a:ext cx="9144000" cy="320040"/>
          </a:xfrm>
          <a:prstGeom prst="rect">
            <a:avLst/>
          </a:prstGeom>
          <a:noFill/>
        </p:spPr>
        <p:txBody>
          <a:bodyPr wrap="square" lIns="0" tIns="0" rIns="0" bIns="0" anchor="t"/>
          <a:lstStyle/>
          <a:p>
            <a:pPr marL="0" indent="0">
              <a:buNone/>
            </a:pPr>
            <a:r>
              <a:rPr sz="1200" b="1" spc="150">
                <a:solidFill>
                  <a:srgbClr val="1B4F8C"/>
                </a:solidFill>
                <a:latin typeface="Calibri"/>
                <a:ea typeface="Calibri"/>
                <a:cs typeface="Calibri"/>
              </a:rPr>
              <a:t>LAB 3</a:t>
            </a:r>
            <a:endParaRPr sz="1200"/>
          </a:p>
        </p:txBody>
      </p:sp>
      <p:sp>
        <p:nvSpPr>
          <p:cNvPr id="3" name="Text 1">
            <a:extLst>
              <a:ext uri="{FF2B5EF4-FFF2-40B4-BE49-F238E27FC236}">
                <a16:creationId xmlns:a16="http://schemas.microsoft.com/office/drawing/2014/main" id="{897147D5-7256-4FCD-B55E-7F38F0AF6B86}"/>
              </a:ext>
            </a:extLst>
          </p:cNvPr>
          <p:cNvSpPr>
            <a:spLocks noGrp="1"/>
          </p:cNvSpPr>
          <p:nvPr/>
        </p:nvSpPr>
        <p:spPr>
          <a:xfrm>
            <a:off x="548640" y="640080"/>
            <a:ext cx="11064240" cy="685800"/>
          </a:xfrm>
          <a:prstGeom prst="rect">
            <a:avLst/>
          </a:prstGeom>
          <a:noFill/>
        </p:spPr>
        <p:txBody>
          <a:bodyPr wrap="square" lIns="0" tIns="0" rIns="0" bIns="0" anchor="ctr"/>
          <a:lstStyle/>
          <a:p>
            <a:pPr marL="0" indent="0">
              <a:buNone/>
            </a:pPr>
            <a:r>
              <a:rPr sz="3000" b="1">
                <a:solidFill>
                  <a:srgbClr val="00274D"/>
                </a:solidFill>
                <a:latin typeface="Cambria"/>
                <a:ea typeface="Cambria"/>
                <a:cs typeface="Cambria"/>
              </a:rPr>
              <a:t>Two real experiments, one balance table</a:t>
            </a:r>
            <a:endParaRPr sz="3000"/>
          </a:p>
        </p:txBody>
      </p:sp>
      <p:sp>
        <p:nvSpPr>
          <p:cNvPr id="4" name="Text 2">
            <a:extLst>
              <a:ext uri="{FF2B5EF4-FFF2-40B4-BE49-F238E27FC236}">
                <a16:creationId xmlns:a16="http://schemas.microsoft.com/office/drawing/2014/main" id="{1C55CA1D-748F-4DE6-B212-B99F47570AB3}"/>
              </a:ext>
            </a:extLst>
          </p:cNvPr>
          <p:cNvSpPr>
            <a:spLocks noGrp="1"/>
          </p:cNvSpPr>
          <p:nvPr/>
        </p:nvSpPr>
        <p:spPr>
          <a:xfrm>
            <a:off x="548640" y="6400800"/>
            <a:ext cx="5486400" cy="274320"/>
          </a:xfrm>
          <a:prstGeom prst="rect">
            <a:avLst/>
          </a:prstGeom>
          <a:noFill/>
        </p:spPr>
        <p:txBody>
          <a:bodyPr wrap="square" lIns="0" tIns="0" rIns="0" bIns="0" anchor="t"/>
          <a:lstStyle/>
          <a:p>
            <a:pPr marL="0" indent="0">
              <a:buNone/>
            </a:pPr>
            <a:r>
              <a:rPr sz="1000">
                <a:solidFill>
                  <a:srgbClr val="5B6178"/>
                </a:solidFill>
                <a:latin typeface="Calibri"/>
                <a:ea typeface="Calibri"/>
                <a:cs typeface="Calibri"/>
              </a:rPr>
              <a:t>Week 4 · Randomized Controlled Trials  |  36</a:t>
            </a:r>
            <a:endParaRPr sz="1000"/>
          </a:p>
        </p:txBody>
      </p:sp>
      <p:sp>
        <p:nvSpPr>
          <p:cNvPr id="5" name="Shape 3">
            <a:extLst>
              <a:ext uri="{FF2B5EF4-FFF2-40B4-BE49-F238E27FC236}">
                <a16:creationId xmlns:a16="http://schemas.microsoft.com/office/drawing/2014/main" id="{395C55E8-C1AF-4D84-873B-102EC386743F}"/>
              </a:ext>
            </a:extLst>
          </p:cNvPr>
          <p:cNvSpPr>
            <a:spLocks noGrp="1"/>
          </p:cNvSpPr>
          <p:nvPr/>
        </p:nvSpPr>
        <p:spPr>
          <a:xfrm>
            <a:off x="548640" y="1554480"/>
            <a:ext cx="5440680" cy="3017520"/>
          </a:xfrm>
          <a:prstGeom prst="roundRect">
            <a:avLst>
              <a:gd name="adj" fmla="val 3030"/>
            </a:avLst>
          </a:prstGeom>
          <a:solidFill>
            <a:srgbClr val="EEF3F8"/>
          </a:solidFill>
          <a:ln w="12700">
            <a:solidFill>
              <a:srgbClr val="EEF3F8"/>
            </a:solidFill>
            <a:prstDash val="solid"/>
          </a:ln>
        </p:spPr>
        <p:txBody>
          <a:bodyPr/>
          <a:lstStyle/>
          <a:p>
            <a:endParaRPr lang="en-US"/>
          </a:p>
        </p:txBody>
      </p:sp>
      <p:sp>
        <p:nvSpPr>
          <p:cNvPr id="6" name="Text 4">
            <a:extLst>
              <a:ext uri="{FF2B5EF4-FFF2-40B4-BE49-F238E27FC236}">
                <a16:creationId xmlns:a16="http://schemas.microsoft.com/office/drawing/2014/main" id="{D1ABDB81-665F-4B96-8DD1-742EBBF12EA3}"/>
              </a:ext>
            </a:extLst>
          </p:cNvPr>
          <p:cNvSpPr>
            <a:spLocks noGrp="1"/>
          </p:cNvSpPr>
          <p:nvPr/>
        </p:nvSpPr>
        <p:spPr>
          <a:xfrm>
            <a:off x="822960" y="1737360"/>
            <a:ext cx="4846320" cy="365760"/>
          </a:xfrm>
          <a:prstGeom prst="rect">
            <a:avLst/>
          </a:prstGeom>
          <a:noFill/>
        </p:spPr>
        <p:txBody>
          <a:bodyPr wrap="square" lIns="0" tIns="0" rIns="0" bIns="0" anchor="t"/>
          <a:lstStyle/>
          <a:p>
            <a:pPr marL="0" indent="0">
              <a:buNone/>
            </a:pPr>
            <a:r>
              <a:rPr sz="1600" b="1">
                <a:solidFill>
                  <a:srgbClr val="00274D"/>
                </a:solidFill>
                <a:latin typeface="Calibri"/>
                <a:ea typeface="Calibri"/>
                <a:cs typeface="Calibri"/>
              </a:rPr>
              <a:t>Exercise 1</a:t>
            </a:r>
            <a:endParaRPr sz="1600"/>
          </a:p>
        </p:txBody>
      </p:sp>
      <p:sp>
        <p:nvSpPr>
          <p:cNvPr id="7" name="Text 5">
            <a:extLst>
              <a:ext uri="{FF2B5EF4-FFF2-40B4-BE49-F238E27FC236}">
                <a16:creationId xmlns:a16="http://schemas.microsoft.com/office/drawing/2014/main" id="{B7A7DC4F-2DCE-48DB-8920-8A7A9D1C0847}"/>
              </a:ext>
            </a:extLst>
          </p:cNvPr>
          <p:cNvSpPr>
            <a:spLocks noGrp="1"/>
          </p:cNvSpPr>
          <p:nvPr/>
        </p:nvSpPr>
        <p:spPr>
          <a:xfrm>
            <a:off x="822960" y="2148840"/>
            <a:ext cx="4846320" cy="548640"/>
          </a:xfrm>
          <a:prstGeom prst="rect">
            <a:avLst/>
          </a:prstGeom>
          <a:noFill/>
        </p:spPr>
        <p:txBody>
          <a:bodyPr wrap="square" lIns="0" tIns="0" rIns="0" bIns="0" anchor="t"/>
          <a:lstStyle/>
          <a:p>
            <a:pPr marL="0" indent="0">
              <a:buNone/>
            </a:pPr>
            <a:r>
              <a:rPr sz="2100" b="1">
                <a:solidFill>
                  <a:srgbClr val="00274D"/>
                </a:solidFill>
                <a:latin typeface="Cambria"/>
                <a:ea typeface="Cambria"/>
                <a:cs typeface="Cambria"/>
              </a:rPr>
              <a:t>Chattopadhyay &amp; Duflo (2004)</a:t>
            </a:r>
            <a:endParaRPr sz="2100"/>
          </a:p>
        </p:txBody>
      </p:sp>
      <p:sp>
        <p:nvSpPr>
          <p:cNvPr id="8" name="Text 6">
            <a:extLst>
              <a:ext uri="{FF2B5EF4-FFF2-40B4-BE49-F238E27FC236}">
                <a16:creationId xmlns:a16="http://schemas.microsoft.com/office/drawing/2014/main" id="{1FA6052D-8958-41A3-AD00-303698EE5215}"/>
              </a:ext>
            </a:extLst>
          </p:cNvPr>
          <p:cNvSpPr>
            <a:spLocks noGrp="1"/>
          </p:cNvSpPr>
          <p:nvPr/>
        </p:nvSpPr>
        <p:spPr>
          <a:xfrm>
            <a:off x="822960" y="2834640"/>
            <a:ext cx="4846320" cy="155448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Implementation check, ATE three ways, ITT vs. effect of a female leader</a:t>
            </a:r>
            <a:endParaRPr sz="1600"/>
          </a:p>
        </p:txBody>
      </p:sp>
      <p:sp>
        <p:nvSpPr>
          <p:cNvPr id="9" name="Shape 7">
            <a:extLst>
              <a:ext uri="{FF2B5EF4-FFF2-40B4-BE49-F238E27FC236}">
                <a16:creationId xmlns:a16="http://schemas.microsoft.com/office/drawing/2014/main" id="{9DD95C99-C461-46DC-9DC6-EC8FAA715A72}"/>
              </a:ext>
            </a:extLst>
          </p:cNvPr>
          <p:cNvSpPr>
            <a:spLocks noGrp="1"/>
          </p:cNvSpPr>
          <p:nvPr/>
        </p:nvSpPr>
        <p:spPr>
          <a:xfrm>
            <a:off x="6172200" y="1554480"/>
            <a:ext cx="5440680" cy="3017520"/>
          </a:xfrm>
          <a:prstGeom prst="roundRect">
            <a:avLst>
              <a:gd name="adj" fmla="val 3030"/>
            </a:avLst>
          </a:prstGeom>
          <a:solidFill>
            <a:srgbClr val="EEF3F8"/>
          </a:solidFill>
          <a:ln w="12700">
            <a:solidFill>
              <a:srgbClr val="EEF3F8"/>
            </a:solidFill>
            <a:prstDash val="solid"/>
          </a:ln>
        </p:spPr>
        <p:txBody>
          <a:bodyPr/>
          <a:lstStyle/>
          <a:p>
            <a:endParaRPr lang="en-US"/>
          </a:p>
        </p:txBody>
      </p:sp>
      <p:sp>
        <p:nvSpPr>
          <p:cNvPr id="10" name="Text 8">
            <a:extLst>
              <a:ext uri="{FF2B5EF4-FFF2-40B4-BE49-F238E27FC236}">
                <a16:creationId xmlns:a16="http://schemas.microsoft.com/office/drawing/2014/main" id="{C2EF18A8-9323-483C-8B9C-584BDE8CB3ED}"/>
              </a:ext>
            </a:extLst>
          </p:cNvPr>
          <p:cNvSpPr>
            <a:spLocks noGrp="1"/>
          </p:cNvSpPr>
          <p:nvPr/>
        </p:nvSpPr>
        <p:spPr>
          <a:xfrm>
            <a:off x="6446520" y="1737360"/>
            <a:ext cx="4846320" cy="365760"/>
          </a:xfrm>
          <a:prstGeom prst="rect">
            <a:avLst/>
          </a:prstGeom>
          <a:noFill/>
        </p:spPr>
        <p:txBody>
          <a:bodyPr wrap="square" lIns="0" tIns="0" rIns="0" bIns="0" anchor="t"/>
          <a:lstStyle/>
          <a:p>
            <a:pPr marL="0" indent="0">
              <a:buNone/>
            </a:pPr>
            <a:r>
              <a:rPr sz="1600" b="1">
                <a:solidFill>
                  <a:srgbClr val="1B4F8C"/>
                </a:solidFill>
                <a:latin typeface="Calibri"/>
                <a:ea typeface="Calibri"/>
                <a:cs typeface="Calibri"/>
              </a:rPr>
              <a:t>Exercise 2</a:t>
            </a:r>
            <a:endParaRPr sz="1600"/>
          </a:p>
        </p:txBody>
      </p:sp>
      <p:sp>
        <p:nvSpPr>
          <p:cNvPr id="11" name="Text 9">
            <a:extLst>
              <a:ext uri="{FF2B5EF4-FFF2-40B4-BE49-F238E27FC236}">
                <a16:creationId xmlns:a16="http://schemas.microsoft.com/office/drawing/2014/main" id="{C976ED6C-D17E-43E2-A717-B4F0A5A9CBD1}"/>
              </a:ext>
            </a:extLst>
          </p:cNvPr>
          <p:cNvSpPr>
            <a:spLocks noGrp="1"/>
          </p:cNvSpPr>
          <p:nvPr/>
        </p:nvSpPr>
        <p:spPr>
          <a:xfrm>
            <a:off x="6446520" y="2148840"/>
            <a:ext cx="4846320" cy="548640"/>
          </a:xfrm>
          <a:prstGeom prst="rect">
            <a:avLst/>
          </a:prstGeom>
          <a:noFill/>
        </p:spPr>
        <p:txBody>
          <a:bodyPr wrap="square" lIns="0" tIns="0" rIns="0" bIns="0" anchor="t"/>
          <a:lstStyle/>
          <a:p>
            <a:pPr marL="0" indent="0">
              <a:buNone/>
            </a:pPr>
            <a:r>
              <a:rPr sz="2100" b="1">
                <a:solidFill>
                  <a:srgbClr val="00274D"/>
                </a:solidFill>
                <a:latin typeface="Cambria"/>
                <a:ea typeface="Cambria"/>
                <a:cs typeface="Cambria"/>
              </a:rPr>
              <a:t>Gerber, Green &amp; Larimer (2008)</a:t>
            </a:r>
            <a:endParaRPr sz="2100"/>
          </a:p>
        </p:txBody>
      </p:sp>
      <p:sp>
        <p:nvSpPr>
          <p:cNvPr id="12" name="Text 10">
            <a:extLst>
              <a:ext uri="{FF2B5EF4-FFF2-40B4-BE49-F238E27FC236}">
                <a16:creationId xmlns:a16="http://schemas.microsoft.com/office/drawing/2014/main" id="{7E79EA2D-9F45-4F8F-8FDD-FAC1E0D17256}"/>
              </a:ext>
            </a:extLst>
          </p:cNvPr>
          <p:cNvSpPr>
            <a:spLocks noGrp="1"/>
          </p:cNvSpPr>
          <p:nvPr/>
        </p:nvSpPr>
        <p:spPr>
          <a:xfrm>
            <a:off x="6446520" y="2834640"/>
            <a:ext cx="4846320" cy="1554480"/>
          </a:xfrm>
          <a:prstGeom prst="rect">
            <a:avLst/>
          </a:prstGeom>
          <a:noFill/>
        </p:spPr>
        <p:txBody>
          <a:bodyPr wrap="square" lIns="0" tIns="0" rIns="0" bIns="0" anchor="t"/>
          <a:lstStyle/>
          <a:p>
            <a:pPr marL="0" indent="0">
              <a:buNone/>
            </a:pPr>
            <a:r>
              <a:rPr sz="1600">
                <a:solidFill>
                  <a:srgbClr val="1A1A2E"/>
                </a:solidFill>
                <a:latin typeface="Calibri"/>
                <a:ea typeface="Calibri"/>
                <a:cs typeface="Calibri"/>
              </a:rPr>
              <a:t>Turnout by arm, build a balance table, estimates with and without covariates</a:t>
            </a:r>
            <a:endParaRPr sz="1600"/>
          </a:p>
        </p:txBody>
      </p:sp>
      <p:sp>
        <p:nvSpPr>
          <p:cNvPr id="13" name="Shape 11">
            <a:extLst>
              <a:ext uri="{FF2B5EF4-FFF2-40B4-BE49-F238E27FC236}">
                <a16:creationId xmlns:a16="http://schemas.microsoft.com/office/drawing/2014/main" id="{D4F8F517-28A3-461B-98D2-FAD38C64ED6B}"/>
              </a:ext>
            </a:extLst>
          </p:cNvPr>
          <p:cNvSpPr>
            <a:spLocks noGrp="1"/>
          </p:cNvSpPr>
          <p:nvPr/>
        </p:nvSpPr>
        <p:spPr>
          <a:xfrm>
            <a:off x="548640" y="4800600"/>
            <a:ext cx="11064240" cy="868680"/>
          </a:xfrm>
          <a:prstGeom prst="roundRect">
            <a:avLst>
              <a:gd name="adj" fmla="val 10526"/>
            </a:avLst>
          </a:prstGeom>
          <a:solidFill>
            <a:srgbClr val="F5F7FA"/>
          </a:solidFill>
          <a:ln w="12700">
            <a:solidFill>
              <a:srgbClr val="F5F7FA"/>
            </a:solidFill>
            <a:prstDash val="solid"/>
          </a:ln>
        </p:spPr>
        <p:txBody>
          <a:bodyPr/>
          <a:lstStyle/>
          <a:p>
            <a:endParaRPr lang="en-US"/>
          </a:p>
        </p:txBody>
      </p:sp>
      <p:sp>
        <p:nvSpPr>
          <p:cNvPr id="14" name="Text 12">
            <a:extLst>
              <a:ext uri="{FF2B5EF4-FFF2-40B4-BE49-F238E27FC236}">
                <a16:creationId xmlns:a16="http://schemas.microsoft.com/office/drawing/2014/main" id="{3945DB44-C4DD-4FF7-8ADC-B80EFB195B97}"/>
              </a:ext>
            </a:extLst>
          </p:cNvPr>
          <p:cNvSpPr>
            <a:spLocks noGrp="1"/>
          </p:cNvSpPr>
          <p:nvPr/>
        </p:nvSpPr>
        <p:spPr>
          <a:xfrm>
            <a:off x="822960" y="4800600"/>
            <a:ext cx="10515600" cy="868680"/>
          </a:xfrm>
          <a:prstGeom prst="rect">
            <a:avLst/>
          </a:prstGeom>
          <a:noFill/>
        </p:spPr>
        <p:txBody>
          <a:bodyPr wrap="square" lIns="0" tIns="0" rIns="0" bIns="0" anchor="ctr"/>
          <a:lstStyle/>
          <a:p>
            <a:pPr marL="0" indent="0">
              <a:buNone/>
            </a:pPr>
            <a:r>
              <a:rPr sz="1600" b="1">
                <a:solidFill>
                  <a:srgbClr val="1A1A2E"/>
                </a:solidFill>
                <a:latin typeface="Calibri"/>
                <a:ea typeface="Calibri"/>
                <a:cs typeface="Calibri"/>
              </a:rPr>
              <a:t>Base R only. </a:t>
            </a:r>
            <a:r>
              <a:rPr sz="1600">
                <a:solidFill>
                  <a:srgbClr val="1A1A2E"/>
                </a:solidFill>
                <a:latin typeface="Calibri"/>
                <a:ea typeface="Calibri"/>
                <a:cs typeface="Calibri"/>
              </a:rPr>
              <a:t>Both datasets load straight from the web; the URLs are on the handout.</a:t>
            </a:r>
            <a:endParaRPr sz="1600"/>
          </a:p>
        </p:txBody>
      </p:sp>
    </p:spTree>
    <p:extLst>
      <p:ext uri="{BB962C8B-B14F-4D97-AF65-F5344CB8AC3E}">
        <p14:creationId xmlns:p14="http://schemas.microsoft.com/office/powerpoint/2010/main" val="6017847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274D"/>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6863AB0-9FAA-425E-A1B6-938F35BF9568}"/>
              </a:ext>
            </a:extLst>
          </p:cNvPr>
          <p:cNvSpPr>
            <a:spLocks noGrp="1"/>
          </p:cNvSpPr>
          <p:nvPr/>
        </p:nvSpPr>
        <p:spPr>
          <a:xfrm>
            <a:off x="731520" y="1188720"/>
            <a:ext cx="10058400" cy="640080"/>
          </a:xfrm>
          <a:prstGeom prst="rect">
            <a:avLst/>
          </a:prstGeom>
          <a:noFill/>
        </p:spPr>
        <p:txBody>
          <a:bodyPr wrap="square" lIns="0" tIns="0" rIns="0" bIns="0" anchor="t"/>
          <a:lstStyle/>
          <a:p>
            <a:pPr marL="0" indent="0">
              <a:buNone/>
            </a:pPr>
            <a:r>
              <a:rPr sz="3400" b="1">
                <a:solidFill>
                  <a:srgbClr val="FFFFFF"/>
                </a:solidFill>
                <a:latin typeface="Cambria"/>
                <a:ea typeface="Cambria"/>
                <a:cs typeface="Cambria"/>
              </a:rPr>
              <a:t>Before we code</a:t>
            </a:r>
            <a:endParaRPr sz="3400"/>
          </a:p>
        </p:txBody>
      </p:sp>
      <p:sp>
        <p:nvSpPr>
          <p:cNvPr id="3" name="Shape 1">
            <a:extLst>
              <a:ext uri="{FF2B5EF4-FFF2-40B4-BE49-F238E27FC236}">
                <a16:creationId xmlns:a16="http://schemas.microsoft.com/office/drawing/2014/main" id="{DBF8F822-C93A-4DCE-A4A2-7C127090AF8F}"/>
              </a:ext>
            </a:extLst>
          </p:cNvPr>
          <p:cNvSpPr>
            <a:spLocks noGrp="1"/>
          </p:cNvSpPr>
          <p:nvPr/>
        </p:nvSpPr>
        <p:spPr>
          <a:xfrm>
            <a:off x="731520" y="2286000"/>
            <a:ext cx="548640" cy="548640"/>
          </a:xfrm>
          <a:prstGeom prst="ellipse">
            <a:avLst/>
          </a:prstGeom>
          <a:solidFill>
            <a:srgbClr val="1B4F8C"/>
          </a:solidFill>
          <a:ln w="12700">
            <a:solidFill>
              <a:srgbClr val="1B4F8C"/>
            </a:solidFill>
            <a:prstDash val="solid"/>
          </a:ln>
        </p:spPr>
        <p:txBody>
          <a:bodyPr/>
          <a:lstStyle/>
          <a:p>
            <a:endParaRPr lang="en-US"/>
          </a:p>
        </p:txBody>
      </p:sp>
      <p:sp>
        <p:nvSpPr>
          <p:cNvPr id="4" name="Text 2">
            <a:extLst>
              <a:ext uri="{FF2B5EF4-FFF2-40B4-BE49-F238E27FC236}">
                <a16:creationId xmlns:a16="http://schemas.microsoft.com/office/drawing/2014/main" id="{C5FC7CBC-1EFD-466C-A1C7-7C225320AF5F}"/>
              </a:ext>
            </a:extLst>
          </p:cNvPr>
          <p:cNvSpPr>
            <a:spLocks noGrp="1"/>
          </p:cNvSpPr>
          <p:nvPr/>
        </p:nvSpPr>
        <p:spPr>
          <a:xfrm>
            <a:off x="731520" y="2286000"/>
            <a:ext cx="548640" cy="54864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1</a:t>
            </a:r>
            <a:endParaRPr sz="1500"/>
          </a:p>
        </p:txBody>
      </p:sp>
      <p:sp>
        <p:nvSpPr>
          <p:cNvPr id="5" name="Text 3">
            <a:extLst>
              <a:ext uri="{FF2B5EF4-FFF2-40B4-BE49-F238E27FC236}">
                <a16:creationId xmlns:a16="http://schemas.microsoft.com/office/drawing/2014/main" id="{9A2FC9A8-0968-40C0-8BF6-89C0E13D40CB}"/>
              </a:ext>
            </a:extLst>
          </p:cNvPr>
          <p:cNvSpPr>
            <a:spLocks noGrp="1"/>
          </p:cNvSpPr>
          <p:nvPr/>
        </p:nvSpPr>
        <p:spPr>
          <a:xfrm>
            <a:off x="1554480" y="2194560"/>
            <a:ext cx="9692640" cy="822960"/>
          </a:xfrm>
          <a:prstGeom prst="rect">
            <a:avLst/>
          </a:prstGeom>
          <a:noFill/>
        </p:spPr>
        <p:txBody>
          <a:bodyPr wrap="square" lIns="0" tIns="0" rIns="0" bIns="0" anchor="ctr"/>
          <a:lstStyle/>
          <a:p>
            <a:pPr marL="0" indent="0">
              <a:buNone/>
            </a:pPr>
            <a:r>
              <a:rPr sz="2000">
                <a:solidFill>
                  <a:srgbClr val="FFFFFF"/>
                </a:solidFill>
                <a:latin typeface="Calibri"/>
                <a:ea typeface="Calibri"/>
                <a:cs typeface="Calibri"/>
              </a:rPr>
              <a:t>Name one causal question in your own research that you could, in principle, randomize.</a:t>
            </a:r>
            <a:endParaRPr sz="2000"/>
          </a:p>
        </p:txBody>
      </p:sp>
      <p:sp>
        <p:nvSpPr>
          <p:cNvPr id="6" name="Shape 4">
            <a:extLst>
              <a:ext uri="{FF2B5EF4-FFF2-40B4-BE49-F238E27FC236}">
                <a16:creationId xmlns:a16="http://schemas.microsoft.com/office/drawing/2014/main" id="{BA550714-B758-4453-A25F-E24E10A4C7EC}"/>
              </a:ext>
            </a:extLst>
          </p:cNvPr>
          <p:cNvSpPr>
            <a:spLocks noGrp="1"/>
          </p:cNvSpPr>
          <p:nvPr/>
        </p:nvSpPr>
        <p:spPr>
          <a:xfrm>
            <a:off x="731520" y="3383280"/>
            <a:ext cx="548640" cy="548640"/>
          </a:xfrm>
          <a:prstGeom prst="ellipse">
            <a:avLst/>
          </a:prstGeom>
          <a:solidFill>
            <a:srgbClr val="1B4F8C"/>
          </a:solidFill>
          <a:ln w="12700">
            <a:solidFill>
              <a:srgbClr val="1B4F8C"/>
            </a:solidFill>
            <a:prstDash val="solid"/>
          </a:ln>
        </p:spPr>
        <p:txBody>
          <a:bodyPr/>
          <a:lstStyle/>
          <a:p>
            <a:endParaRPr lang="en-US"/>
          </a:p>
        </p:txBody>
      </p:sp>
      <p:sp>
        <p:nvSpPr>
          <p:cNvPr id="7" name="Text 5">
            <a:extLst>
              <a:ext uri="{FF2B5EF4-FFF2-40B4-BE49-F238E27FC236}">
                <a16:creationId xmlns:a16="http://schemas.microsoft.com/office/drawing/2014/main" id="{60211F9B-70E9-4C40-8B01-E50270820AF4}"/>
              </a:ext>
            </a:extLst>
          </p:cNvPr>
          <p:cNvSpPr>
            <a:spLocks noGrp="1"/>
          </p:cNvSpPr>
          <p:nvPr/>
        </p:nvSpPr>
        <p:spPr>
          <a:xfrm>
            <a:off x="731520" y="3383280"/>
            <a:ext cx="548640" cy="54864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2</a:t>
            </a:r>
            <a:endParaRPr sz="1500"/>
          </a:p>
        </p:txBody>
      </p:sp>
      <p:sp>
        <p:nvSpPr>
          <p:cNvPr id="8" name="Text 6">
            <a:extLst>
              <a:ext uri="{FF2B5EF4-FFF2-40B4-BE49-F238E27FC236}">
                <a16:creationId xmlns:a16="http://schemas.microsoft.com/office/drawing/2014/main" id="{36B41556-214D-4E4B-AFD8-2335E5C8B575}"/>
              </a:ext>
            </a:extLst>
          </p:cNvPr>
          <p:cNvSpPr>
            <a:spLocks noGrp="1"/>
          </p:cNvSpPr>
          <p:nvPr/>
        </p:nvSpPr>
        <p:spPr>
          <a:xfrm>
            <a:off x="1554480" y="3291840"/>
            <a:ext cx="9692640" cy="822960"/>
          </a:xfrm>
          <a:prstGeom prst="rect">
            <a:avLst/>
          </a:prstGeom>
          <a:noFill/>
        </p:spPr>
        <p:txBody>
          <a:bodyPr wrap="square" lIns="0" tIns="0" rIns="0" bIns="0" anchor="ctr"/>
          <a:lstStyle/>
          <a:p>
            <a:pPr marL="0" indent="0">
              <a:buNone/>
            </a:pPr>
            <a:r>
              <a:rPr sz="2000">
                <a:solidFill>
                  <a:srgbClr val="FFFFFF"/>
                </a:solidFill>
                <a:latin typeface="Calibri"/>
                <a:ea typeface="Calibri"/>
                <a:cs typeface="Calibri"/>
              </a:rPr>
              <a:t>What would the control group receive?</a:t>
            </a:r>
            <a:endParaRPr sz="2000"/>
          </a:p>
        </p:txBody>
      </p:sp>
      <p:sp>
        <p:nvSpPr>
          <p:cNvPr id="9" name="Shape 7">
            <a:extLst>
              <a:ext uri="{FF2B5EF4-FFF2-40B4-BE49-F238E27FC236}">
                <a16:creationId xmlns:a16="http://schemas.microsoft.com/office/drawing/2014/main" id="{097564C3-3C95-47F9-9DB3-13ACC5277A7A}"/>
              </a:ext>
            </a:extLst>
          </p:cNvPr>
          <p:cNvSpPr>
            <a:spLocks noGrp="1"/>
          </p:cNvSpPr>
          <p:nvPr/>
        </p:nvSpPr>
        <p:spPr>
          <a:xfrm>
            <a:off x="731520" y="4480560"/>
            <a:ext cx="548640" cy="548640"/>
          </a:xfrm>
          <a:prstGeom prst="ellipse">
            <a:avLst/>
          </a:prstGeom>
          <a:solidFill>
            <a:srgbClr val="1B4F8C"/>
          </a:solidFill>
          <a:ln w="12700">
            <a:solidFill>
              <a:srgbClr val="1B4F8C"/>
            </a:solidFill>
            <a:prstDash val="solid"/>
          </a:ln>
        </p:spPr>
        <p:txBody>
          <a:bodyPr/>
          <a:lstStyle/>
          <a:p>
            <a:endParaRPr lang="en-US"/>
          </a:p>
        </p:txBody>
      </p:sp>
      <p:sp>
        <p:nvSpPr>
          <p:cNvPr id="10" name="Text 8">
            <a:extLst>
              <a:ext uri="{FF2B5EF4-FFF2-40B4-BE49-F238E27FC236}">
                <a16:creationId xmlns:a16="http://schemas.microsoft.com/office/drawing/2014/main" id="{1472BD23-BE0D-4AB8-8B6C-ECA52F4FCA91}"/>
              </a:ext>
            </a:extLst>
          </p:cNvPr>
          <p:cNvSpPr>
            <a:spLocks noGrp="1"/>
          </p:cNvSpPr>
          <p:nvPr/>
        </p:nvSpPr>
        <p:spPr>
          <a:xfrm>
            <a:off x="731520" y="4480560"/>
            <a:ext cx="548640" cy="548640"/>
          </a:xfrm>
          <a:prstGeom prst="rect">
            <a:avLst/>
          </a:prstGeom>
          <a:noFill/>
        </p:spPr>
        <p:txBody>
          <a:bodyPr wrap="square" lIns="0" tIns="0" rIns="0" bIns="0" anchor="ctr"/>
          <a:lstStyle/>
          <a:p>
            <a:pPr marL="0" indent="0" algn="ctr">
              <a:buNone/>
            </a:pPr>
            <a:r>
              <a:rPr sz="1500" b="1">
                <a:solidFill>
                  <a:srgbClr val="FFFFFF"/>
                </a:solidFill>
                <a:latin typeface="Calibri"/>
                <a:ea typeface="Calibri"/>
                <a:cs typeface="Calibri"/>
              </a:rPr>
              <a:t>3</a:t>
            </a:r>
            <a:endParaRPr sz="1500"/>
          </a:p>
        </p:txBody>
      </p:sp>
      <p:sp>
        <p:nvSpPr>
          <p:cNvPr id="11" name="Text 9">
            <a:extLst>
              <a:ext uri="{FF2B5EF4-FFF2-40B4-BE49-F238E27FC236}">
                <a16:creationId xmlns:a16="http://schemas.microsoft.com/office/drawing/2014/main" id="{F218F179-58E2-4EE9-9ABE-9D8367E82C2D}"/>
              </a:ext>
            </a:extLst>
          </p:cNvPr>
          <p:cNvSpPr>
            <a:spLocks noGrp="1"/>
          </p:cNvSpPr>
          <p:nvPr/>
        </p:nvSpPr>
        <p:spPr>
          <a:xfrm>
            <a:off x="1554480" y="4389120"/>
            <a:ext cx="9692640" cy="822960"/>
          </a:xfrm>
          <a:prstGeom prst="rect">
            <a:avLst/>
          </a:prstGeom>
          <a:noFill/>
        </p:spPr>
        <p:txBody>
          <a:bodyPr wrap="square" lIns="0" tIns="0" rIns="0" bIns="0" anchor="ctr"/>
          <a:lstStyle/>
          <a:p>
            <a:pPr marL="0" indent="0">
              <a:buNone/>
            </a:pPr>
            <a:r>
              <a:rPr sz="2000">
                <a:solidFill>
                  <a:srgbClr val="FFFFFF"/>
                </a:solidFill>
                <a:latin typeface="Calibri"/>
                <a:ea typeface="Calibri"/>
                <a:cs typeface="Calibri"/>
              </a:rPr>
              <a:t>What would stop you: ethics, cost, or politics? What design from later in the semester might substitute?</a:t>
            </a:r>
            <a:endParaRPr sz="2000"/>
          </a:p>
        </p:txBody>
      </p:sp>
    </p:spTree>
    <p:extLst>
      <p:ext uri="{BB962C8B-B14F-4D97-AF65-F5344CB8AC3E}">
        <p14:creationId xmlns:p14="http://schemas.microsoft.com/office/powerpoint/2010/main" val="1472621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5079</Words>
  <Application>Microsoft Macintosh PowerPoint</Application>
  <DocSecurity>0</DocSecurity>
  <PresentationFormat>Widescreen</PresentationFormat>
  <Paragraphs>542</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Edwin Grimsley</cp:lastModifiedBy>
  <cp:revision>1</cp:revision>
  <dcterms:created xsi:type="dcterms:W3CDTF">2026-09-24T21:47:33Z</dcterms:created>
  <dcterms:modified xsi:type="dcterms:W3CDTF">2026-09-24T21:56:08Z</dcterms:modified>
</cp:coreProperties>
</file>