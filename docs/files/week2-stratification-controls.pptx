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600200"/>
            <a:ext cx="146304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82880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Stratification, Regression,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Causal Adjustment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 —  QMSS 75000 / SOC 81900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regression basics to good and bad controls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Edwin Grimsley, Ph.D.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52704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Refresher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47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logistic, and what regression actually does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450592"/>
            <a:ext cx="457200" cy="457200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4505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42316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Description to Causal Adjustment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7432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coefficient is (and isn't) causal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346704"/>
            <a:ext cx="457200" cy="457200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334670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33192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Controls: Confounders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6393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variable worth controlling for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42816"/>
            <a:ext cx="457200" cy="457200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2428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280160" y="421538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Controls: Colliders &amp; Mediators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535424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variable dangerous to control for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5138928"/>
            <a:ext cx="457200" cy="457200"/>
          </a:xfrm>
          <a:prstGeom prst="ellipse">
            <a:avLst/>
          </a:prstGeom>
          <a:solidFill>
            <a:srgbClr val="3E5C9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51389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511149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Lab &amp; Homework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543153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actually run in 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Refresher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REFRESHER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Regression: The Basics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continuous outcome: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669280" cy="822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5669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 = β₀ + β₁X + ε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880360"/>
            <a:ext cx="576072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β₀ (intercept): predicted Y when X = 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β₁ (slope): predicted change in Y for a 1-unit increase in X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(error): everything about Y that X doesn't explain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737360"/>
            <a:ext cx="5029200" cy="3566160"/>
          </a:xfrm>
          <a:prstGeom prst="roundRect">
            <a:avLst>
              <a:gd name="adj" fmla="val 1538"/>
            </a:avLst>
          </a:prstGeom>
          <a:solidFill>
            <a:srgbClr val="FFF7E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0" y="228600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estimates the average (conditional mean) of Y for each value of X. It describes association — it doesn't know or care whether X causes Y.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356616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more predictors (multiple regression) just extends the same idea: Y = β₀ + β₁X₁ + β₂X₂ + ... + ε — each coefficient is the association with Y holding the others fixed.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REFRESHER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R Output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0881360" cy="822960"/>
          </a:xfrm>
          <a:prstGeom prst="rect">
            <a:avLst/>
          </a:prstGeom>
          <a:solidFill>
            <a:srgbClr val="F4F5F9"/>
          </a:solidFill>
          <a:ln w="12700">
            <a:solidFill>
              <a:srgbClr val="D8DC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&lt;- lm(mpg ~ wt, data = mtcars)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228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summary(model)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0881360" cy="2103120"/>
          </a:xfrm>
          <a:prstGeom prst="rect">
            <a:avLst/>
          </a:prstGeom>
          <a:solidFill>
            <a:srgbClr val="2228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06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E4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Coefficients: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Estimate  Std. Error  t value  Pr(&gt;|t|)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(Intercept)    37.285      1.878      19.86   &lt; 2e-16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wt             -5.344      0.559      -9.56   1.3e-10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75488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— the coefficient itself (β̂)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Error — uncertainty in that estimate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 value — Estimate ÷ Std. Error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Pr(&gt;|t|) — the p-value: how surprising this estimate would be if the true coefficient were 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REFRESHER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Much Correlation Is Too Much?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Multicollinearity: when two or more predictors in your model are highly correlated with EACH OTHER (not with the outcome).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11680"/>
            <a:ext cx="108813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universal cutoff, but a common rule of thumb: r &gt; 0.7–0.8 between two predictors raises concern.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check: Variance Inflation Factor — car::vif(model) in R. VIF &gt; 5 is a common warning line, VIF &gt; 10 a common hard stop.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Doesn't bias coefficients — it inflates standard errors, blurring correlated predictors' individual effects.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526280"/>
            <a:ext cx="10881360" cy="1920240"/>
          </a:xfrm>
          <a:prstGeom prst="roundRect">
            <a:avLst>
              <a:gd name="adj" fmla="val 2857"/>
            </a:avLst>
          </a:prstGeom>
          <a:solidFill>
            <a:srgbClr val="FBEAE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468172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1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distinction from tonight's main topic: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029200"/>
            <a:ext cx="10332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Multicollinearity is a PRECISION problem (wider confidence intervals). Confounding is a BIAS problem (wrong answer entirely). If a variable is the correct causal control, keep it in — don't drop a legitimate confounder just because it's correlated with treatment. That would trade a precision problem for a much worse bias problem.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REFRESHER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 Regression: When Y Is Binary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0/1 outcome (e.g., voted or not, treated or not):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7772400" cy="822960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log( P(Y=1) / (1 − P(Y=1)) ) = β₀ + β₁X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1051560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modeling Y directly, we model the log-odds of Y = 1.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are in log-odds units — exponentiate them (exp(β₁)) to get an odds ratio, which is easier to interpret.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use glm(y ~ x, data = ..., family = "binomial") instead of lm().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93776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FF7E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22960" y="50749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won't use logistic regression heavily this semester, but you'll see it in some readings and it follows the exact same “control variable” logic we're covering tonight — confounders and colliders don't care whether your outcome is continuous or binary.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REFRESHER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Regression Family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47120" cy="57607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417320"/>
            <a:ext cx="2834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3474720" y="1417320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989320" y="1417320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function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366760" y="1417320"/>
            <a:ext cx="3246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 this semester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020824"/>
            <a:ext cx="11247120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2020824"/>
            <a:ext cx="2834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outcome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2020824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989320" y="2020824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lm()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366760" y="2020824"/>
            <a:ext cx="3246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workhorse, all semester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624328"/>
            <a:ext cx="11247120" cy="57607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624328"/>
            <a:ext cx="2834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(0/1) outcome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624328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2624328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glm(family="binomial")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8366760" y="2624328"/>
            <a:ext cx="3246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 readings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27832"/>
            <a:ext cx="11247120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227832"/>
            <a:ext cx="2834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outcome (0,1,2...)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474720" y="3227832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Poisson regression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3227832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glm(family="poisson")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3227832"/>
            <a:ext cx="3246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dedicated week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831336"/>
            <a:ext cx="11247120" cy="57607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831336"/>
            <a:ext cx="2834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Overdispersed count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474720" y="3831336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binomial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5989320" y="3831336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MASS::glm.nb()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366760" y="3831336"/>
            <a:ext cx="3246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dedicated week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434840"/>
            <a:ext cx="11247120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94360" y="4434840"/>
            <a:ext cx="2834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Categorical, unordered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474720" y="4434840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Multinomial logit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989320" y="4434840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nnet::multinom()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8366760" y="4434840"/>
            <a:ext cx="3246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this semester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5038344"/>
            <a:ext cx="11247120" cy="576072"/>
          </a:xfrm>
          <a:prstGeom prst="rect">
            <a:avLst/>
          </a:prstGeom>
          <a:solidFill>
            <a:srgbClr val="F4F5F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94360" y="5038344"/>
            <a:ext cx="2834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Nested/hierarchical data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3474720" y="5038344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Multilevel / HLM / mixed effects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5989320" y="5038344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lme4::lmer()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8366760" y="5038344"/>
            <a:ext cx="3246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dedicated week — flag if your own data is nested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5641848"/>
            <a:ext cx="11247120" cy="5760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594360" y="5641848"/>
            <a:ext cx="28346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data (same units repeatedly)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3474720" y="5641848"/>
            <a:ext cx="246888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effects</a:t>
            </a:r>
            <a:endParaRPr lang="en-US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5989320" y="5641848"/>
            <a:ext cx="2331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E5C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fixest::feols()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366760" y="5641848"/>
            <a:ext cx="32461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these follow the same causal logic we're covering tonight — confounders and colliders don't care which model you're running.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REFRESHER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Regression Actually Do?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estimates a conditional average: “on average, what is Y when X takes this value?”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itself, it makes NO claim about causality — that requires additional assumptions we have to argue for, not something the math gives us automatically.</a:t>
            </a:r>
            <a:endParaRPr lang="en-US" sz="17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variable to the model (“controlling for” it) changes what comparison the coefficient represents.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4023360"/>
            <a:ext cx="10881360" cy="1737360"/>
          </a:xfrm>
          <a:prstGeom prst="roundRect">
            <a:avLst>
              <a:gd name="adj" fmla="val 3158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2062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Tonight's central question: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57200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variables should we add to the model — and which ones will quietly wreck our estimate if we do?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Description to Causal Adjustment</a:t>
            </a:r>
            <a:endParaRPr lang="en-US" sz="3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ADJUSTMENT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 Is a Form of Stratification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Old-school way to “control for” a variable: split the data into groups (strata), estimate the effect within each group, then average.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with a control variable does the same thing — automatically, efficiently, and without you having to bin anything by hand.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confirmed this directly in Lab 1: the weighted average of within-stratum coefficients matched the regression coefficient almost exactly.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206240"/>
            <a:ext cx="10881360" cy="1463040"/>
          </a:xfrm>
          <a:prstGeom prst="roundRect">
            <a:avLst>
              <a:gd name="adj" fmla="val 3750"/>
            </a:avLst>
          </a:prstGeom>
          <a:solidFill>
            <a:srgbClr val="F2F6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438912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it demystifies the coefficient. “Controlling for X” isn't a magic statistical trick — it's comparing like to like within groups, then combining those comparisons.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CAUSAL ADJUSTMENT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Is a Coefficient Causal?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regression coefficient is causal only if you've controlled for the RIGHT set of variables — enough to close every “backdoor path” between treatment and outcome, but not so much that you introduce new bias.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“Throw everything into the model” is not a safe strategy — some variables help, some hurt, and some do nothing.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week's readings (Cinelli, Forney &amp; Pearl; Aronow &amp; Samii; Keele, Stevenson &amp; Elwert; King &amp; Nielsen) are all about getting this right.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Controls: Confounders</a:t>
            </a:r>
            <a:endParaRPr lang="en-US" sz="3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CONTROLS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Control “Good”?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E8F5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good control is a CONFOUNDER — a variable that causes BOTH treatment and outcome.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controlling for it, its effect on the outcome leaks into your treatment estimate — because the confounder is correlated with treatment too.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Controlling for it “closes the backdoor path” — it removes the spurious part of the association, leaving (approximately) the true causal effect.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example from Lab 1: W caused both X and Y. Ignoring W overstated the true effect by ~29%; controlling for it recovered the true effect almost exactly.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CONTROLS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Confounders, Illustrated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709160" y="155448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E7A4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09160" y="155448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(confounder)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32918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291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(treatment)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503920" y="329184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03920" y="329184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(outcome)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0" y="2560320"/>
            <a:ext cx="-2468880" cy="731520"/>
          </a:xfrm>
          <a:prstGeom prst="line">
            <a:avLst/>
          </a:prstGeom>
          <a:noFill/>
          <a:ln w="31750">
            <a:solidFill>
              <a:srgbClr val="1E7A4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132320" y="2560320"/>
            <a:ext cx="2468880" cy="731520"/>
          </a:xfrm>
          <a:prstGeom prst="line">
            <a:avLst/>
          </a:prstGeom>
          <a:noFill/>
          <a:ln w="31750">
            <a:solidFill>
              <a:srgbClr val="1E7A4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657600" y="3794760"/>
            <a:ext cx="484632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8640" y="48463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causes both X and Y — that's what makes it a confounder. The X → Y arrow is the effect we actually want to estimate; the two arrows from W are what contaminate a naive comparison if we ignore it.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Bad Controls: Colliders &amp; Mediators</a:t>
            </a:r>
            <a:endParaRPr lang="en-US" sz="3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CONTROLS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Control “Bad”?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81360" cy="1188720"/>
          </a:xfrm>
          <a:prstGeom prst="roundRect">
            <a:avLst>
              <a:gd name="adj" fmla="val 4615"/>
            </a:avLst>
          </a:prstGeom>
          <a:solidFill>
            <a:srgbClr val="FBEAE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13A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bad control INTRODUCES bias, or changes the question you're answering without you realizing it.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97180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Colliders — caused by BOTH treatment and outcome. Controlling for one opens a spurious path that didn't exist before. This is a genuine mistake, no matter your research question.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Mediators — caused by treatment, and themselves cause the outcome. Controlling for one shifts you from the TOTAL effect to the DIRECT effect — not necessarily wrong, but you need to know which one you're asking for.</a:t>
            </a:r>
            <a:endParaRPr lang="en-US" sz="14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Cinelli, Forney &amp; Pearl's core message: more controls isn't automatically safer. Some variables actively hurt you.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CONTROLS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Colliders, Illustrated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173736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7373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(treatment)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503920" y="173736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503920" y="17373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(outcome)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3566160"/>
            <a:ext cx="2743200" cy="1005840"/>
          </a:xfrm>
          <a:prstGeom prst="roundRect">
            <a:avLst>
              <a:gd name="adj" fmla="val 7273"/>
            </a:avLst>
          </a:prstGeom>
          <a:solidFill>
            <a:srgbClr val="A13A2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709160" y="3566160"/>
            <a:ext cx="2743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(collider)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0" y="2240280"/>
            <a:ext cx="484632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80560" y="2743200"/>
            <a:ext cx="548640" cy="777240"/>
          </a:xfrm>
          <a:prstGeom prst="line">
            <a:avLst/>
          </a:prstGeom>
          <a:noFill/>
          <a:ln w="31750">
            <a:solidFill>
              <a:srgbClr val="A13A2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778240" y="3520440"/>
            <a:ext cx="-914400" cy="-777240"/>
          </a:xfrm>
          <a:prstGeom prst="line">
            <a:avLst/>
          </a:prstGeom>
          <a:noFill/>
          <a:ln w="31750">
            <a:solidFill>
              <a:srgbClr val="A13A2F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8640" y="484632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is caused by both X and Y — the arrows point INTO Z, not out of it. That's the opposite structure from a confounder, and it's exactly why controlling for it does the opposite of what you'd expect: it introduces bias instead of removing it.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CONTROLS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Case: Mediators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mediator sits ON the causal path: Treatment → Mediator → Outcome.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mediator, and your coefficient captures the TOTAL effect of treatment (direct + everything routed through the mediator).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for the mediator, and your coefficient captures only the DIRECT effect (whatever's left once you subtract out the mediated pathway).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is “wrong” — but you have to be explicit about which one your research question actually needs, and say so.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7E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521208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Lab 1, Scenario C: skipping the mediator gave ≈0.99 (the total effect); adding it gave ≈0.63 (the direct effect only) — both numbers were “correct,” just for different questions.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vs. Bad Controls: The Checklist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4480560"/>
          </a:xfrm>
          <a:prstGeom prst="roundRect">
            <a:avLst>
              <a:gd name="adj" fmla="val 1224"/>
            </a:avLst>
          </a:prstGeom>
          <a:solidFill>
            <a:srgbClr val="E8F5E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7A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CONTROL FOR IT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 BOTH treatment and outcome (confounder)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BEFORE treatment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close a backdoor path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080760" y="1554480"/>
            <a:ext cx="5257800" cy="4480560"/>
          </a:xfrm>
          <a:prstGeom prst="roundRect">
            <a:avLst>
              <a:gd name="adj" fmla="val 1224"/>
            </a:avLst>
          </a:prstGeom>
          <a:solidFill>
            <a:srgbClr val="FBEAE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355080" y="17373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13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DON'T (OR BE CAREFUL)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228600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BOTH treatment and outcome (collider)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Caused by treatment itself (mediator, if you want the total effect)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AFTER treatment, and could have been affected by it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3E5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Readings &amp; What's Next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0881360" cy="4754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Cinelli, Forney &amp; Pearl — the good/bad controls typology we just covered.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Aronow &amp; Samii (2016) — even a “good” regression can implicitly weight units in surprising ways; the coefficient isn't always the simple average effect you'd expect.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Keele, Stevenson &amp; Elwert (2020) — when is a regression coefficient safe to interpret causally?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King &amp; Nielsen (2019) — a preview of Week 5: propensity score matching can go wrong for reasons closely related to tonight's material.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846320"/>
            <a:ext cx="10881360" cy="13716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50292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 in lab: 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30352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a confounder and a collider yourself, then extend it to a richer dataset and a real stratification check. Homework: run a sensitivity analysis on real data from Darfur.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2026-09-10T20:20:09Z</dcterms:created>
  <dcterms:modified xsi:type="dcterms:W3CDTF">2026-09-10T20:20:09Z</dcterms:modified>
</cp:coreProperties>
</file>