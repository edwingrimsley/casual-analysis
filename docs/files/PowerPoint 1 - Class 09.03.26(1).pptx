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8" r:id="rId16"/>
    <p:sldId id="279" r:id="rId17"/>
    <p:sldId id="270" r:id="rId18"/>
    <p:sldId id="271" r:id="rId19"/>
    <p:sldId id="272" r:id="rId20"/>
    <p:sldId id="280" r:id="rId21"/>
    <p:sldId id="273" r:id="rId22"/>
    <p:sldId id="274" r:id="rId23"/>
    <p:sldId id="276" r:id="rId24"/>
    <p:sldId id="275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69176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students as they arrive. Briefly introduce yourself — your background (ACLU Immigrants' Rights Project, Innocence Project, sociology PhD) helps students see why this course treats causal inference as a design problem, not just a stats requirement. Mention this is Session 1: logistics first, then a real intro to causal thinking, then next week starts 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breadth of the toolkit up front so students see the whole arc of the semester, not just week-to-week topics. If time allows, ask 1-2 students what causal question brought them to the course — primes the 'research interests' discussion slide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goal 4 as the throughline: everything builds toward the final paper. Worth saying explicitly that by Week 11 they'll already have a paper outline — this isn't a last-minute scramble.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ZTC explicitly — students often don't realize this until they've already budgeted for books. Huntington-Klein's is the one they'll use most (weekly problem sets draw from it); Green and Rosenbaum are more reference-style, pulled from for specific weeks (experiments, matching/weighting).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Reassure students who haven't used R before — next week's lab is a full refresher. If anyone doesn't have R/RStudio installed tonight, point them to posit.co/download/rstudio-desktop and note that tonight's lab is low-stakes (no submission) precisely so install hiccups don't cost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that 2 of the 9 homeworks are design memos (Weeks 6 and 8) rather than code — worth flagging so students don't assume every homework is a coding problem set. No separate homework in Weeks 1, 10, or 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Encourage students to start thinking about a topic now, even loosely — by Week 11 they'll need a real outline, and it's much easier if they've been carrying a question around for 10 weeks rather than inventing one cold. Mention dissertation-stage students can and should use this to advance an actual chapter.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in office hours day/time and any TA info here before presenting — currently a placeholder. Consider adding a Calendly-style signup link if you plan to use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here for real — let silence sit a few seconds before moving on. This is the natural break between administrative content and the actual causal-thinking material that follows.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answer the two embedded questions out loud before revealing the counterfactual framing — they'll usually get to 'selection' and 'other things changed too' on their own, which sets up the rest of the deck naturally.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Legewie &amp; Fagan paper is the one students will actually replicate in Week 8, so it's worth pointing that out here as a preview. No need to summarize every citation — just gesture at the range (neighborhood effects, crime, policing) and note these are all examples of researchers solving the same identification problem we just discussed.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around the room or call on a few volunteers. Listen for whether their stated interest is already phrased causally ('the effect of X on Y') or still descriptive — gently note the difference without correcting anyone; that distinction is literally what Week 11's workshop is for.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point to land: design comes before estimation, always. This is the course's core commitment stated in the syllabus ('design before estimation') — worth explicitly connecting this slide to that language so students hear it twice.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 want a live visual, pull up tylervigen.com/spurious-correlations on screen and click through 2-3 examples — students find this genuinely funny and it makes the abstract point concrete. Not embedded in the slide itself for licensing reasons, but totally fine to browse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r=0.00 panel is the most useful teaching moment — point out that it's not 'no pattern,' it's a clear inverted-U pattern that Pearson's r simply can't see. Good segue: 'correlation coefficients only capture linear relationships, which is one more reason not to over-trust them.'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arguably the single most important slide in the whole semester — consider pausing longer here than anywhere else. The phrase 'what's your identification strategy?' is the question every method in this course is trying to answer; students should leave tonight able to repeat that phrase back to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good moment to connect to the Legewie &amp; Fagan paper and the course's own policing/housing case material — 'racialized policing' framings in this course are already built around discrimination/enforcement as the manipulable treatment, not race itself. Worth naming that explicitly so students see the course practicing what this slide preaches.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Points 2 and 3 together are the setup for Week 3's potential-outcomes notation — flag that connection explicitly. Point 5 (non-rival causes) is the one students most often get wrong on exams/memos later, so it's worth a concrete example: a fire needs both oxygen and fuel, and both are fully 'causes,' not 50%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9 (treatment/control don't need to be identical) previews Week 4's balance-check discussion — worth a one-line flag ('we'll formalize this with real balance tables in two weeks'). Point 10 closes the loop back to the manipulation slide — good place to end and transition to closing/questions.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reminding students to install R/RStudio before next week if they haven't, and that Lab 1 next week is genuinely no-stakes — lowers anxiety for anyone rusty or new to 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7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600200"/>
            <a:ext cx="1463040" cy="54864"/>
          </a:xfrm>
          <a:prstGeom prst="rect">
            <a:avLst/>
          </a:prstGeom>
          <a:solidFill>
            <a:srgbClr val="BFD7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10698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1: Introduction to Causal Thinking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657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BFD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Analysis for Public Policy and Social Science  —  QMSS 75000 / SOC 81900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1148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BFD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CUNY Graduate Center  —  Fall 2026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Edwin Grimsley, Ph.D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27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This Course About?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170432"/>
            <a:ext cx="914400" cy="41148"/>
          </a:xfrm>
          <a:prstGeom prst="rect">
            <a:avLst/>
          </a:prstGeom>
          <a:solidFill>
            <a:srgbClr val="BFD7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introduction to causal inference methods for public policy and social science research.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designed to assess the impact of a potential cause — a policy, an intervention, an institutional change — on an outcome.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learn the modern causal inference toolkit: experiments, regression &amp; matching, weighting, fixed effects, difference-in-differences, instrumental variables, regression discontinuity, and spatial/boundary designs.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from sociology, criminal justice, education, housing, immigration, and public health.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27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170432"/>
            <a:ext cx="914400" cy="41148"/>
          </a:xfrm>
          <a:prstGeom prst="rect">
            <a:avLst/>
          </a:prstGeom>
          <a:solidFill>
            <a:srgbClr val="BFD7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and use the core tools of modern causal inference.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problems and assumptions underlying a causal claim.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and critically evaluate causal research in applied social science and policy.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enough foundation to design and defend your own causal research.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27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Readings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170432"/>
            <a:ext cx="914400" cy="41148"/>
          </a:xfrm>
          <a:prstGeom prst="rect">
            <a:avLst/>
          </a:prstGeom>
          <a:solidFill>
            <a:srgbClr val="BFD7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10698480" cy="640080"/>
          </a:xfrm>
          <a:prstGeom prst="roundRect">
            <a:avLst>
              <a:gd name="adj" fmla="val 8571"/>
            </a:avLst>
          </a:prstGeom>
          <a:solidFill>
            <a:srgbClr val="BFD7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1600200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course is ZTC (“Zero Textbook Cost”) — all readings are free, on Brightspace or linked directly.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281428"/>
            <a:ext cx="10698480" cy="1051560"/>
          </a:xfrm>
          <a:prstGeom prst="roundRect">
            <a:avLst>
              <a:gd name="adj" fmla="val 5217"/>
            </a:avLst>
          </a:prstGeom>
          <a:solidFill>
            <a:srgbClr val="F2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805207" y="2315567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Rosenbaum, Paul R. (2023)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73723" y="2596896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Causal Inference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03064" y="2962656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MIT Press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170" y="3890521"/>
            <a:ext cx="10698480" cy="1051560"/>
          </a:xfrm>
          <a:prstGeom prst="roundRect">
            <a:avLst>
              <a:gd name="adj" fmla="val 5217"/>
            </a:avLst>
          </a:prstGeom>
          <a:solidFill>
            <a:srgbClr val="F2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853440" y="3918204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Huntington-Klein, Nick (2025)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5304" y="4224402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Effect: An Introduction to Research Design and Causality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25304" y="4590162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online — theeffectbook.net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27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170432"/>
            <a:ext cx="914400" cy="41148"/>
          </a:xfrm>
          <a:prstGeom prst="rect">
            <a:avLst/>
          </a:prstGeom>
          <a:solidFill>
            <a:srgbClr val="BFD7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use R in lectures, labs, and assignments — every week.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prior R experience required, but come ready to be challenged and to learn by doing.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 each week walk through the code together before it shows up in homework.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a laptop with R and RStudio installed to every class.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27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170432"/>
            <a:ext cx="914400" cy="41148"/>
          </a:xfrm>
          <a:prstGeom prst="rect">
            <a:avLst/>
          </a:prstGeom>
          <a:solidFill>
            <a:srgbClr val="BFD7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698480" cy="914400"/>
          </a:xfrm>
          <a:prstGeom prst="rect">
            <a:avLst/>
          </a:prstGeom>
          <a:solidFill>
            <a:srgbClr val="F2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19202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9202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4F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15%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192024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applied exercises, one per week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10698480" cy="914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914400" y="29260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29260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4F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29260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coding problem sets + 2 design memos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749040"/>
            <a:ext cx="10698480" cy="914400"/>
          </a:xfrm>
          <a:prstGeom prst="rect">
            <a:avLst/>
          </a:prstGeom>
          <a:solidFill>
            <a:srgbClr val="F2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914400" y="39319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paper presentation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39319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4F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5%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393192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14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754880"/>
            <a:ext cx="10698480" cy="914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914400" y="49377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paper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4754880" y="49377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4F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493776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your Week 11 research outline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27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Paper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170432"/>
            <a:ext cx="914400" cy="41148"/>
          </a:xfrm>
          <a:prstGeom prst="rect">
            <a:avLst/>
          </a:prstGeom>
          <a:solidFill>
            <a:srgbClr val="BFD7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causal-inference research paper applying methods from the course to an empirical policy or social science question.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11 homework is your outline: research question, data, and analysis plan — the paper builds directly from it.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 extension, dissertation chapter design, or a program evaluation proposal are all welcome directions.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is on research design, data, methodology, and results — not polish for its own sake.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in Week 14.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27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Other Logistics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170432"/>
            <a:ext cx="914400" cy="41148"/>
          </a:xfrm>
          <a:prstGeom prst="rect">
            <a:avLst/>
          </a:prstGeom>
          <a:solidFill>
            <a:srgbClr val="BFD7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Syllabus, readings, and all assignments posted on Brightspace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hours: details TBD on Brightspace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posted before each class — download them beforehand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27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170432"/>
            <a:ext cx="914400" cy="41148"/>
          </a:xfrm>
          <a:prstGeom prst="rect">
            <a:avLst/>
          </a:prstGeom>
          <a:solidFill>
            <a:srgbClr val="BFD7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questions about logistics?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27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Causal Inference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170432"/>
            <a:ext cx="914400" cy="41148"/>
          </a:xfrm>
          <a:prstGeom prst="rect">
            <a:avLst/>
          </a:prstGeom>
          <a:solidFill>
            <a:srgbClr val="BFD7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the questions we study and the claims we make in the social sciences are causal in nature.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effect of small class sizes on educational achievement?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an intervention that changed class sizes, what's the problem with comparing students already in large vs. small classes?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whole school moves to smaller classes, what's the problem with comparing scores before and after?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want the counterfactual: what test scores would have been had class size not changed, all else equal.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27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Causal Inference — Applications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170432"/>
            <a:ext cx="914400" cy="41148"/>
          </a:xfrm>
          <a:prstGeom prst="rect">
            <a:avLst/>
          </a:prstGeom>
          <a:solidFill>
            <a:srgbClr val="BFD7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69848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Sampson, R.J. &amp; Sharkey, P. (2008). Neighborhood selection and the social reproduction of concentrated racial inequality. Demography.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Harding, D.J. (2003). Counterfactual models of neighborhood effects. American Journal of Sociology.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Sharkey, P. &amp; Torrats-Espinosa, G. (2017). The effect of violent crime on economic mobility. Journal of Urban Economics.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Sharkey, P., Torrats-Espinosa, G. &amp; Takyar, D. (2017). Community and the crime decline: local nonprofits and violent crime. American Sociological Review.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Kirk, D.S. (2009). A natural experiment on residential change and recidivism: lessons from Hurricane Katrina. American Sociological Review.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Legewie, J. &amp; Fagan, J. (2019). Aggressive policing and the educational performance of minority youth. American Sociological Review.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27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Causal Inference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170432"/>
            <a:ext cx="914400" cy="41148"/>
          </a:xfrm>
          <a:prstGeom prst="rect">
            <a:avLst/>
          </a:prstGeom>
          <a:solidFill>
            <a:srgbClr val="BFD7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731520" y="145701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from your own research interests — let's hear a few.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27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Approach to Science in This Class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170432"/>
            <a:ext cx="914400" cy="41148"/>
          </a:xfrm>
          <a:prstGeom prst="rect">
            <a:avLst/>
          </a:prstGeom>
          <a:solidFill>
            <a:srgbClr val="BFD7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of the quantitative research process: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1463040" cy="1097280"/>
          </a:xfrm>
          <a:prstGeom prst="roundRect">
            <a:avLst>
              <a:gd name="adj" fmla="val 6667"/>
            </a:avLst>
          </a:prstGeom>
          <a:solidFill>
            <a:srgbClr val="0027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201168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331720" y="2057400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motivates a causal hypothesis or target of inference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2331720" y="2468880"/>
            <a:ext cx="8961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manipulate X, we observe some effect on 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383280"/>
            <a:ext cx="1463040" cy="1097280"/>
          </a:xfrm>
          <a:prstGeom prst="roundRect">
            <a:avLst>
              <a:gd name="adj" fmla="val 6667"/>
            </a:avLst>
          </a:prstGeom>
          <a:solidFill>
            <a:srgbClr val="0027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40080" y="338328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331720" y="3429000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+ theory motivate the research design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3840480"/>
            <a:ext cx="8961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operationalize X and Y, and how to get useful variation given logistical and ethical constraints.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754880"/>
            <a:ext cx="1463040" cy="1097280"/>
          </a:xfrm>
          <a:prstGeom prst="roundRect">
            <a:avLst>
              <a:gd name="adj" fmla="val 6667"/>
            </a:avLst>
          </a:prstGeom>
          <a:solidFill>
            <a:srgbClr val="0027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40080" y="475488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4800600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design motivates the analysis plan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2331720" y="5212080"/>
            <a:ext cx="8961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estimation and testing strategy that follows from the design — not the other way around.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27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Causal Identification: Spurious Correlations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170432"/>
            <a:ext cx="914400" cy="41148"/>
          </a:xfrm>
          <a:prstGeom prst="rect">
            <a:avLst/>
          </a:prstGeom>
          <a:solidFill>
            <a:srgbClr val="BFD7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40080" y="16459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time series can track each other closely for years with no causal connection at all — both simply trending upward (or cyclically) for unrelated reasons.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 correlation coefficient tells you nothing about whether one variable causes the other, or whether both are driven by a shared trend, a common season, or pure coincidence.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the course cares less about 'is there a correlation' and more about 'what design would let us rule out the alternative explanations.'</a:t>
            </a: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EE3A69-73BB-D10E-6211-2E6717EE07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704" y="914914"/>
            <a:ext cx="10387476" cy="4583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4425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F8290D-D571-6E5C-93A8-61DB3208A4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8063" y="-110867"/>
            <a:ext cx="5841888" cy="6968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2016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27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and Causation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170432"/>
            <a:ext cx="914400" cy="41148"/>
          </a:xfrm>
          <a:prstGeom prst="rect">
            <a:avLst/>
          </a:prstGeom>
          <a:solidFill>
            <a:srgbClr val="BFD7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33400" y="13716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Correlations for causal inference are often spurious — driven by selection effects or confounding factors, not the causal process under investigation.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is neither necessary nor sufficient for causation — though it can still motivate a causal study.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09244" y="4718304"/>
            <a:ext cx="3200400" cy="1554480"/>
          </a:xfrm>
          <a:prstGeom prst="rect">
            <a:avLst/>
          </a:prstGeom>
          <a:solidFill>
            <a:srgbClr val="F7F9FB"/>
          </a:solidFill>
          <a:ln w="12700">
            <a:solidFill>
              <a:srgbClr val="D8DC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316736" y="5116068"/>
            <a:ext cx="64008" cy="64008"/>
          </a:xfrm>
          <a:prstGeom prst="ellipse">
            <a:avLst/>
          </a:prstGeom>
          <a:solidFill>
            <a:srgbClr val="0027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847088" y="5353812"/>
            <a:ext cx="64008" cy="64008"/>
          </a:xfrm>
          <a:prstGeom prst="ellipse">
            <a:avLst/>
          </a:prstGeom>
          <a:solidFill>
            <a:srgbClr val="0027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377440" y="5591556"/>
            <a:ext cx="64008" cy="64008"/>
          </a:xfrm>
          <a:prstGeom prst="ellipse">
            <a:avLst/>
          </a:prstGeom>
          <a:solidFill>
            <a:srgbClr val="0027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907792" y="5829300"/>
            <a:ext cx="64008" cy="64008"/>
          </a:xfrm>
          <a:prstGeom prst="ellipse">
            <a:avLst/>
          </a:prstGeom>
          <a:solidFill>
            <a:srgbClr val="0027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438144" y="6067044"/>
            <a:ext cx="64008" cy="64008"/>
          </a:xfrm>
          <a:prstGeom prst="ellipse">
            <a:avLst/>
          </a:prstGeom>
          <a:solidFill>
            <a:srgbClr val="0027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96012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4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= −1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43400" y="4709160"/>
            <a:ext cx="3200400" cy="1554480"/>
          </a:xfrm>
          <a:prstGeom prst="rect">
            <a:avLst/>
          </a:prstGeom>
          <a:solidFill>
            <a:srgbClr val="F7F9FB"/>
          </a:solidFill>
          <a:ln w="12700">
            <a:solidFill>
              <a:srgbClr val="D8DC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37176" y="6067044"/>
            <a:ext cx="64008" cy="64008"/>
          </a:xfrm>
          <a:prstGeom prst="ellipse">
            <a:avLst/>
          </a:prstGeom>
          <a:solidFill>
            <a:srgbClr val="0027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367528" y="5829300"/>
            <a:ext cx="64008" cy="64008"/>
          </a:xfrm>
          <a:prstGeom prst="ellipse">
            <a:avLst/>
          </a:prstGeom>
          <a:solidFill>
            <a:srgbClr val="0027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897880" y="5591556"/>
            <a:ext cx="64008" cy="64008"/>
          </a:xfrm>
          <a:prstGeom prst="ellipse">
            <a:avLst/>
          </a:prstGeom>
          <a:solidFill>
            <a:srgbClr val="0027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428232" y="5353812"/>
            <a:ext cx="64008" cy="64008"/>
          </a:xfrm>
          <a:prstGeom prst="ellipse">
            <a:avLst/>
          </a:prstGeom>
          <a:solidFill>
            <a:srgbClr val="0027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958584" y="5116068"/>
            <a:ext cx="64008" cy="64008"/>
          </a:xfrm>
          <a:prstGeom prst="ellipse">
            <a:avLst/>
          </a:prstGeom>
          <a:solidFill>
            <a:srgbClr val="0027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48056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4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= +1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863840" y="4709160"/>
            <a:ext cx="3200400" cy="1554480"/>
          </a:xfrm>
          <a:prstGeom prst="rect">
            <a:avLst/>
          </a:prstGeom>
          <a:solidFill>
            <a:srgbClr val="F7F9FB"/>
          </a:solidFill>
          <a:ln w="12700">
            <a:solidFill>
              <a:srgbClr val="D8DC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490204" y="5769864"/>
            <a:ext cx="64008" cy="64008"/>
          </a:xfrm>
          <a:prstGeom prst="ellipse">
            <a:avLst/>
          </a:prstGeom>
          <a:solidFill>
            <a:srgbClr val="0027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887968" y="5413248"/>
            <a:ext cx="64008" cy="64008"/>
          </a:xfrm>
          <a:prstGeom prst="ellipse">
            <a:avLst/>
          </a:prstGeom>
          <a:solidFill>
            <a:srgbClr val="0027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285732" y="5234940"/>
            <a:ext cx="64008" cy="64008"/>
          </a:xfrm>
          <a:prstGeom prst="ellipse">
            <a:avLst/>
          </a:prstGeom>
          <a:solidFill>
            <a:srgbClr val="0027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683496" y="5413248"/>
            <a:ext cx="64008" cy="64008"/>
          </a:xfrm>
          <a:prstGeom prst="ellipse">
            <a:avLst/>
          </a:prstGeom>
          <a:solidFill>
            <a:srgbClr val="0027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0081260" y="5769864"/>
            <a:ext cx="64008" cy="64008"/>
          </a:xfrm>
          <a:prstGeom prst="ellipse">
            <a:avLst/>
          </a:prstGeom>
          <a:solidFill>
            <a:srgbClr val="0027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0479024" y="5948172"/>
            <a:ext cx="64008" cy="64008"/>
          </a:xfrm>
          <a:prstGeom prst="ellipse">
            <a:avLst/>
          </a:prstGeom>
          <a:solidFill>
            <a:srgbClr val="0027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80010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4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= 0.00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27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Causal Identification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170432"/>
            <a:ext cx="914400" cy="41148"/>
          </a:xfrm>
          <a:prstGeom prst="rect">
            <a:avLst/>
          </a:prstGeom>
          <a:solidFill>
            <a:srgbClr val="BFD7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371600" y="2011680"/>
            <a:ext cx="2926080" cy="1188720"/>
          </a:xfrm>
          <a:prstGeom prst="roundRect">
            <a:avLst>
              <a:gd name="adj" fmla="val 6154"/>
            </a:avLst>
          </a:prstGeom>
          <a:solidFill>
            <a:srgbClr val="0027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371600" y="201168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863840" y="2011680"/>
            <a:ext cx="2926080" cy="1188720"/>
          </a:xfrm>
          <a:prstGeom prst="roundRect">
            <a:avLst>
              <a:gd name="adj" fmla="val 6154"/>
            </a:avLst>
          </a:prstGeom>
          <a:solidFill>
            <a:srgbClr val="1B4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863840" y="201168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834640" y="3200400"/>
            <a:ext cx="1828800" cy="1005840"/>
          </a:xfrm>
          <a:prstGeom prst="line">
            <a:avLst/>
          </a:prstGeom>
          <a:noFill/>
          <a:ln w="31750">
            <a:solidFill>
              <a:srgbClr val="00274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052560" y="3200400"/>
            <a:ext cx="0" cy="1005840"/>
          </a:xfrm>
          <a:prstGeom prst="line">
            <a:avLst/>
          </a:prstGeom>
          <a:noFill/>
          <a:ln w="31750">
            <a:solidFill>
              <a:srgbClr val="1B4F8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297680" y="448056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F2F6FA"/>
          </a:solidFill>
          <a:ln w="19050">
            <a:solidFill>
              <a:srgbClr val="BFD7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297680" y="448056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594360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depends on assumptions, not estimation methods. If an effect isn't identified, no estimation technique will recover it — regression, matching, weighting, and 2SLS are all secondary to the identifying assumptions.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27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Causation and Manipulation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170432"/>
            <a:ext cx="914400" cy="41148"/>
          </a:xfrm>
          <a:prstGeom prst="rect">
            <a:avLst/>
          </a:prstGeom>
          <a:solidFill>
            <a:srgbClr val="BFD7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Holland (1986): for causal inference, a unit needs to be potentially exposable to any of the causes under study — summarized in his well-known phrase, “no causation without manipulation.”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of ambiguous counterfactuals is usually resolved by focusing on hypothetical manipulations in the world as it is (Angrist &amp; Krueger 1999).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gets tricky for things like race or gender, which can't literally be manipulated.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fix: reframe the question — not “the effect of race on …” but “the effect of racial discrimination on …”</a:t>
            </a:r>
            <a:endParaRPr lang="en-US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AF277F-9B99-D250-C1DE-16D4B34524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773" y="222250"/>
            <a:ext cx="11407844" cy="641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5965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27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 Things to Know About Causal Inference (1–5)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170432"/>
            <a:ext cx="914400" cy="41148"/>
          </a:xfrm>
          <a:prstGeom prst="rect">
            <a:avLst/>
          </a:prstGeom>
          <a:solidFill>
            <a:srgbClr val="BFD7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Adapted from Macartan Humphreys, EGAP — egap.org/resource/10-things-to-know-about-causal-inference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causal claim is about what didn't happen.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945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“X caused Y” means Y wouldn't have happened without X — a claim about a counterfactual, not just about what was observed.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77063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a fundamental problem of causal inference.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09067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arrange to see what happens with or without treatment, but never both for the same unit at once.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666744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estimate average effects without observing any individual effect.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986784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average causal effect is the gap between the average outcome across units in each condition — even though no single unit reveals its own effect.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562856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causes B” and “B causes C” doesn't mean “A causes C.”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882896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causal relationships aren't guaranteed to chain together this way.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45896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 are non-rival.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577900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things can each independently be “the” cause of an outcome; their effects don't have to sum to 100%.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27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 Things to Know About Causal Inference (6–10)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170432"/>
            <a:ext cx="914400" cy="41148"/>
          </a:xfrm>
          <a:prstGeom prst="rect">
            <a:avLst/>
          </a:prstGeom>
          <a:solidFill>
            <a:srgbClr val="BFD7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“effects of a cause” is easier than “causes of an effect.”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20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often say what X does to Y on average, even when you can't say why a specific outcome happened.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5603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isn't causation.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880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correlation describes actual outcomes in the world, not the gap between actual and counterfactual outcomes — cough medicine correlates with coughing, but doesn't cause it.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520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can cause Y without being necessary or sufficient for Y.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840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Causation can be probabilistic (X raises the chance of Y) or conditional (X causes Y only given some other condition).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4805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and control groups don't need to be identical.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8006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Randomization balances groups in expectation, not necessarily in any single realized sample.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4406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causation without manipulation.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7607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causal claim needs a coherent counterfactual — which is why claims like “he got the job because he's Peter” are hard to interpret causally, and why some effects (like race) get reframed around a manipulable mechanism instead.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BB9A8B-9FB6-F35B-EA03-417F7A2EC6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4250" y="317500"/>
            <a:ext cx="7683500" cy="622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9658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27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749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FD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Week: R Refresher &amp; Regressions set up.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2513</Words>
  <Application>Microsoft Macintosh PowerPoint</Application>
  <PresentationFormat>Widescreen</PresentationFormat>
  <Paragraphs>163</Paragraphs>
  <Slides>24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Edwin Grimsley</cp:lastModifiedBy>
  <cp:revision>2</cp:revision>
  <dcterms:created xsi:type="dcterms:W3CDTF">2026-09-03T20:05:53Z</dcterms:created>
  <dcterms:modified xsi:type="dcterms:W3CDTF">2026-09-03T21:47:41Z</dcterms:modified>
</cp:coreProperties>
</file>