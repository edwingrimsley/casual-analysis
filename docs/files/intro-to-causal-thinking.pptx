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as they arrive. Briefly introduce yourself — your background (ACLU Immigrants' Rights Project, Innocence Project, sociology PhD) helps students see why this course treats causal inference as a design problem, not just a stats requirement. Mention this is Session 1: logistics first, then a real intro to causal thinking, then next week starts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breadth of the toolkit up front so students see the whole arc of the semester, not just week-to-week topics. If time allows, ask 1-2 students what causal question brought them to the course — primes the 'research interests' discussion slide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goal 4 as the throughline: everything builds toward the final paper. Worth saying explicitly that by Week 11 they'll already have a paper outline — this isn't a last-minute scramble.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ZTC explicitly — students often don't realize this until they've already budgeted for books. Huntington-Klein's is the one they'll use most (weekly problem sets draw from it); Green and Rosenbaum are more reference-style, pulled from for specific weeks (experiments, matching/weighting).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who haven't used R before — next week's lab is a full refresher. If anyone doesn't have R/RStudio installed tonight, point them to posit.co/download/rstudio-desktop and note that tonight's lab is low-stakes (no submission) precisely so install hiccups don't cost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2 of the 9 homeworks are design memos (Weeks 6 and 8) rather than code — worth flagging so students don't assume every homework is a coding problem set. No separate homework in Weeks 1, 10, or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start thinking about a topic now, even loosely — by Week 11 they'll need a real outline, and it's much easier if they've been carrying a question around for 10 weeks rather than inventing one cold. Mention dissertation-stage students can and should use this to advance an actual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office hours day/time and any TA info here before presenting — currently a placeholder. Consider adding a Calendly-style signup link if you plan to use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for real — let silence sit a few seconds before moving on. This is the natural break between administrative content and the actual causal-thinking material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answer the two embedded questions out loud before revealing the counterfactual framing — they'll usually get to 'selection' and 'other things changed too' on their own, which sets up the rest of the deck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Legewie &amp; Fagan paper is the one students will actually replicate in Week 8, so it's worth pointing that out here as a preview. No need to summarize every citation — just gesture at the range (neighborhood effects, crime, policing) and note these are all examples of researchers solving the same identification problem we just discussed.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around the room or call on a few volunteers. Listen for whether their stated interest is already phrased causally ('the effect of X on Y') or still descriptive — gently note the difference without correcting anyone; that distinction is literally what Week 11's workshop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to land: design comes before estimation, always. This is the course's core commitment stated in the syllabus ('design before estimation') — worth explicitly connecting this slide to that language so students hear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a live visual, pull up tylervigen.com/spurious-correlations on screen and click through 2-3 examples — students find this genuinely funny and it makes the abstract point concrete. Not embedded in the slide itself for licensing reasons, but totally fine to browse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r=0.00 panel is the most useful teaching moment — point out that it's not 'no pattern,' it's a clear inverted-U pattern that Pearson's r simply can't see. Good segue: 'correlation coefficients only capture linear relationships, which is one more reason not to over-trust them.'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arguably the single most important slide in the whole semester — consider pausing longer here than anywhere else. The phrase 'what's your identification strategy?' is the question every method in this course is trying to answer; students should leave tonight able to repeat that phrase back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moment to connect to the Legewie &amp; Fagan paper and the course's own policing/housing case material — 'racialized policing' framings in this course are already built around discrimination/enforcement as the manipulable treatment, not race itself. Worth naming that explicitly so students see the course practicing what this slide preaches.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2 and 3 together are the setup for Week 3's potential-outcomes notation — flag that connection explicitly. Point 5 (non-rival causes) is the one students most often get wrong on exams/memos later, so it's worth a concrete example: a fire needs both oxygen and fuel, and both are fully 'causes,' not 50%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9 (treatment/control don't need to be identical) previews Week 4's balance-check discussion — worth a one-line flag ('we'll formalize this with real balance tables in two weeks'). Point 10 closes the loop back to the manipulation slide — good place to end and transition to closing/questions.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 to install R/RStudio before next week if they haven't, and that Lab 1 next week is genuinely no-stakes — lowers anxiety for anyone rusty or new to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463040" cy="54864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Causal Thinking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 for Public Policy and Social Science  —  QMSS 75000 / SOC 81900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 Graduate Center  —  Fall 2026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Grimsley, Ph.D.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Course About?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causal inference methods for public policy and social science research.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designed to assess the impact of a potential cause — a policy, an intervention, an institutional change — on an outcome.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 the modern causal inference toolkit: experiments, regression &amp; matching, weighting, fixed effects, difference-in-differences, instrumental variables, regression discontinuity, and spatial/boundary designs.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from sociology, criminal justice, education, housing, immigration, and public health.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use the core tools of modern causal inference.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problems and assumptions underlying a causal claim.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critically evaluate causal research in applied social science and policy.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enough foundation to design and defend your own causal research.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Readings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10698480" cy="640080"/>
          </a:xfrm>
          <a:prstGeom prst="roundRect">
            <a:avLst>
              <a:gd name="adj" fmla="val 8571"/>
            </a:avLst>
          </a:prstGeom>
          <a:solidFill>
            <a:srgbClr val="BFD7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is ZTC (“Zero Textbook Cost”) — all readings are free, on Brightspace or linked directly.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2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877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Donald P. (2022)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Science Experiments: A Hands-on Introduction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461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University Press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2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221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Rosenbaum, Paul R. (2023)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148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80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 Press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2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0566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Huntington-Klein, Nick (2025)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492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Effect: An Introduction to Research Design and Causality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7150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— theeffectbook.net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R in lectures, labs, and assignments — every week.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R experience required, but come ready to be challenged and to learn by doing.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each week walk through the code together before it shows up in homework.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laptop with R and RStudio installed to every class.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10698480" cy="9144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applied exercises, one per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coding problem sets + 2 design memos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698480" cy="9144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 presentation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6984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937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Week 11 research outline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Paper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causal-inference research paper applying methods from the course to an empirical policy or social science question.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homework is your outline: research question, data, and analysis plan — the paper builds directly from it.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extension, dissertation chapter design, or a program evaluation proposal are all welcome directions.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on research design, data, methodology, and results — not polish for its own sake.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 Week 14.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Logistics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readings, and all assignments posted on Brightspace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details on Brightspace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posted before each class — download them beforehand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about logistics?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questions we study and the claims we make in the social sciences are causal in nature.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effect of small class sizes on educational achievement?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intervention that changed class sizes, what's the problem with comparing students already in large vs. small classes?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whole school moves to smaller classes, what's the problem with comparing scores before and after?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counterfactual: what test scores would have been had class size not changed, all else equal.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 —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Sampson, R.J. &amp; Sharkey, P. (2008). Neighborhood selection and the social reproduction of concentrated racial inequality. Demography.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Harding, D.J. (2003). Counterfactual models of neighborhood effects. American Journal of Sociology.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Sharkey, P. &amp; Torrats-Espinosa, G. (2017). The effect of violent crime on economic mobility. Journal of Urban Economics.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Sharkey, P., Torrats-Espinosa, G. &amp; Takyar, D. (2017). Community and the crime decline: local nonprofits and violent crime. American Sociological Review.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Kirk, D.S. (2009). A natural experiment on residential change and recidivism: lessons from Hurricane Katrina. American Sociological Review.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Legewie, J. &amp; Fagan, J. (2019). Aggressive policing and the educational performance of minority youth. American Sociological Review.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28600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your own research interests — let's hear a few.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to Science in This Class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 the quantitative research process: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057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motivates a causal hypothesis or target of inference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4688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manipulate X, we observe some effect on 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429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+ theory motivate the research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8404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operationalize X and Y, and how to get useful variation given logistical and ethical constraints.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4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8006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motivates the analysis plan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5212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estimation and testing strategy that follows from the design — not the other way around.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Identification: Spurious Correlations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 series can track each other closely for years with no causal connection at all — both simply trending upward (or cyclically) for unrelated reasons.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correlation coefficient tells you nothing about whether one variable causes the other, or whether both are driven by a shared trend, a common season, or pure coincidence.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course cares less about 'is there a correlation' and more about 'what design would let us rule out the alternative explanations.'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and Causation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for causal inference are often spurious — driven by selection effects or confounding factors, not the causal process under investigation.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neither necessary nor sufficient for causation — though it can still motivate a causal study.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511606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7" name="Shape 5"/>
          <p:cNvSpPr/>
          <p:nvPr/>
        </p:nvSpPr>
        <p:spPr>
          <a:xfrm>
            <a:off x="1847088" y="535381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5591556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9" name="Shape 7"/>
          <p:cNvSpPr/>
          <p:nvPr/>
        </p:nvSpPr>
        <p:spPr>
          <a:xfrm>
            <a:off x="2907792" y="582930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0" name="Shape 8"/>
          <p:cNvSpPr/>
          <p:nvPr/>
        </p:nvSpPr>
        <p:spPr>
          <a:xfrm>
            <a:off x="3438144" y="606704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−1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4709160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37176" y="606704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4" name="Shape 12"/>
          <p:cNvSpPr/>
          <p:nvPr/>
        </p:nvSpPr>
        <p:spPr>
          <a:xfrm>
            <a:off x="5367528" y="582930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7880" y="5591556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8232" y="535381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958584" y="511606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+1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4709160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90204" y="576986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1" name="Shape 19"/>
          <p:cNvSpPr/>
          <p:nvPr/>
        </p:nvSpPr>
        <p:spPr>
          <a:xfrm>
            <a:off x="8887968" y="541324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5732" y="523494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3" name="Shape 21"/>
          <p:cNvSpPr/>
          <p:nvPr/>
        </p:nvSpPr>
        <p:spPr>
          <a:xfrm>
            <a:off x="9683496" y="541324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81260" y="576986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79024" y="594817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0.00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Identification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01168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0027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2011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0" y="201168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B4F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2011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3200400"/>
            <a:ext cx="1828800" cy="1005840"/>
          </a:xfrm>
          <a:prstGeom prst="line">
            <a:avLst/>
          </a:prstGeom>
          <a:noFill/>
          <a:ln w="31750">
            <a:solidFill>
              <a:srgbClr val="00274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52560" y="3200400"/>
            <a:ext cx="-1828800" cy="1005840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4480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9050">
            <a:solidFill>
              <a:srgbClr val="BFD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44805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depends on assumptions, not estimation methods. If an effect isn't identified, no estimation technique will recover it — regression, matching, weighting, and 2SLS are all secondary to the identifying assumptions.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Causation and Manipulation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(1986): for causal inference, a unit needs to be potentially exposable to any of the causes under study — summarized in his well-known phrase, “no causation without manipulation.”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of ambiguous counterfactuals is usually resolved by focusing on hypothetical manipulations in the world as it is (Angrist &amp; Krueger 1999).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tricky for things like race or gender, which can't literally be manipulated.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fix: reframe the question — not “the effect of race on …” but “the effect of racial discrimination on …”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to Know About Causal Inference (1–5)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Macartan Humphreys, EGAP — egap.org/resource/10-things-to-know-about-causal-inference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claim is about what didn't happen.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caused Y” means Y wouldn't have happened without X — a claim about a counterfactual, not just about what was observed.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06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fundamental problem of causal inference.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90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arrange to see what happens with or without treatment, but never both for the same unit at once.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667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estimate average effects without observing any individual effect.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causal effect is the gap between the average outcome across units in each condition — even though no single unit reveals its own effect.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6285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causes B” and “B causes C” doesn't mean “A causes C.”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8289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causal relationships aren't guaranteed to chain together this way.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589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are non-rival.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79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things can each independently be “the” cause of an outcome; their effects don't have to sum to 100%.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to Know About Causal Inference (6–10)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“effects of a cause” is easier than “causes of an effect.”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often say what X does to Y on average, even when you can't say why a specific outcome happened.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isn't causation.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describes actual outcomes in the world, not the gap between actual and counterfactual outcomes — cough medicine correlates with coughing, but doesn't cause it.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can cause Y without being necessary or sufficient for 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can be probabilistic (X raises the chance of Y) or conditional (X causes Y only given some other condition).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and control groups don't need to be identical.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balances groups in expectation, not necessarily in any single realized sample.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0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causation without manipulation.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claim needs a coherent counterfactual — which is why claims like “he got the job because he's Peter” are hard to interpret causally, and why some effects (like race) get reframed around a manipulable mechanism instead.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 Refresher &amp; getting set up.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2026-09-03T20:05:53Z</dcterms:created>
  <dcterms:modified xsi:type="dcterms:W3CDTF">2026-09-03T20:05:53Z</dcterms:modified>
</cp:coreProperties>
</file>