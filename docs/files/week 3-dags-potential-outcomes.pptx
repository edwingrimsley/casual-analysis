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4" r:id="rId11"/>
    <p:sldId id="281" r:id="rId12"/>
    <p:sldId id="265" r:id="rId13"/>
    <p:sldId id="282" r:id="rId14"/>
    <p:sldId id="266" r:id="rId15"/>
    <p:sldId id="283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80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>
        <p:scale>
          <a:sx n="114" d="100"/>
          <a:sy n="114" d="100"/>
        </p:scale>
        <p:origin x="1016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5632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600200"/>
            <a:ext cx="1463040" cy="54864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Potential Outcomes and DAGs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657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 —  QMSS 75000 / SOC 81900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114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confounders and colliders to ATE and ATT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Edwin Grimsley, Ph.D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3E5C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5270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Refresher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84708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Confounders, mediators, colliders — recap from Week 2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40080" y="2450592"/>
            <a:ext cx="457200" cy="457200"/>
          </a:xfrm>
          <a:prstGeom prst="ellipse">
            <a:avLst/>
          </a:prstGeom>
          <a:solidFill>
            <a:srgbClr val="3E5C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40080" y="2450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95400" y="237286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and Building DAGs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7432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Dagitty.net interface, and what adjustment sets actually are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0080" y="3346704"/>
            <a:ext cx="457200" cy="457200"/>
          </a:xfrm>
          <a:prstGeom prst="ellipse">
            <a:avLst/>
          </a:prstGeom>
          <a:solidFill>
            <a:srgbClr val="3E5C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40080" y="33467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31927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Outcomes</a:t>
            </a:r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63931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fundamental problem of causal inference, formalized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40080" y="4242816"/>
            <a:ext cx="457200" cy="457200"/>
          </a:xfrm>
          <a:prstGeom prst="ellipse">
            <a:avLst/>
          </a:prstGeom>
          <a:solidFill>
            <a:srgbClr val="3E5C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40080" y="42428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215384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ATE, ATT, and ATU</a:t>
            </a:r>
            <a:endParaRPr lang="en-US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535424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they're different numbers, and when each one is what you want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40080" y="5138928"/>
            <a:ext cx="457200" cy="457200"/>
          </a:xfrm>
          <a:prstGeom prst="ellipse">
            <a:avLst/>
          </a:prstGeom>
          <a:solidFill>
            <a:srgbClr val="3E5C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40080" y="5138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111496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Lab &amp; Homework</a:t>
            </a:r>
            <a:endParaRPr lang="en-US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5431536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build in Dagitty and in R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Refresher: Controls</a:t>
            </a:r>
            <a:endParaRPr lang="en-US" sz="3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Confounders: The Good Control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709160" y="146304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1E7A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709160" y="14630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(confounder)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301752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914400" y="30175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(treatment)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503920" y="301752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503920" y="30175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(outcome)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0" y="2377440"/>
            <a:ext cx="0" cy="640080"/>
          </a:xfrm>
          <a:prstGeom prst="line">
            <a:avLst/>
          </a:prstGeom>
          <a:noFill/>
          <a:ln w="31750">
            <a:solidFill>
              <a:srgbClr val="1E7A4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132320" y="2377440"/>
            <a:ext cx="2468880" cy="640080"/>
          </a:xfrm>
          <a:prstGeom prst="line">
            <a:avLst/>
          </a:prstGeom>
          <a:noFill/>
          <a:ln w="31750">
            <a:solidFill>
              <a:srgbClr val="1E7A4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0" y="3474720"/>
            <a:ext cx="484632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48640" y="2802485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causes both X and Y — that's what makes it a confounder.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it, and its effect leaks into your treatment estimate.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for it, and you recover the true effect (Lab 1, Scenario A: 1.29 without W, 1.00 with it).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Colliders: The Bad Control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14400" y="155448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5544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(treatment)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503920" y="155448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503920" y="15544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(outcome)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09160" y="320040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A13A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709160" y="32004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(collider)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0" y="2011680"/>
            <a:ext cx="484632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480560" y="2514600"/>
            <a:ext cx="548640" cy="685800"/>
          </a:xfrm>
          <a:prstGeom prst="line">
            <a:avLst/>
          </a:prstGeom>
          <a:noFill/>
          <a:ln w="31750">
            <a:solidFill>
              <a:srgbClr val="A13A2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778240" y="3154680"/>
            <a:ext cx="0" cy="0"/>
          </a:xfrm>
          <a:prstGeom prst="line">
            <a:avLst/>
          </a:prstGeom>
          <a:noFill/>
          <a:ln w="31750">
            <a:solidFill>
              <a:srgbClr val="A13A2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40080" y="285750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is caused by BOTH X and Y — arrows point IN, not out. Opposite structure from a confounder.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Controlling for it OPENS a spurious path that didn't exist before.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1, Scenario B: a correct estimate (1.00) got worse (0.62) once we added the collider.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Mediators and the Question We Ask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31520" y="256032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731520" y="25603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(treatment)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892040" y="137160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3E5C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4892040" y="13716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(mediator)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869680" y="256032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8869680" y="25603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(outcome)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108960" y="2926080"/>
            <a:ext cx="576072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 flipV="1">
            <a:off x="3108960" y="1737360"/>
            <a:ext cx="1737360" cy="914400"/>
          </a:xfrm>
          <a:prstGeom prst="line">
            <a:avLst/>
          </a:prstGeom>
          <a:noFill/>
          <a:ln w="31750">
            <a:solidFill>
              <a:srgbClr val="3E5C9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7269480" y="1508760"/>
            <a:ext cx="1737360" cy="1005840"/>
          </a:xfrm>
          <a:prstGeom prst="line">
            <a:avLst/>
          </a:prstGeom>
          <a:noFill/>
          <a:ln w="31750">
            <a:solidFill>
              <a:srgbClr val="3E5C9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548640" y="3749040"/>
            <a:ext cx="108813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mediator lies on a causal path from treatment to outcome: X → M → Y.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total effect, keep the path through M open. Do not adjust for M.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question is how X works through M, draw M and study that pathway explicitly.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Adjusting for M alone does not automatically identify a direct effect; that needs more assumptions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One-Slide Summary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0881360" cy="1188720"/>
          </a:xfrm>
          <a:prstGeom prst="rect">
            <a:avLst/>
          </a:prstGeom>
          <a:solidFill>
            <a:srgbClr val="E8F5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09728" cy="1188720"/>
          </a:xfrm>
          <a:prstGeom prst="rect">
            <a:avLst/>
          </a:prstGeom>
          <a:solidFill>
            <a:srgbClr val="1E7A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868680" y="18745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7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Confounder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18745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both X and Y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0" y="187452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for it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10881360" cy="1188720"/>
          </a:xfrm>
          <a:prstGeom prst="rect">
            <a:avLst/>
          </a:prstGeom>
          <a:solidFill>
            <a:srgbClr val="FBEA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109728" cy="1188720"/>
          </a:xfrm>
          <a:prstGeom prst="rect">
            <a:avLst/>
          </a:prstGeom>
          <a:solidFill>
            <a:srgbClr val="A13A2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868680" y="32461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13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Collider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32461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Caused by both X and Y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324612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A1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opening its path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10881360" cy="1188720"/>
          </a:xfrm>
          <a:prstGeom prst="rect">
            <a:avLst/>
          </a:prstGeom>
          <a:solidFill>
            <a:srgbClr val="EEF1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548640" y="4480560"/>
            <a:ext cx="109728" cy="1188720"/>
          </a:xfrm>
          <a:prstGeom prst="rect">
            <a:avLst/>
          </a:prstGeom>
          <a:solidFill>
            <a:srgbClr val="3E5C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868680" y="46177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E5C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Mediator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566160" y="46177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Caused by X, causes Y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0" y="461772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open for total effect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and Building DAGs</a:t>
            </a:r>
            <a:endParaRPr lang="en-US" sz="3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DAG?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8006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Acyclic Graph — a picture of your causal assumptions, not your data.</a:t>
            </a:r>
            <a:endParaRPr lang="en-US" sz="2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= variables. Arrows = direct causal effects (not mediated by anything else in the diagram).</a:t>
            </a:r>
            <a:endParaRPr lang="en-US" sz="2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“Acyclic” means no loops — arrows follow time order, causes come before effects.</a:t>
            </a:r>
            <a:endParaRPr lang="en-US" sz="2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 one forces you to be explicit about assumptions you'd otherwise leave implicit — that's the whole value, even before you calculate anything.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4663440"/>
            <a:ext cx="10881360" cy="1280160"/>
          </a:xfrm>
          <a:prstGeom prst="roundRect">
            <a:avLst>
              <a:gd name="adj" fmla="val 4286"/>
            </a:avLst>
          </a:prstGeom>
          <a:solidFill>
            <a:srgbClr val="FFF7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484632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8A6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Omitting an arrow is a STRONGER claim than including one — it says “I'm confident this cause doesn't exist,” not just “I didn't think about it.”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BA75729-CFE2-84CB-1DFD-F7A392AA9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639" y="0"/>
            <a:ext cx="7772400" cy="27042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6C0CBD-7650-7F41-13D4-56C60BB47A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0039" y="0"/>
            <a:ext cx="393192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3CD5DE1-10EC-D881-84AC-8FEB012062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503" y="3066586"/>
            <a:ext cx="7928915" cy="2793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0252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EFFECT, CH. 7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Classes and Dropout: Simplify the DAG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question: Does taking an online class affect dropout?</a:t>
            </a:r>
            <a:endParaRPr lang="en-US" sz="2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 builds a crowded diagram from causes of online class use and dropout.</a:t>
            </a:r>
            <a:endParaRPr lang="en-US" sz="2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then removes an intermediate step when the mechanism is outside the question.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4754880"/>
            <a:ext cx="10881360" cy="118872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822960" y="498348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a mediator visible when the research question asks how the effect occurs.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Causal Paths vs. Biasing Paths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79120" y="-11430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path: X → M → Y. Keep it open when estimating the total effect.</a:t>
            </a:r>
            <a:endParaRPr lang="en-US" sz="2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Backdoor path: X ← W → Y. Adjust for W to close this source of bias.</a:t>
            </a:r>
            <a:endParaRPr lang="en-US" sz="2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Collider path: X → Z ← Y. It starts closed; conditioning on Z opens it.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4754880"/>
            <a:ext cx="10881360" cy="118872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822960" y="498348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the total effect, close open backdoors and keep causal paths open.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EFFECT, CH. 8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66158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Wine and Lifespan: Which Paths Stay Open?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5902402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 → lifespan and wine → drugs → lifespan are causal paths for the total effect.</a:t>
            </a:r>
            <a:endParaRPr lang="en-US" sz="20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 ← income → lifespan is a backdoor path. Health creates another.</a:t>
            </a:r>
            <a:endParaRPr lang="en-US" sz="20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for income and health; leave the path through drugs open.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4754880"/>
            <a:ext cx="10881360" cy="118872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822960" y="498348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for class: What changes if we adjust for drugs?</a:t>
            </a:r>
            <a:endParaRPr lang="en-US" sz="1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923773-3A1A-103F-13BD-B42EA216F5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505" y="153341"/>
            <a:ext cx="5902402" cy="49423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Adjustment Sets: What Dagitty Is Actually Computing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87680" y="359069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adjustment set is a list of variables that, if you control for them, closes every biasing path without closing the causal path you care about.</a:t>
            </a:r>
            <a:endParaRPr lang="en-US" sz="2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can be more than one valid adjustment set — Dagitty finds all of the MINIMAL sufficient ones (the smallest sets that still work).</a:t>
            </a:r>
            <a:endParaRPr lang="en-US" sz="2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isn't magic — it's the same backdoor-path logic from Week 2, just automated for diagrams too complex to check by hand.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4663440"/>
            <a:ext cx="10881360" cy="1280160"/>
          </a:xfrm>
          <a:prstGeom prst="roundRect">
            <a:avLst>
              <a:gd name="adj" fmla="val 4286"/>
            </a:avLst>
          </a:prstGeom>
          <a:solidFill>
            <a:srgbClr val="FBEA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822960" y="484632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Dagitty’s suggested adjustment sets as answers for the DAG you drew. Check whether its arrows match your causal assumptions</a:t>
            </a:r>
            <a:r>
              <a:rPr lang="en-US" sz="1400" i="1" dirty="0">
                <a:solidFill>
                  <a:srgbClr val="6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EFFECT, CH. 8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Sandwich Example: Conditioning on a Collider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762000" y="-27432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Bought a sandwich → ate a sandwich ← received one from the boss.</a:t>
            </a:r>
            <a:endParaRPr lang="en-US" sz="2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 and receiving a sandwich can be unrelated across the whole office.</a:t>
            </a:r>
            <a:endParaRPr lang="en-US" sz="2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people who ate one, knowing they did not buy one makes a gift more likely.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4754880"/>
            <a:ext cx="10881360" cy="118872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822960" y="498348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restriction can condition on a collider, even without a regression control.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Choose the Correct Variables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decision process — ask these questions about each candidate variable, in order</a:t>
            </a: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84048" cy="384048"/>
          </a:xfrm>
          <a:prstGeom prst="ellipse">
            <a:avLst/>
          </a:prstGeom>
          <a:solidFill>
            <a:srgbClr val="A13A2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2011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975104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it measured BEFORE treatment?</a:t>
            </a:r>
            <a:endParaRPr lang="en-US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286000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measured later, examine its causal role. Timing alone does not classify the variable</a:t>
            </a:r>
            <a:r>
              <a:rPr lang="en-US" sz="12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852928"/>
            <a:ext cx="384048" cy="384048"/>
          </a:xfrm>
          <a:prstGeom prst="ellipse">
            <a:avLst/>
          </a:prstGeom>
          <a:solidFill>
            <a:srgbClr val="1E7A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548640" y="28529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816352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plausibly cause BOTH treatment and outcome?</a:t>
            </a:r>
            <a:endParaRPr lang="en-US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127248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yes — it's a confounder. Include it</a:t>
            </a:r>
            <a:r>
              <a:rPr lang="en-US" sz="12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694176"/>
            <a:ext cx="384048" cy="384048"/>
          </a:xfrm>
          <a:prstGeom prst="ellipse">
            <a:avLst/>
          </a:prstGeom>
          <a:solidFill>
            <a:srgbClr val="3E5C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548640" y="36941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65760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caused by treatment itself?</a:t>
            </a:r>
            <a:endParaRPr lang="en-US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968496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total effect, leave that path open. Studying mediation requires a different question and more assumptions</a:t>
            </a:r>
            <a:r>
              <a:rPr lang="en-US" sz="12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535424"/>
            <a:ext cx="384048" cy="384048"/>
          </a:xfrm>
          <a:prstGeom prst="ellipse">
            <a:avLst/>
          </a:prstGeom>
          <a:solidFill>
            <a:srgbClr val="A13A2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548640" y="45354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4498848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two arrows meet at this variable on a path?</a:t>
            </a:r>
            <a:endParaRPr lang="en-US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4809744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so, conditioning on it can open that path, including through sample selection</a:t>
            </a:r>
            <a:r>
              <a:rPr lang="en-US" sz="12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376672"/>
            <a:ext cx="384048" cy="384048"/>
          </a:xfrm>
          <a:prstGeom prst="ellipse">
            <a:avLst/>
          </a:prstGeom>
          <a:solidFill>
            <a:srgbClr val="5B61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548640" y="53766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5340096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unsure?</a:t>
            </a:r>
            <a:endParaRPr lang="en-US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5650992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DAG. If you can't confidently place an arrow, that's a sign you need more domain knowledge, not more data</a:t>
            </a:r>
            <a:r>
              <a:rPr lang="en-US" sz="12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Dagitty.net: The Interface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881360" cy="603504"/>
          </a:xfrm>
          <a:prstGeom prst="rect">
            <a:avLst/>
          </a:prstGeom>
          <a:solidFill>
            <a:srgbClr val="F4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77240" y="1417320"/>
            <a:ext cx="4023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new variable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937760" y="1417320"/>
            <a:ext cx="6400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Double-click empty canvas space (or press “n”)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8640" y="2048256"/>
            <a:ext cx="10881360" cy="60350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77240" y="2048256"/>
            <a:ext cx="4023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a variable</a:t>
            </a:r>
            <a:endParaRPr lang="en-US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2048256"/>
            <a:ext cx="6400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over it, press “r”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48640" y="2679192"/>
            <a:ext cx="10881360" cy="603504"/>
          </a:xfrm>
          <a:prstGeom prst="rect">
            <a:avLst/>
          </a:prstGeom>
          <a:solidFill>
            <a:srgbClr val="F4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77240" y="2679192"/>
            <a:ext cx="4023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arrow</a:t>
            </a:r>
            <a:endParaRPr lang="en-US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2679192"/>
            <a:ext cx="6400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Double-click the source node, then double-click the target node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48640" y="3310128"/>
            <a:ext cx="10881360" cy="60350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77240" y="3310128"/>
            <a:ext cx="4023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exposure / outcome</a:t>
            </a:r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3310128"/>
            <a:ext cx="6400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over the node, press “e” (exposure) or “o” (outcome</a:t>
            </a:r>
            <a:r>
              <a:rPr lang="en-US" sz="130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941064"/>
            <a:ext cx="10881360" cy="603504"/>
          </a:xfrm>
          <a:prstGeom prst="rect">
            <a:avLst/>
          </a:prstGeom>
          <a:solidFill>
            <a:srgbClr val="F4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77240" y="3941064"/>
            <a:ext cx="4023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 variable unobserved</a:t>
            </a:r>
            <a:endParaRPr lang="en-US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3941064"/>
            <a:ext cx="6400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over it, press “u”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48640" y="4572000"/>
            <a:ext cx="10881360" cy="60350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77240" y="4572000"/>
            <a:ext cx="4023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 variable</a:t>
            </a:r>
            <a:endParaRPr lang="en-US" dirty="0"/>
          </a:p>
        </p:txBody>
      </p:sp>
      <p:sp>
        <p:nvSpPr>
          <p:cNvPr id="21" name="Text 19"/>
          <p:cNvSpPr txBox="1"/>
          <p:nvPr/>
        </p:nvSpPr>
        <p:spPr>
          <a:xfrm>
            <a:off x="4937760" y="4572000"/>
            <a:ext cx="6400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over it, press “d” or Delete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548640" y="5202936"/>
            <a:ext cx="10881360" cy="603504"/>
          </a:xfrm>
          <a:prstGeom prst="rect">
            <a:avLst/>
          </a:prstGeom>
          <a:solidFill>
            <a:srgbClr val="F4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777240" y="5202936"/>
            <a:ext cx="4023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adjustment set</a:t>
            </a:r>
            <a:endParaRPr lang="en-US" dirty="0"/>
          </a:p>
        </p:txBody>
      </p:sp>
      <p:sp>
        <p:nvSpPr>
          <p:cNvPr id="24" name="Text 22"/>
          <p:cNvSpPr txBox="1"/>
          <p:nvPr/>
        </p:nvSpPr>
        <p:spPr>
          <a:xfrm>
            <a:off x="4937760" y="5202936"/>
            <a:ext cx="6400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Automatic, once exposure + outcome are set — shown in the sidebar</a:t>
            </a:r>
            <a:endParaRPr lang="en-US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943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account, no install — just dagitty.net, and everything above works with mouse + keyboard together.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Tonight's Lab DAG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build this together, live, in Dagitty: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09160" y="201168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1E7A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4709160" y="20116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Confounder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356616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14400" y="35661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503920" y="356616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503920" y="35661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709160" y="512064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A13A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709160" y="51206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Collider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0" y="2880359"/>
            <a:ext cx="0" cy="988255"/>
          </a:xfrm>
          <a:prstGeom prst="line">
            <a:avLst/>
          </a:prstGeom>
          <a:noFill/>
          <a:ln w="27940">
            <a:solidFill>
              <a:srgbClr val="1E7A4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132320" y="2880360"/>
            <a:ext cx="2468880" cy="594360"/>
          </a:xfrm>
          <a:prstGeom prst="line">
            <a:avLst/>
          </a:prstGeom>
          <a:noFill/>
          <a:ln w="27940">
            <a:solidFill>
              <a:srgbClr val="1E7A4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0" y="3977640"/>
            <a:ext cx="4846320" cy="0"/>
          </a:xfrm>
          <a:prstGeom prst="line">
            <a:avLst/>
          </a:prstGeom>
          <a:noFill/>
          <a:ln w="2794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88081" y="4069081"/>
            <a:ext cx="1341119" cy="914399"/>
          </a:xfrm>
          <a:prstGeom prst="line">
            <a:avLst/>
          </a:prstGeom>
          <a:noFill/>
          <a:ln w="27940">
            <a:solidFill>
              <a:srgbClr val="A13A2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778240" y="5074920"/>
            <a:ext cx="0" cy="0"/>
          </a:xfrm>
          <a:prstGeom prst="line">
            <a:avLst/>
          </a:prstGeom>
          <a:noFill/>
          <a:ln w="27940">
            <a:solidFill>
              <a:srgbClr val="A13A2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548640" y="60350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Treatment as exposure, Outcome as outcome. Check the sidebar's adjustment set — it should recommend Confounder, and explicitly NOT recommend Collider.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Potential Outcomes</a:t>
            </a:r>
            <a:endParaRPr lang="en-US" sz="3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OUTCOMES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Fundamental Problem, Formalized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70942" y="1325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any single person, we can never observe both: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97280" y="2286000"/>
            <a:ext cx="457200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97280" y="228600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Y(1) — what happens WITH treatment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92240" y="2286000"/>
            <a:ext cx="4572000" cy="1371600"/>
          </a:xfrm>
          <a:prstGeom prst="roundRect">
            <a:avLst>
              <a:gd name="adj" fmla="val 5333"/>
            </a:avLst>
          </a:prstGeom>
          <a:solidFill>
            <a:srgbClr val="3E5C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492240" y="228600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Y(0) — what happens WITHOUT treatment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0233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potential outcomes notation — Y(1) and Y(0) are the two versions of the outcome for the SAME person, under each treatment condition. Only one is ever realized; the other is the counterfactual.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40080" y="5303520"/>
            <a:ext cx="10515600" cy="822960"/>
          </a:xfrm>
          <a:prstGeom prst="roundRect">
            <a:avLst>
              <a:gd name="adj" fmla="val 6667"/>
            </a:avLst>
          </a:prstGeom>
          <a:solidFill>
            <a:srgbClr val="FFF7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914400" y="5486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8A6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treatment effect: τᵢ = Yᵢ(1) − Yᵢ(0) — unobservable for any one person, but the target quantity averages are built from</a:t>
            </a:r>
            <a:r>
              <a:rPr lang="en-US" sz="1400" dirty="0">
                <a:solidFill>
                  <a:srgbClr val="8A6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OUTCOMES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Switching Equation, and SUTVA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observed outcome connects to the two potential outcomes by: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8686800" cy="822960"/>
          </a:xfrm>
          <a:prstGeom prst="rect">
            <a:avLst/>
          </a:prstGeom>
          <a:solidFill>
            <a:srgbClr val="F4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 = D·Y(1) + (1−D)·Y(0)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34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1 if treated, D = 0 if not — the “switch” that picks which potential outcome we actually observe.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91840"/>
            <a:ext cx="10881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SUTVA (Stable Unit Treatment Value Assumption) — required for ALL of this to make sense: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interference: my potential outcomes don't depend on YOUR treatment status.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hidden variations of treatment: “treated” means the same thing for everyone — there's only one Y(1), not many versions of it.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48640" y="553212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FBEA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22960" y="553212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6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SUTVA violation example: vaccinating your neighbor changes YOUR risk of infection too — that's interference, and it breaks the simple potential-outcomes framework.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OUTCOMES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Defining the ATE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858000" cy="914400"/>
          </a:xfrm>
          <a:prstGeom prst="rect">
            <a:avLst/>
          </a:prstGeom>
          <a:solidFill>
            <a:srgbClr val="F4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ATE = E[Y(1) − Y(0)]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5448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Average Treatment Effect: the expected difference between Y(1) and Y(0), averaged across the WHOLE population of interest.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never compute it directly (nobody has both outcomes) — but you can estimate it, if you have a credible design.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quantity a well-run RCT estimates directly, since random assignment makes treated and untreated groups comparable on average.</a:t>
            </a:r>
            <a:endParaRPr lang="en-US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OUTCOMES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 and ATU: Why They Differ from ATE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0881360" cy="1051560"/>
          </a:xfrm>
          <a:prstGeom prst="rect">
            <a:avLst/>
          </a:prstGeom>
          <a:solidFill>
            <a:srgbClr val="F4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78308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ATE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2651760" y="178308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E5C9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E[Y(1) − Y(0)]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040880" y="178308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in the population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10881360" cy="10515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22960" y="297180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297180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E5C9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E[Y(1) − Y(0) | X=1]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297180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those who WERE treated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10881360" cy="1051560"/>
          </a:xfrm>
          <a:prstGeom prst="rect">
            <a:avLst/>
          </a:prstGeom>
          <a:solidFill>
            <a:srgbClr val="F4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822960" y="416052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ATU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2651760" y="416052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E5C9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E[Y(1) − Y(0) | X=0]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40880" y="416052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those who were NOT treated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4864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three numbers CAN be different — whether they are depends on whether the people who select into treatment differ systematically from those who don't.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OUTCOMES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Concrete Example: Bed Nets and Malaria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79120" y="-344659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Heiss’s synthetic data, income and health influence net use and malaria risk.</a:t>
            </a:r>
            <a:endParaRPr lang="en-US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effects: ATT = −16.29; ATE = −15.02; ATU = −13.63 (risk points).</a:t>
            </a:r>
            <a:endParaRPr lang="en-US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Numerically ATT &lt; ATE &lt; ATU. The more negative ATT is the larger protective reduction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4754880"/>
            <a:ext cx="10881360" cy="1280160"/>
          </a:xfrm>
          <a:prstGeom prst="roundRect">
            <a:avLst>
              <a:gd name="adj" fmla="val 428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822960" y="493776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question: current net users benefit more on average than current nonusers would. Effects may differ as a program expands.</a:t>
            </a: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OUTCOMES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Estimating ATE, ATT, ATU from Real Data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0881360" cy="1005840"/>
          </a:xfrm>
          <a:prstGeom prst="rect">
            <a:avLst/>
          </a:prstGeom>
          <a:solidFill>
            <a:srgbClr val="F4F5F9"/>
          </a:solidFill>
          <a:ln w="12700">
            <a:solidFill>
              <a:srgbClr val="D8DC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731520" y="1600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22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w_ate &lt;- weightit(net ~ income + health, data = nets, method = "glm", estimand = "ATE")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22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model_ate &lt;- lm(malaria_risk ~ net, data = nets, weights = w_ate$weights)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97480"/>
            <a:ext cx="108813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avg_comparisons(model_ate, variables = "net") for the weighted net contrast.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Refit the weights and model for ATT; use estimand = "ATC" in WeightIt for ATU.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 2 ATE estimate was −14.7, close to the true ATE of −15.02.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525780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FFF7E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822960" y="539496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8A6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Weighting targets the chosen population. This weighted comparison is distinct from g-computation</a:t>
            </a:r>
            <a:r>
              <a:rPr lang="en-US" sz="1300" i="1" dirty="0">
                <a:solidFill>
                  <a:srgbClr val="8A6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Readings: Key Takeaways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0881360" cy="2103120"/>
          </a:xfrm>
          <a:prstGeom prst="roundRect">
            <a:avLst>
              <a:gd name="adj" fmla="val 2609"/>
            </a:avLst>
          </a:prstGeom>
          <a:solidFill>
            <a:srgbClr val="F2F6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822960" y="16459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Huntington-Klein, The Effect, Chapters 7–8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5740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treatment and outcome; simplify a mediator on the diagram if its mechanism is outside the question.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total effect, close open backdoor paths. Conditioning on a collider can open a path that was closed</a:t>
            </a: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8640" y="3749040"/>
            <a:ext cx="10881360" cy="2103120"/>
          </a:xfrm>
          <a:prstGeom prst="roundRect">
            <a:avLst>
              <a:gd name="adj" fmla="val 2609"/>
            </a:avLst>
          </a:prstGeom>
          <a:solidFill>
            <a:srgbClr val="F2F6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822960" y="39319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Effect, Chapter 10; Heiss, “Demystifying causal inference estimands”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34340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 distinguishes ATE, ATT, and effects among the untreated; Heiss illustrates all three with synthetic net data.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population matters: an effect among current users need not equal the effect among future users.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for the Rest of the Semester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377818" y="59436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Difference-in-differences (Weeks 8–9) estimates an ATT.</a:t>
            </a:r>
            <a:endParaRPr lang="en-US" sz="2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discontinuity and instrumental variables (Week 12) estimate a LATE — a local average treatment effect, for a specific subgroup defined by the design itself.</a:t>
            </a:r>
            <a:endParaRPr lang="en-US" sz="2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method from here forward answers a SPECIFIC version of the causal question — part of evaluating any design is asking which estimand it actually gives you, and whether that's the one your research question needs.</a:t>
            </a:r>
            <a:endParaRPr lang="en-US" sz="2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749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Randomized Controlled Trials.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2129</Words>
  <Application>Microsoft Macintosh PowerPoint</Application>
  <PresentationFormat>Widescreen</PresentationFormat>
  <Paragraphs>230</Paragraphs>
  <Slides>28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Cambria</vt:lpstr>
      <vt:lpstr>Cambria Math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Edwin Grimsley</cp:lastModifiedBy>
  <cp:revision>2</cp:revision>
  <dcterms:created xsi:type="dcterms:W3CDTF">2026-09-17T18:16:30Z</dcterms:created>
  <dcterms:modified xsi:type="dcterms:W3CDTF">2026-09-17T22:10:24Z</dcterms:modified>
</cp:coreProperties>
</file>